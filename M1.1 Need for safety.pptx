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36" r:id="rId3"/>
    <p:sldId id="337" r:id="rId4"/>
    <p:sldId id="338" r:id="rId5"/>
    <p:sldId id="339" r:id="rId6"/>
    <p:sldId id="340" r:id="rId7"/>
    <p:sldId id="335" r:id="rId8"/>
    <p:sldId id="349" r:id="rId9"/>
    <p:sldId id="350" r:id="rId10"/>
    <p:sldId id="344" r:id="rId11"/>
    <p:sldId id="351" r:id="rId12"/>
    <p:sldId id="352" r:id="rId13"/>
    <p:sldId id="353" r:id="rId14"/>
    <p:sldId id="354" r:id="rId15"/>
    <p:sldId id="35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0E32E-18D0-6E6C-03D1-4343BA208B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E6A4D3-2B48-D56E-4F96-3DC8A8A0A1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E0732D9-67BE-3ADE-F19F-267E08F59287}"/>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5" name="Footer Placeholder 4">
            <a:extLst>
              <a:ext uri="{FF2B5EF4-FFF2-40B4-BE49-F238E27FC236}">
                <a16:creationId xmlns:a16="http://schemas.microsoft.com/office/drawing/2014/main" id="{D5E93867-0209-D54C-336B-80C6ED58E2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A99586-B8F3-95A4-6632-C348B15F011E}"/>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2970068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557D6-9627-ABEF-2AF7-7C61529649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16300F-87C4-4D08-FC19-F281FD6084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AF4730-9C2C-CAEE-E8E6-7668719806C8}"/>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5" name="Footer Placeholder 4">
            <a:extLst>
              <a:ext uri="{FF2B5EF4-FFF2-40B4-BE49-F238E27FC236}">
                <a16:creationId xmlns:a16="http://schemas.microsoft.com/office/drawing/2014/main" id="{25334236-0840-41BC-FE08-516BB6EF0D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ADD4F2-FA9F-E0F4-73CB-E6B960648076}"/>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1885548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5FA7-3A5C-9540-8055-7AB13152DF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D369B9-7D47-B896-D043-C69C7B7520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D5661D-1A17-0D76-B0A8-76CE4C50F52F}"/>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5" name="Footer Placeholder 4">
            <a:extLst>
              <a:ext uri="{FF2B5EF4-FFF2-40B4-BE49-F238E27FC236}">
                <a16:creationId xmlns:a16="http://schemas.microsoft.com/office/drawing/2014/main" id="{FF6039A7-34A0-9E4F-AA34-B8A417185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22A319-DFF1-FBB5-6EBC-12C4D083AE72}"/>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1833677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0DBEA-8652-00D0-B68A-E2DD6E6904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7B7342-02F7-301D-A07A-AC3EFC853D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A805EEB-9993-408C-605C-74CE361967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5F07E3-9AD3-08EA-4E68-BE98D5C6F3DF}"/>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6" name="Footer Placeholder 5">
            <a:extLst>
              <a:ext uri="{FF2B5EF4-FFF2-40B4-BE49-F238E27FC236}">
                <a16:creationId xmlns:a16="http://schemas.microsoft.com/office/drawing/2014/main" id="{AA49DF16-C018-61DE-58BB-47D77ABFF9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B88B45-E605-1B18-2BAD-7B028DFB569D}"/>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4081604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B60B6-23B5-B9DF-E29E-255D8C3F767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7F9934-2EE0-BDC7-878F-A5C6FFD36D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C8E01E-659B-240A-CAA6-927258080C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7F5409-8D57-E79D-9089-449C67CFD5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5FD997-49A0-2FF6-56A2-ECF6A4F97C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25D8F8-25D9-06DD-FF7B-061F75C48134}"/>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8" name="Footer Placeholder 7">
            <a:extLst>
              <a:ext uri="{FF2B5EF4-FFF2-40B4-BE49-F238E27FC236}">
                <a16:creationId xmlns:a16="http://schemas.microsoft.com/office/drawing/2014/main" id="{CA972402-95F4-DF29-9128-ECA382F9161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9F43E2-0C3A-DCA1-3E35-ECBBD7FC2850}"/>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3474291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FA5CE-A18A-1D23-6B0D-A5A2F7F184A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6E781E7-6FE3-DD7C-E3D2-468A5C2AB120}"/>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4" name="Footer Placeholder 3">
            <a:extLst>
              <a:ext uri="{FF2B5EF4-FFF2-40B4-BE49-F238E27FC236}">
                <a16:creationId xmlns:a16="http://schemas.microsoft.com/office/drawing/2014/main" id="{83B8EAA4-9E21-EFA3-2264-BFB17A1E74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AB53D8-B0BF-5F16-4839-04DC09AFC766}"/>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38855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109CA1-78B2-AFDE-35AA-F64C074BDD12}"/>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3" name="Footer Placeholder 2">
            <a:extLst>
              <a:ext uri="{FF2B5EF4-FFF2-40B4-BE49-F238E27FC236}">
                <a16:creationId xmlns:a16="http://schemas.microsoft.com/office/drawing/2014/main" id="{FDBBD18E-621E-352A-B81C-A1B6FA41657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113DD2-6B1E-0B80-D36A-E0DCA2E02292}"/>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3620720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900EA-D40D-6603-C30D-1433AFC6A3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952A0EE-ECF2-3EB3-3A20-3B5597015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6258817-B697-241E-6285-38345FF2A0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BCB49C-E3BB-8A96-EF10-A4B09D298BF8}"/>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6" name="Footer Placeholder 5">
            <a:extLst>
              <a:ext uri="{FF2B5EF4-FFF2-40B4-BE49-F238E27FC236}">
                <a16:creationId xmlns:a16="http://schemas.microsoft.com/office/drawing/2014/main" id="{7B95BF0E-2137-8CD5-3684-EEE0698E12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EFC240-8907-48F4-40E9-F01243C49C58}"/>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3082073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2E3B8-6690-653C-1B5F-5591F83E57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7E053C-C18A-B1BE-5A2B-993768D4EC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8E2447-5342-5085-C020-3E1EB355F2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1FA7AB-1EBA-70DE-7729-8E55C5EB8946}"/>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6" name="Footer Placeholder 5">
            <a:extLst>
              <a:ext uri="{FF2B5EF4-FFF2-40B4-BE49-F238E27FC236}">
                <a16:creationId xmlns:a16="http://schemas.microsoft.com/office/drawing/2014/main" id="{74E4D0EB-B58D-2FB2-6BFE-10515797E6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958C6F-3D94-CDBD-C963-F512AAAF4960}"/>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703095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AC5D3-FE2B-FB83-6780-A282878872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DBF6E9-8411-9C09-9F6B-F956CE1885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112602-11AF-C6FB-C72E-C369B692EB9B}"/>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5" name="Footer Placeholder 4">
            <a:extLst>
              <a:ext uri="{FF2B5EF4-FFF2-40B4-BE49-F238E27FC236}">
                <a16:creationId xmlns:a16="http://schemas.microsoft.com/office/drawing/2014/main" id="{8CC4C64F-7451-6D97-CA97-5EDB99F149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0B05F9-E306-03B3-F8AA-246ABB2201E4}"/>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417447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611BD8-3480-97CF-4D1F-B1C0983619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3580EC-AC90-AAA6-3233-1379149A1F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D362B0-D460-8A58-7FBD-34C4C76F3B0F}"/>
              </a:ext>
            </a:extLst>
          </p:cNvPr>
          <p:cNvSpPr>
            <a:spLocks noGrp="1"/>
          </p:cNvSpPr>
          <p:nvPr>
            <p:ph type="dt" sz="half" idx="10"/>
          </p:nvPr>
        </p:nvSpPr>
        <p:spPr/>
        <p:txBody>
          <a:bodyPr/>
          <a:lstStyle/>
          <a:p>
            <a:fld id="{01CFFB2D-FD6C-4C41-BEAA-35BD6053F798}" type="datetimeFigureOut">
              <a:rPr lang="en-IN" smtClean="0"/>
              <a:t>15-07-2026</a:t>
            </a:fld>
            <a:endParaRPr lang="en-IN"/>
          </a:p>
        </p:txBody>
      </p:sp>
      <p:sp>
        <p:nvSpPr>
          <p:cNvPr id="5" name="Footer Placeholder 4">
            <a:extLst>
              <a:ext uri="{FF2B5EF4-FFF2-40B4-BE49-F238E27FC236}">
                <a16:creationId xmlns:a16="http://schemas.microsoft.com/office/drawing/2014/main" id="{165AD64E-D5F1-23E5-3466-DAC458E6B1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B7F6FF-B771-2EC9-7B5C-8B3B6D5B0DF8}"/>
              </a:ext>
            </a:extLst>
          </p:cNvPr>
          <p:cNvSpPr>
            <a:spLocks noGrp="1"/>
          </p:cNvSpPr>
          <p:nvPr>
            <p:ph type="sldNum" sz="quarter" idx="12"/>
          </p:nvPr>
        </p:nvSpPr>
        <p:spPr/>
        <p:txBody>
          <a:bodyPr/>
          <a:lstStyle/>
          <a:p>
            <a:fld id="{6A571CB1-9A49-4091-83F5-6BFAF252D0B1}" type="slidenum">
              <a:rPr lang="en-IN" smtClean="0"/>
              <a:t>‹#›</a:t>
            </a:fld>
            <a:endParaRPr lang="en-IN"/>
          </a:p>
        </p:txBody>
      </p:sp>
    </p:spTree>
    <p:extLst>
      <p:ext uri="{BB962C8B-B14F-4D97-AF65-F5344CB8AC3E}">
        <p14:creationId xmlns:p14="http://schemas.microsoft.com/office/powerpoint/2010/main" val="2520794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B0733-1F9E-E2E5-3DD5-AEF42AF3F2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099A2E-2A8A-EBD1-E766-87A71D36EC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AE5019-414A-1502-B754-C0B484D118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CFFB2D-FD6C-4C41-BEAA-35BD6053F798}" type="datetimeFigureOut">
              <a:rPr lang="en-IN" smtClean="0"/>
              <a:t>15-07-2026</a:t>
            </a:fld>
            <a:endParaRPr lang="en-IN"/>
          </a:p>
        </p:txBody>
      </p:sp>
      <p:sp>
        <p:nvSpPr>
          <p:cNvPr id="5" name="Footer Placeholder 4">
            <a:extLst>
              <a:ext uri="{FF2B5EF4-FFF2-40B4-BE49-F238E27FC236}">
                <a16:creationId xmlns:a16="http://schemas.microsoft.com/office/drawing/2014/main" id="{10230FCC-637F-063B-FE48-7DFA8876DB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E9F1167-C00F-2A6B-ABAE-AAC9173C14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571CB1-9A49-4091-83F5-6BFAF252D0B1}" type="slidenum">
              <a:rPr lang="en-IN" smtClean="0"/>
              <a:t>‹#›</a:t>
            </a:fld>
            <a:endParaRPr lang="en-IN"/>
          </a:p>
        </p:txBody>
      </p:sp>
    </p:spTree>
    <p:extLst>
      <p:ext uri="{BB962C8B-B14F-4D97-AF65-F5344CB8AC3E}">
        <p14:creationId xmlns:p14="http://schemas.microsoft.com/office/powerpoint/2010/main" val="1475901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4EB4-878C-4DEB-BDB6-32D630B81267}"/>
              </a:ext>
            </a:extLst>
          </p:cNvPr>
          <p:cNvSpPr>
            <a:spLocks noGrp="1"/>
          </p:cNvSpPr>
          <p:nvPr>
            <p:ph type="ctrTitle"/>
          </p:nvPr>
        </p:nvSpPr>
        <p:spPr>
          <a:xfrm>
            <a:off x="1524000" y="1122363"/>
            <a:ext cx="9144000" cy="1257043"/>
          </a:xfrm>
        </p:spPr>
        <p:txBody>
          <a:bodyPr/>
          <a:lstStyle/>
          <a:p>
            <a:r>
              <a:rPr lang="en-IN" dirty="0">
                <a:latin typeface="Times New Roman" panose="02020603050405020304" pitchFamily="18" charset="0"/>
                <a:cs typeface="Times New Roman" panose="02020603050405020304" pitchFamily="18" charset="0"/>
              </a:rPr>
              <a:t>MCN 401 </a:t>
            </a:r>
          </a:p>
        </p:txBody>
      </p:sp>
      <p:sp>
        <p:nvSpPr>
          <p:cNvPr id="3" name="Subtitle 2">
            <a:extLst>
              <a:ext uri="{FF2B5EF4-FFF2-40B4-BE49-F238E27FC236}">
                <a16:creationId xmlns:a16="http://schemas.microsoft.com/office/drawing/2014/main" id="{3E6722AC-6FE9-4016-927E-5239AD658A07}"/>
              </a:ext>
            </a:extLst>
          </p:cNvPr>
          <p:cNvSpPr>
            <a:spLocks noGrp="1"/>
          </p:cNvSpPr>
          <p:nvPr>
            <p:ph type="subTitle" idx="1"/>
          </p:nvPr>
        </p:nvSpPr>
        <p:spPr>
          <a:xfrm>
            <a:off x="540774" y="3080929"/>
            <a:ext cx="10953135" cy="1655762"/>
          </a:xfrm>
        </p:spPr>
        <p:txBody>
          <a:bodyPr>
            <a:normAutofit/>
          </a:bodyPr>
          <a:lstStyle/>
          <a:p>
            <a:r>
              <a:rPr lang="en-IN" sz="4000" b="1" dirty="0">
                <a:latin typeface="Times New Roman" panose="02020603050405020304" pitchFamily="18" charset="0"/>
                <a:cs typeface="Times New Roman" panose="02020603050405020304" pitchFamily="18" charset="0"/>
              </a:rPr>
              <a:t>INDUSTRIAL SAFETY ENGINERING</a:t>
            </a:r>
          </a:p>
        </p:txBody>
      </p:sp>
    </p:spTree>
    <p:extLst>
      <p:ext uri="{BB962C8B-B14F-4D97-AF65-F5344CB8AC3E}">
        <p14:creationId xmlns:p14="http://schemas.microsoft.com/office/powerpoint/2010/main" val="2390376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E78FC-7FA9-9504-33EE-B691F9B59CD1}"/>
              </a:ext>
            </a:extLst>
          </p:cNvPr>
          <p:cNvSpPr>
            <a:spLocks noGrp="1"/>
          </p:cNvSpPr>
          <p:nvPr>
            <p:ph type="title"/>
          </p:nvPr>
        </p:nvSpPr>
        <p:spPr/>
        <p:txBody>
          <a:bodyPr/>
          <a:lstStyle/>
          <a:p>
            <a:pPr algn="ctr"/>
            <a:r>
              <a:rPr lang="en-US" b="1" dirty="0"/>
              <a:t>Module I (Safety Introduction)</a:t>
            </a:r>
            <a:endParaRPr lang="en-IN" b="1" dirty="0"/>
          </a:p>
        </p:txBody>
      </p:sp>
      <p:sp>
        <p:nvSpPr>
          <p:cNvPr id="3" name="Content Placeholder 2">
            <a:extLst>
              <a:ext uri="{FF2B5EF4-FFF2-40B4-BE49-F238E27FC236}">
                <a16:creationId xmlns:a16="http://schemas.microsoft.com/office/drawing/2014/main" id="{D6E910B6-F764-2427-B78C-B5BCDBEC76A3}"/>
              </a:ext>
            </a:extLst>
          </p:cNvPr>
          <p:cNvSpPr>
            <a:spLocks noGrp="1"/>
          </p:cNvSpPr>
          <p:nvPr>
            <p:ph idx="1"/>
          </p:nvPr>
        </p:nvSpPr>
        <p:spPr>
          <a:xfrm>
            <a:off x="838200" y="1623527"/>
            <a:ext cx="10515600" cy="4786604"/>
          </a:xfrm>
        </p:spPr>
        <p:txBody>
          <a:bodyPr>
            <a:normAutofit/>
          </a:bodyPr>
          <a:lstStyle/>
          <a:p>
            <a:r>
              <a:rPr lang="en-US" sz="2400" dirty="0"/>
              <a:t>Need for safety. </a:t>
            </a:r>
          </a:p>
          <a:p>
            <a:r>
              <a:rPr lang="en-US" sz="2400" dirty="0"/>
              <a:t>Safety and productivity. </a:t>
            </a:r>
          </a:p>
          <a:p>
            <a:r>
              <a:rPr lang="en-US" sz="2400" dirty="0"/>
              <a:t>Definitions: Accident, Injury, Unsafe act, Unsafe Condition, Dangerous Occurrence, Reportable accidents. </a:t>
            </a:r>
          </a:p>
          <a:p>
            <a:r>
              <a:rPr lang="en-US" sz="2400" dirty="0"/>
              <a:t>Theories of accident causation. </a:t>
            </a:r>
          </a:p>
          <a:p>
            <a:r>
              <a:rPr lang="en-US" sz="2400" dirty="0"/>
              <a:t>Safety organization- objectives, types, functions, </a:t>
            </a:r>
          </a:p>
          <a:p>
            <a:r>
              <a:rPr lang="en-US" sz="2400" dirty="0"/>
              <a:t>Role of management, supervisors, workmen, unions, government and voluntary agencies in safety.</a:t>
            </a:r>
          </a:p>
          <a:p>
            <a:r>
              <a:rPr lang="en-US" sz="2400" dirty="0"/>
              <a:t> Safety policy. </a:t>
            </a:r>
          </a:p>
          <a:p>
            <a:r>
              <a:rPr lang="en-US" sz="2400" dirty="0"/>
              <a:t>Safety Officer-responsibilities, authority. </a:t>
            </a:r>
          </a:p>
          <a:p>
            <a:r>
              <a:rPr lang="en-US" sz="2400" dirty="0"/>
              <a:t>Safety committee-need, types, advantages. </a:t>
            </a:r>
            <a:endParaRPr lang="en-IN" sz="2400" dirty="0"/>
          </a:p>
        </p:txBody>
      </p:sp>
    </p:spTree>
    <p:extLst>
      <p:ext uri="{BB962C8B-B14F-4D97-AF65-F5344CB8AC3E}">
        <p14:creationId xmlns:p14="http://schemas.microsoft.com/office/powerpoint/2010/main" val="3704810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E78FC-7FA9-9504-33EE-B691F9B59CD1}"/>
              </a:ext>
            </a:extLst>
          </p:cNvPr>
          <p:cNvSpPr>
            <a:spLocks noGrp="1"/>
          </p:cNvSpPr>
          <p:nvPr>
            <p:ph type="title"/>
          </p:nvPr>
        </p:nvSpPr>
        <p:spPr/>
        <p:txBody>
          <a:bodyPr/>
          <a:lstStyle/>
          <a:p>
            <a:pPr algn="ctr"/>
            <a:r>
              <a:rPr lang="en-US" b="1" dirty="0"/>
              <a:t>Module II (Personal protection in work environment)</a:t>
            </a:r>
            <a:endParaRPr lang="en-IN" b="1" dirty="0"/>
          </a:p>
        </p:txBody>
      </p:sp>
      <p:sp>
        <p:nvSpPr>
          <p:cNvPr id="3" name="Content Placeholder 2">
            <a:extLst>
              <a:ext uri="{FF2B5EF4-FFF2-40B4-BE49-F238E27FC236}">
                <a16:creationId xmlns:a16="http://schemas.microsoft.com/office/drawing/2014/main" id="{D6E910B6-F764-2427-B78C-B5BCDBEC76A3}"/>
              </a:ext>
            </a:extLst>
          </p:cNvPr>
          <p:cNvSpPr>
            <a:spLocks noGrp="1"/>
          </p:cNvSpPr>
          <p:nvPr>
            <p:ph idx="1"/>
          </p:nvPr>
        </p:nvSpPr>
        <p:spPr/>
        <p:txBody>
          <a:bodyPr>
            <a:normAutofit fontScale="92500" lnSpcReduction="10000"/>
          </a:bodyPr>
          <a:lstStyle/>
          <a:p>
            <a:r>
              <a:rPr lang="en-US" sz="2400" dirty="0"/>
              <a:t>Personal protection in the work environment, Types of PPEs, Personal protective equipment respiratory and non-respiratory equipment. </a:t>
            </a:r>
          </a:p>
          <a:p>
            <a:r>
              <a:rPr lang="en-US" sz="2400" dirty="0"/>
              <a:t>Standards related to PPEs. </a:t>
            </a:r>
          </a:p>
          <a:p>
            <a:r>
              <a:rPr lang="en-US" sz="2400" dirty="0"/>
              <a:t>Monitoring Safety Performance: Frequency rate, severity rate, incidence rate, activity rate. </a:t>
            </a:r>
          </a:p>
          <a:p>
            <a:r>
              <a:rPr lang="en-US" sz="2400" dirty="0"/>
              <a:t>Housekeeping: Responsibility of management and employees. </a:t>
            </a:r>
          </a:p>
          <a:p>
            <a:r>
              <a:rPr lang="en-US" sz="2400" dirty="0"/>
              <a:t>Advantages of good housekeeping. </a:t>
            </a:r>
          </a:p>
          <a:p>
            <a:r>
              <a:rPr lang="en-US" sz="2400" dirty="0"/>
              <a:t>5 s of housekeeping. </a:t>
            </a:r>
          </a:p>
          <a:p>
            <a:r>
              <a:rPr lang="en-US" sz="2400" dirty="0"/>
              <a:t>Work permit system- objectives, hot work and cold work permits. </a:t>
            </a:r>
          </a:p>
          <a:p>
            <a:r>
              <a:rPr lang="en-US" sz="2400" dirty="0"/>
              <a:t>Typical industrial models and methodology. </a:t>
            </a:r>
          </a:p>
          <a:p>
            <a:r>
              <a:rPr lang="en-US" sz="2400" dirty="0"/>
              <a:t>Entry into confined spaces. </a:t>
            </a:r>
            <a:endParaRPr lang="en-IN" sz="2400" dirty="0"/>
          </a:p>
        </p:txBody>
      </p:sp>
    </p:spTree>
    <p:extLst>
      <p:ext uri="{BB962C8B-B14F-4D97-AF65-F5344CB8AC3E}">
        <p14:creationId xmlns:p14="http://schemas.microsoft.com/office/powerpoint/2010/main" val="1059533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410F6-E0A4-FF27-86C0-EAB5129DCF6D}"/>
              </a:ext>
            </a:extLst>
          </p:cNvPr>
          <p:cNvSpPr>
            <a:spLocks noGrp="1"/>
          </p:cNvSpPr>
          <p:nvPr>
            <p:ph type="title"/>
          </p:nvPr>
        </p:nvSpPr>
        <p:spPr/>
        <p:txBody>
          <a:bodyPr/>
          <a:lstStyle/>
          <a:p>
            <a:pPr algn="ctr"/>
            <a:r>
              <a:rPr lang="en-US" b="1" dirty="0"/>
              <a:t>Module III (Safety issues in construction)</a:t>
            </a:r>
            <a:endParaRPr lang="en-IN" b="1" dirty="0"/>
          </a:p>
        </p:txBody>
      </p:sp>
      <p:sp>
        <p:nvSpPr>
          <p:cNvPr id="3" name="Content Placeholder 2">
            <a:extLst>
              <a:ext uri="{FF2B5EF4-FFF2-40B4-BE49-F238E27FC236}">
                <a16:creationId xmlns:a16="http://schemas.microsoft.com/office/drawing/2014/main" id="{0FDFA564-79E4-1D18-929C-D209079361F1}"/>
              </a:ext>
            </a:extLst>
          </p:cNvPr>
          <p:cNvSpPr>
            <a:spLocks noGrp="1"/>
          </p:cNvSpPr>
          <p:nvPr>
            <p:ph idx="1"/>
          </p:nvPr>
        </p:nvSpPr>
        <p:spPr/>
        <p:txBody>
          <a:bodyPr>
            <a:normAutofit/>
          </a:bodyPr>
          <a:lstStyle/>
          <a:p>
            <a:r>
              <a:rPr lang="en-US" sz="2400" dirty="0"/>
              <a:t>Introduction to construction industry and safety issues in construction </a:t>
            </a:r>
          </a:p>
          <a:p>
            <a:r>
              <a:rPr lang="en-US" sz="2400" dirty="0"/>
              <a:t>Safety in various construction operations – Excavation and filling – Under-water works – Under-pinning &amp; Shoring – Ladders &amp; Scaffolds – Tunneling – Blasting – Demolition – Confined space – Temporary Structures. </a:t>
            </a:r>
          </a:p>
          <a:p>
            <a:r>
              <a:rPr lang="en-US" sz="2400" dirty="0"/>
              <a:t>Familiarization with relevant Indian Standards and the National Building Code provisions on construction safety. </a:t>
            </a:r>
          </a:p>
          <a:p>
            <a:r>
              <a:rPr lang="en-US" sz="2400" dirty="0"/>
              <a:t>Relevance of ergonomics in construction safety. </a:t>
            </a:r>
          </a:p>
          <a:p>
            <a:r>
              <a:rPr lang="en-US" sz="2400" dirty="0"/>
              <a:t>Ergonomics Hazards - Musculoskeletal Disorders and Cumulative Trauma Disorders.</a:t>
            </a:r>
            <a:endParaRPr lang="en-IN" sz="2400" dirty="0"/>
          </a:p>
        </p:txBody>
      </p:sp>
    </p:spTree>
    <p:extLst>
      <p:ext uri="{BB962C8B-B14F-4D97-AF65-F5344CB8AC3E}">
        <p14:creationId xmlns:p14="http://schemas.microsoft.com/office/powerpoint/2010/main" val="3428945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7350A-2E46-F7BB-64BE-C5DCEEFD812B}"/>
              </a:ext>
            </a:extLst>
          </p:cNvPr>
          <p:cNvSpPr>
            <a:spLocks noGrp="1"/>
          </p:cNvSpPr>
          <p:nvPr>
            <p:ph type="title"/>
          </p:nvPr>
        </p:nvSpPr>
        <p:spPr/>
        <p:txBody>
          <a:bodyPr/>
          <a:lstStyle/>
          <a:p>
            <a:r>
              <a:rPr lang="en-US" b="1" dirty="0"/>
              <a:t>Module IV (Safety hazards in machines)</a:t>
            </a:r>
            <a:endParaRPr lang="en-IN" b="1" dirty="0"/>
          </a:p>
        </p:txBody>
      </p:sp>
      <p:sp>
        <p:nvSpPr>
          <p:cNvPr id="3" name="Content Placeholder 2">
            <a:extLst>
              <a:ext uri="{FF2B5EF4-FFF2-40B4-BE49-F238E27FC236}">
                <a16:creationId xmlns:a16="http://schemas.microsoft.com/office/drawing/2014/main" id="{560059F6-E2BB-B130-EDA7-3A06EE13A1DB}"/>
              </a:ext>
            </a:extLst>
          </p:cNvPr>
          <p:cNvSpPr>
            <a:spLocks noGrp="1"/>
          </p:cNvSpPr>
          <p:nvPr>
            <p:ph idx="1"/>
          </p:nvPr>
        </p:nvSpPr>
        <p:spPr>
          <a:xfrm>
            <a:off x="838200" y="1576873"/>
            <a:ext cx="10515600" cy="4916002"/>
          </a:xfrm>
        </p:spPr>
        <p:txBody>
          <a:bodyPr>
            <a:normAutofit/>
          </a:bodyPr>
          <a:lstStyle/>
          <a:p>
            <a:r>
              <a:rPr lang="en-US" sz="2400" dirty="0"/>
              <a:t>Machinery safeguard-Point-of-Operation, Principle of machine guarding -types of guards and devices. </a:t>
            </a:r>
          </a:p>
          <a:p>
            <a:r>
              <a:rPr lang="en-US" sz="2400" dirty="0"/>
              <a:t>Safety in turning, and grinding. </a:t>
            </a:r>
          </a:p>
          <a:p>
            <a:r>
              <a:rPr lang="en-US" sz="2400" dirty="0"/>
              <a:t>Welding and Cutting-Safety Precautions of Gas welding and Arc Welding. </a:t>
            </a:r>
          </a:p>
          <a:p>
            <a:r>
              <a:rPr lang="en-US" sz="2400" dirty="0"/>
              <a:t>Material Handling-Classification-safety consideration- manual and mechanical handling. </a:t>
            </a:r>
          </a:p>
          <a:p>
            <a:r>
              <a:rPr lang="en-US" sz="2400" dirty="0"/>
              <a:t>Handling assessments and techniques- lifting, carrying, pulling, pushing, palletizing and stocking. </a:t>
            </a:r>
          </a:p>
          <a:p>
            <a:r>
              <a:rPr lang="en-US" sz="2400" dirty="0"/>
              <a:t>Material Handling equipment-operation &amp; maintenance. </a:t>
            </a:r>
          </a:p>
          <a:p>
            <a:r>
              <a:rPr lang="en-US" sz="2400" dirty="0"/>
              <a:t>Maintenance of common elements-wire rope, chains slings, hooks, clamps. </a:t>
            </a:r>
          </a:p>
          <a:p>
            <a:r>
              <a:rPr lang="en-US" sz="2400" dirty="0"/>
              <a:t>Hearing Conservation Program in Production industries. </a:t>
            </a:r>
            <a:endParaRPr lang="en-IN" sz="2400" dirty="0"/>
          </a:p>
        </p:txBody>
      </p:sp>
    </p:spTree>
    <p:extLst>
      <p:ext uri="{BB962C8B-B14F-4D97-AF65-F5344CB8AC3E}">
        <p14:creationId xmlns:p14="http://schemas.microsoft.com/office/powerpoint/2010/main" val="1007801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C1F89-442F-162B-F318-997AE74F607C}"/>
              </a:ext>
            </a:extLst>
          </p:cNvPr>
          <p:cNvSpPr>
            <a:spLocks noGrp="1"/>
          </p:cNvSpPr>
          <p:nvPr>
            <p:ph type="title"/>
          </p:nvPr>
        </p:nvSpPr>
        <p:spPr/>
        <p:txBody>
          <a:bodyPr/>
          <a:lstStyle/>
          <a:p>
            <a:pPr algn="ctr"/>
            <a:r>
              <a:rPr lang="en-US" b="1" dirty="0"/>
              <a:t>Module V (Hazard identification and analysis)</a:t>
            </a:r>
            <a:endParaRPr lang="en-IN" b="1" dirty="0"/>
          </a:p>
        </p:txBody>
      </p:sp>
      <p:sp>
        <p:nvSpPr>
          <p:cNvPr id="3" name="Content Placeholder 2">
            <a:extLst>
              <a:ext uri="{FF2B5EF4-FFF2-40B4-BE49-F238E27FC236}">
                <a16:creationId xmlns:a16="http://schemas.microsoft.com/office/drawing/2014/main" id="{E6A1AA9D-1366-02FF-9A20-9D4C33A469F2}"/>
              </a:ext>
            </a:extLst>
          </p:cNvPr>
          <p:cNvSpPr>
            <a:spLocks noGrp="1"/>
          </p:cNvSpPr>
          <p:nvPr>
            <p:ph idx="1"/>
          </p:nvPr>
        </p:nvSpPr>
        <p:spPr/>
        <p:txBody>
          <a:bodyPr/>
          <a:lstStyle/>
          <a:p>
            <a:r>
              <a:rPr lang="en-US" dirty="0"/>
              <a:t>Hazard and risk, Types of hazards –Classification of Fire, Types of Fire extinguishers, fire explosion and toxic gas release, Structure of hazard identification and risk assessment. </a:t>
            </a:r>
          </a:p>
          <a:p>
            <a:r>
              <a:rPr lang="en-US" dirty="0"/>
              <a:t>Identification of hazards: Inventory analysis, Fire and explosion hazard rating of process plants - The Dow Fire and Explosion Hazard Index, Preliminary hazard analysis, Hazard and Operability study (HAZOP)) – methodology, criticality analysis, corrective action and follow-up. </a:t>
            </a:r>
          </a:p>
          <a:p>
            <a:r>
              <a:rPr lang="en-US" dirty="0"/>
              <a:t>Control of Chemical Hazards, Hazardous properties of chemicals, Material Safety Data Sheets (MSDS).</a:t>
            </a:r>
            <a:endParaRPr lang="en-IN" dirty="0"/>
          </a:p>
        </p:txBody>
      </p:sp>
    </p:spTree>
    <p:extLst>
      <p:ext uri="{BB962C8B-B14F-4D97-AF65-F5344CB8AC3E}">
        <p14:creationId xmlns:p14="http://schemas.microsoft.com/office/powerpoint/2010/main" val="1044632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6EB1A-CE4B-F5EE-35E9-078F7DCA246F}"/>
              </a:ext>
            </a:extLst>
          </p:cNvPr>
          <p:cNvSpPr>
            <a:spLocks noGrp="1"/>
          </p:cNvSpPr>
          <p:nvPr>
            <p:ph type="title"/>
          </p:nvPr>
        </p:nvSpPr>
        <p:spPr/>
        <p:txBody>
          <a:bodyPr/>
          <a:lstStyle/>
          <a:p>
            <a:r>
              <a:rPr lang="en-IN" dirty="0"/>
              <a:t>Course Outcomes</a:t>
            </a:r>
          </a:p>
        </p:txBody>
      </p:sp>
      <p:pic>
        <p:nvPicPr>
          <p:cNvPr id="9" name="Content Placeholder 8">
            <a:extLst>
              <a:ext uri="{FF2B5EF4-FFF2-40B4-BE49-F238E27FC236}">
                <a16:creationId xmlns:a16="http://schemas.microsoft.com/office/drawing/2014/main" id="{5B115F11-B4D9-D822-4A61-B1BF6E1F4579}"/>
              </a:ext>
            </a:extLst>
          </p:cNvPr>
          <p:cNvPicPr>
            <a:picLocks noGrp="1" noChangeAspect="1"/>
          </p:cNvPicPr>
          <p:nvPr>
            <p:ph idx="1"/>
          </p:nvPr>
        </p:nvPicPr>
        <p:blipFill>
          <a:blip r:embed="rId2"/>
          <a:stretch>
            <a:fillRect/>
          </a:stretch>
        </p:blipFill>
        <p:spPr>
          <a:xfrm>
            <a:off x="984958" y="1542647"/>
            <a:ext cx="9017457" cy="4727435"/>
          </a:xfrm>
        </p:spPr>
      </p:pic>
    </p:spTree>
    <p:extLst>
      <p:ext uri="{BB962C8B-B14F-4D97-AF65-F5344CB8AC3E}">
        <p14:creationId xmlns:p14="http://schemas.microsoft.com/office/powerpoint/2010/main" val="3080766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B287A-0940-EEFC-BBA1-C1A844825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1B9BC-BDBC-7EB9-88A9-EFF3A7E33BE6}"/>
              </a:ext>
            </a:extLst>
          </p:cNvPr>
          <p:cNvSpPr>
            <a:spLocks noGrp="1"/>
          </p:cNvSpPr>
          <p:nvPr>
            <p:ph type="title"/>
          </p:nvPr>
        </p:nvSpPr>
        <p:spPr/>
        <p:txBody>
          <a:bodyPr/>
          <a:lstStyle/>
          <a:p>
            <a:pPr algn="ctr"/>
            <a:r>
              <a:rPr lang="en-US" b="1" dirty="0"/>
              <a:t>Module I (Safety Introduction)</a:t>
            </a:r>
            <a:endParaRPr lang="en-IN" b="1" dirty="0"/>
          </a:p>
        </p:txBody>
      </p:sp>
      <p:sp>
        <p:nvSpPr>
          <p:cNvPr id="3" name="Content Placeholder 2">
            <a:extLst>
              <a:ext uri="{FF2B5EF4-FFF2-40B4-BE49-F238E27FC236}">
                <a16:creationId xmlns:a16="http://schemas.microsoft.com/office/drawing/2014/main" id="{32E2AD9F-AD29-8CAE-D165-413E6D19A9E2}"/>
              </a:ext>
            </a:extLst>
          </p:cNvPr>
          <p:cNvSpPr>
            <a:spLocks noGrp="1"/>
          </p:cNvSpPr>
          <p:nvPr>
            <p:ph idx="1"/>
          </p:nvPr>
        </p:nvSpPr>
        <p:spPr>
          <a:xfrm>
            <a:off x="838200" y="1623527"/>
            <a:ext cx="10515600" cy="4786604"/>
          </a:xfrm>
        </p:spPr>
        <p:txBody>
          <a:bodyPr>
            <a:normAutofit/>
          </a:bodyPr>
          <a:lstStyle/>
          <a:p>
            <a:r>
              <a:rPr lang="en-US" sz="2400" dirty="0"/>
              <a:t>Need for safety. </a:t>
            </a:r>
          </a:p>
          <a:p>
            <a:r>
              <a:rPr lang="en-US" sz="2400" dirty="0"/>
              <a:t>Safety and productivity. </a:t>
            </a:r>
          </a:p>
          <a:p>
            <a:r>
              <a:rPr lang="en-US" sz="2400" dirty="0"/>
              <a:t>Definitions: Accident, Injury, Unsafe act, Unsafe Condition, Dangerous Occurrence, Reportable accidents. </a:t>
            </a:r>
          </a:p>
          <a:p>
            <a:r>
              <a:rPr lang="en-US" sz="2400" dirty="0"/>
              <a:t>Theories of accident causation. </a:t>
            </a:r>
          </a:p>
          <a:p>
            <a:r>
              <a:rPr lang="en-US" sz="2400" dirty="0"/>
              <a:t>Safety organization- objectives, types, functions, </a:t>
            </a:r>
          </a:p>
          <a:p>
            <a:r>
              <a:rPr lang="en-US" sz="2400" dirty="0"/>
              <a:t>Role of management, supervisors, workmen, unions, government and voluntary agencies in safety.</a:t>
            </a:r>
          </a:p>
          <a:p>
            <a:r>
              <a:rPr lang="en-US" sz="2400" dirty="0"/>
              <a:t> Safety policy. </a:t>
            </a:r>
          </a:p>
          <a:p>
            <a:r>
              <a:rPr lang="en-US" sz="2400" dirty="0"/>
              <a:t>Safety Officer-responsibilities, authority. </a:t>
            </a:r>
          </a:p>
          <a:p>
            <a:r>
              <a:rPr lang="en-US" sz="2400" dirty="0"/>
              <a:t>Safety committee-need, types, advantages. </a:t>
            </a:r>
            <a:endParaRPr lang="en-IN" sz="2400" dirty="0"/>
          </a:p>
        </p:txBody>
      </p:sp>
    </p:spTree>
    <p:extLst>
      <p:ext uri="{BB962C8B-B14F-4D97-AF65-F5344CB8AC3E}">
        <p14:creationId xmlns:p14="http://schemas.microsoft.com/office/powerpoint/2010/main" val="443978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E168-F24C-17AF-8915-F4D525399326}"/>
              </a:ext>
            </a:extLst>
          </p:cNvPr>
          <p:cNvSpPr>
            <a:spLocks noGrp="1"/>
          </p:cNvSpPr>
          <p:nvPr>
            <p:ph type="title"/>
          </p:nvPr>
        </p:nvSpPr>
        <p:spPr/>
        <p:txBody>
          <a:bodyPr/>
          <a:lstStyle/>
          <a:p>
            <a:r>
              <a:rPr lang="en-US" dirty="0"/>
              <a:t>What is Safety and what is it's significance ?</a:t>
            </a:r>
            <a:endParaRPr lang="en-IN" dirty="0"/>
          </a:p>
        </p:txBody>
      </p:sp>
      <p:sp>
        <p:nvSpPr>
          <p:cNvPr id="3" name="Content Placeholder 2">
            <a:extLst>
              <a:ext uri="{FF2B5EF4-FFF2-40B4-BE49-F238E27FC236}">
                <a16:creationId xmlns:a16="http://schemas.microsoft.com/office/drawing/2014/main" id="{E717CE47-4AEE-B717-1880-6EBA85CFBC60}"/>
              </a:ext>
            </a:extLst>
          </p:cNvPr>
          <p:cNvSpPr>
            <a:spLocks noGrp="1"/>
          </p:cNvSpPr>
          <p:nvPr>
            <p:ph idx="1"/>
          </p:nvPr>
        </p:nvSpPr>
        <p:spPr>
          <a:xfrm>
            <a:off x="838200" y="1690688"/>
            <a:ext cx="10515600" cy="4934047"/>
          </a:xfrm>
        </p:spPr>
        <p:txBody>
          <a:bodyPr>
            <a:normAutofit/>
          </a:bodyPr>
          <a:lstStyle/>
          <a:p>
            <a:r>
              <a:rPr lang="en-US" sz="2400" dirty="0"/>
              <a:t>Safety is necessary everywhere and at all times, in homes, on roads, in offices, public places, while travelling, in working in Industry.</a:t>
            </a:r>
          </a:p>
          <a:p>
            <a:r>
              <a:rPr lang="en-US" sz="2400" dirty="0"/>
              <a:t>Industry has more hazardous situations and activities than home or an office.</a:t>
            </a:r>
          </a:p>
          <a:p>
            <a:r>
              <a:rPr lang="en-US" sz="2400" dirty="0"/>
              <a:t>Many persons work as a team in an industry and Safety is of interest to every individual, group of individuals and the total organization.</a:t>
            </a:r>
          </a:p>
          <a:p>
            <a:r>
              <a:rPr lang="en-US" sz="2400" dirty="0"/>
              <a:t>Every individual in the society and an industrial organization has obligation to </a:t>
            </a:r>
            <a:r>
              <a:rPr lang="en-US" sz="2400" dirty="0" err="1"/>
              <a:t>organise</a:t>
            </a:r>
            <a:r>
              <a:rPr lang="en-US" sz="2400" dirty="0"/>
              <a:t> and </a:t>
            </a:r>
            <a:r>
              <a:rPr lang="en-IN" sz="2400" dirty="0"/>
              <a:t>establish safety disciplines.</a:t>
            </a:r>
          </a:p>
          <a:p>
            <a:r>
              <a:rPr lang="en-US" sz="2400" dirty="0"/>
              <a:t>Safety Management is an essential and important part of industrial management.</a:t>
            </a:r>
          </a:p>
          <a:p>
            <a:r>
              <a:rPr lang="en-US" sz="2400" dirty="0"/>
              <a:t>Management is responsible to provide safe working condition and individual's safety.</a:t>
            </a:r>
          </a:p>
          <a:p>
            <a:r>
              <a:rPr lang="en-US" sz="2400" dirty="0"/>
              <a:t>Lapse on the part of management and individuals may result in an accident or disaster.</a:t>
            </a:r>
            <a:endParaRPr lang="en-IN" sz="2400" dirty="0"/>
          </a:p>
        </p:txBody>
      </p:sp>
    </p:spTree>
    <p:extLst>
      <p:ext uri="{BB962C8B-B14F-4D97-AF65-F5344CB8AC3E}">
        <p14:creationId xmlns:p14="http://schemas.microsoft.com/office/powerpoint/2010/main" val="870814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4836F-82D9-6F83-CFFD-8134D803B357}"/>
              </a:ext>
            </a:extLst>
          </p:cNvPr>
          <p:cNvSpPr>
            <a:spLocks noGrp="1"/>
          </p:cNvSpPr>
          <p:nvPr>
            <p:ph type="title"/>
          </p:nvPr>
        </p:nvSpPr>
        <p:spPr>
          <a:xfrm>
            <a:off x="838200" y="365125"/>
            <a:ext cx="10515600" cy="1006475"/>
          </a:xfrm>
        </p:spPr>
        <p:txBody>
          <a:bodyPr/>
          <a:lstStyle/>
          <a:p>
            <a:r>
              <a:rPr lang="en-IN" dirty="0"/>
              <a:t>Industry Safety</a:t>
            </a:r>
          </a:p>
        </p:txBody>
      </p:sp>
      <p:sp>
        <p:nvSpPr>
          <p:cNvPr id="3" name="Content Placeholder 2">
            <a:extLst>
              <a:ext uri="{FF2B5EF4-FFF2-40B4-BE49-F238E27FC236}">
                <a16:creationId xmlns:a16="http://schemas.microsoft.com/office/drawing/2014/main" id="{ECA85C4A-69CC-BF0B-4F13-3A0D68DF2FF7}"/>
              </a:ext>
            </a:extLst>
          </p:cNvPr>
          <p:cNvSpPr>
            <a:spLocks noGrp="1"/>
          </p:cNvSpPr>
          <p:nvPr>
            <p:ph idx="1"/>
          </p:nvPr>
        </p:nvSpPr>
        <p:spPr>
          <a:xfrm>
            <a:off x="838200" y="1371600"/>
            <a:ext cx="10750420" cy="5121275"/>
          </a:xfrm>
        </p:spPr>
        <p:txBody>
          <a:bodyPr>
            <a:noAutofit/>
          </a:bodyPr>
          <a:lstStyle/>
          <a:p>
            <a:r>
              <a:rPr kumimoji="0" lang="en-US" altLang="en-US" sz="2400" b="0" i="0" u="none" strike="noStrike" cap="none" normalizeH="0" baseline="0" dirty="0">
                <a:ln>
                  <a:noFill/>
                </a:ln>
                <a:solidFill>
                  <a:schemeClr val="tx1"/>
                </a:solidFill>
                <a:effectLst/>
                <a:cs typeface="Calibri" panose="020F0502020204030204" pitchFamily="34" charset="0"/>
              </a:rPr>
              <a:t>Industrial safety is primarily an activity that management is concerned with reducing, controlling, and eliminating hazards from the industries or industrial units. </a:t>
            </a:r>
          </a:p>
          <a:p>
            <a:r>
              <a:rPr kumimoji="0" lang="en-US" altLang="en-US" sz="2400" b="0" i="0" u="none" strike="noStrike" cap="none" normalizeH="0" baseline="0" dirty="0">
                <a:ln>
                  <a:noFill/>
                </a:ln>
                <a:solidFill>
                  <a:schemeClr val="tx1"/>
                </a:solidFill>
                <a:effectLst/>
                <a:cs typeface="Calibri" panose="020F0502020204030204" pitchFamily="34" charset="0"/>
              </a:rPr>
              <a:t>This can take the form of being protected from the event or from exposure to something that causes health or economical losses.</a:t>
            </a:r>
          </a:p>
          <a:p>
            <a:r>
              <a:rPr lang="en-US" sz="2400" dirty="0"/>
              <a:t>Industrial safety encompasses the prevention of a wide variety of industrial hazards, occupational accidents and work-related illnesses in order to create </a:t>
            </a:r>
            <a:r>
              <a:rPr lang="en-IN" sz="2400" dirty="0"/>
              <a:t>a “zero-risk” environment.</a:t>
            </a:r>
          </a:p>
          <a:p>
            <a:r>
              <a:rPr lang="en-US" sz="2400" dirty="0"/>
              <a:t>While this is a challenging task, effective prevention strategies at the enterprise, national, regional and international levels can eliminate, or at least minimize, the occurrence and impacts of industrial hazards.</a:t>
            </a:r>
          </a:p>
          <a:p>
            <a:r>
              <a:rPr lang="en-US" sz="2400" dirty="0"/>
              <a:t>Industrial safety mechanisms should begin at the firm level and expand to industrial sectors, national regulatory systems, regional monitoring entities and international organizations promoting industrial development.</a:t>
            </a:r>
            <a:endParaRPr kumimoji="0" lang="en-US" altLang="en-US" sz="2400" b="0" i="0" u="none" strike="noStrike" cap="none" normalizeH="0" baseline="0" dirty="0">
              <a:ln>
                <a:noFill/>
              </a:ln>
              <a:solidFill>
                <a:schemeClr val="tx1"/>
              </a:solidFill>
              <a:effectLst/>
            </a:endParaRPr>
          </a:p>
          <a:p>
            <a:endParaRPr lang="en-IN" sz="2400" dirty="0"/>
          </a:p>
        </p:txBody>
      </p:sp>
    </p:spTree>
    <p:extLst>
      <p:ext uri="{BB962C8B-B14F-4D97-AF65-F5344CB8AC3E}">
        <p14:creationId xmlns:p14="http://schemas.microsoft.com/office/powerpoint/2010/main" val="2858462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00A60-30A6-5344-C553-DF674AE7757B}"/>
              </a:ext>
            </a:extLst>
          </p:cNvPr>
          <p:cNvSpPr>
            <a:spLocks noGrp="1"/>
          </p:cNvSpPr>
          <p:nvPr>
            <p:ph type="title"/>
          </p:nvPr>
        </p:nvSpPr>
        <p:spPr>
          <a:xfrm>
            <a:off x="838200" y="365126"/>
            <a:ext cx="10515600" cy="997144"/>
          </a:xfrm>
        </p:spPr>
        <p:txBody>
          <a:bodyPr/>
          <a:lstStyle/>
          <a:p>
            <a:r>
              <a:rPr lang="en-IN" dirty="0"/>
              <a:t>Need for safety</a:t>
            </a:r>
          </a:p>
        </p:txBody>
      </p:sp>
      <p:sp>
        <p:nvSpPr>
          <p:cNvPr id="3" name="Content Placeholder 2">
            <a:extLst>
              <a:ext uri="{FF2B5EF4-FFF2-40B4-BE49-F238E27FC236}">
                <a16:creationId xmlns:a16="http://schemas.microsoft.com/office/drawing/2014/main" id="{AEBB3C6C-ED37-67D3-5D48-D26ECEB70B5A}"/>
              </a:ext>
            </a:extLst>
          </p:cNvPr>
          <p:cNvSpPr>
            <a:spLocks noGrp="1"/>
          </p:cNvSpPr>
          <p:nvPr>
            <p:ph idx="1"/>
          </p:nvPr>
        </p:nvSpPr>
        <p:spPr>
          <a:xfrm>
            <a:off x="838200" y="1362270"/>
            <a:ext cx="11076992" cy="5130605"/>
          </a:xfrm>
        </p:spPr>
        <p:txBody>
          <a:bodyPr>
            <a:noAutofit/>
          </a:bodyPr>
          <a:lstStyle/>
          <a:p>
            <a:r>
              <a:rPr lang="en-US" sz="2300" dirty="0"/>
              <a:t>The importance of industrial safety was realized because of the fact that every year millions of industrial accidents occur which result in loss of production time equivalent to millions of man hours, machine hours etc.</a:t>
            </a:r>
          </a:p>
          <a:p>
            <a:r>
              <a:rPr lang="en-US" sz="2300" dirty="0"/>
              <a:t>Of these about one-fifth production time is lost by those actually injured due to temporary and permanent disablement and the remaining production time is lost by fellow operators/ people in helping the injured, in taking care of the damage caused by accident etc. the loss to the industrial unit would appear much more alarming when death cases due to accidents are considered.</a:t>
            </a:r>
          </a:p>
          <a:p>
            <a:r>
              <a:rPr lang="en-US" sz="2300" dirty="0"/>
              <a:t>It is therefore essential to identify/examine the causes of industrial accidents and take steps to control them.</a:t>
            </a:r>
          </a:p>
          <a:p>
            <a:r>
              <a:rPr lang="en-US" sz="2300" dirty="0"/>
              <a:t>Many disciplines are concerned with this safety approach.</a:t>
            </a:r>
          </a:p>
          <a:p>
            <a:r>
              <a:rPr lang="en-US" sz="2300" dirty="0"/>
              <a:t>Industrial engineering is one field which deals with design of efficient work place, equipment and industrial layout design.</a:t>
            </a:r>
          </a:p>
          <a:p>
            <a:r>
              <a:rPr lang="en-US" sz="2300" dirty="0"/>
              <a:t>Other disciplines which can contribute to safe working environment are psychology, </a:t>
            </a:r>
            <a:r>
              <a:rPr lang="en-IN" sz="2300" dirty="0"/>
              <a:t>sociology and Medicare science.</a:t>
            </a:r>
          </a:p>
        </p:txBody>
      </p:sp>
    </p:spTree>
    <p:extLst>
      <p:ext uri="{BB962C8B-B14F-4D97-AF65-F5344CB8AC3E}">
        <p14:creationId xmlns:p14="http://schemas.microsoft.com/office/powerpoint/2010/main" val="2968630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487D0-767E-ABCE-F14B-A12A9DB7BC25}"/>
              </a:ext>
            </a:extLst>
          </p:cNvPr>
          <p:cNvSpPr>
            <a:spLocks noGrp="1"/>
          </p:cNvSpPr>
          <p:nvPr>
            <p:ph type="title"/>
          </p:nvPr>
        </p:nvSpPr>
        <p:spPr/>
        <p:txBody>
          <a:bodyPr/>
          <a:lstStyle/>
          <a:p>
            <a:r>
              <a:rPr lang="en-IN" dirty="0"/>
              <a:t>Need for safety</a:t>
            </a:r>
          </a:p>
        </p:txBody>
      </p:sp>
      <p:sp>
        <p:nvSpPr>
          <p:cNvPr id="3" name="Content Placeholder 2">
            <a:extLst>
              <a:ext uri="{FF2B5EF4-FFF2-40B4-BE49-F238E27FC236}">
                <a16:creationId xmlns:a16="http://schemas.microsoft.com/office/drawing/2014/main" id="{0B63C287-BB17-6903-E128-E24557D750C5}"/>
              </a:ext>
            </a:extLst>
          </p:cNvPr>
          <p:cNvSpPr>
            <a:spLocks noGrp="1"/>
          </p:cNvSpPr>
          <p:nvPr>
            <p:ph idx="1"/>
          </p:nvPr>
        </p:nvSpPr>
        <p:spPr/>
        <p:txBody>
          <a:bodyPr>
            <a:normAutofit/>
          </a:bodyPr>
          <a:lstStyle/>
          <a:p>
            <a:r>
              <a:rPr lang="en-US" dirty="0"/>
              <a:t>Need and concern for safety is very important.</a:t>
            </a:r>
          </a:p>
          <a:p>
            <a:r>
              <a:rPr lang="en-US" dirty="0"/>
              <a:t>There are some direct costs/ effects of an accident but there are certain indirect costs involved in it also</a:t>
            </a:r>
          </a:p>
          <a:p>
            <a:pPr lvl="1"/>
            <a:r>
              <a:rPr lang="en-IN" dirty="0"/>
              <a:t>Cost of compensation</a:t>
            </a:r>
          </a:p>
          <a:p>
            <a:pPr lvl="1"/>
            <a:r>
              <a:rPr lang="en-IN" dirty="0"/>
              <a:t>Cost of medical-aid</a:t>
            </a:r>
          </a:p>
          <a:p>
            <a:pPr lvl="1"/>
            <a:r>
              <a:rPr lang="en-US" dirty="0"/>
              <a:t>Cost of training a new worker</a:t>
            </a:r>
          </a:p>
          <a:p>
            <a:pPr lvl="1"/>
            <a:r>
              <a:rPr lang="en-US" dirty="0"/>
              <a:t>Cost of the lost time</a:t>
            </a:r>
          </a:p>
          <a:p>
            <a:pPr lvl="1"/>
            <a:r>
              <a:rPr lang="en-IN" dirty="0"/>
              <a:t>Cost of investigation</a:t>
            </a:r>
          </a:p>
          <a:p>
            <a:pPr lvl="1"/>
            <a:r>
              <a:rPr lang="en-IN" dirty="0"/>
              <a:t>Cost of supervision &amp; inspections</a:t>
            </a:r>
          </a:p>
          <a:p>
            <a:pPr lvl="1"/>
            <a:r>
              <a:rPr lang="en-US" dirty="0"/>
              <a:t>Cost to the Govt. in terms of factory inspectors, &amp; public health services</a:t>
            </a:r>
          </a:p>
        </p:txBody>
      </p:sp>
    </p:spTree>
    <p:extLst>
      <p:ext uri="{BB962C8B-B14F-4D97-AF65-F5344CB8AC3E}">
        <p14:creationId xmlns:p14="http://schemas.microsoft.com/office/powerpoint/2010/main" val="426814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E53B7-9D19-C3E1-1B11-C448B3DA4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02A27-82B6-39B1-79B4-E2991F0F2C06}"/>
              </a:ext>
            </a:extLst>
          </p:cNvPr>
          <p:cNvSpPr>
            <a:spLocks noGrp="1"/>
          </p:cNvSpPr>
          <p:nvPr>
            <p:ph type="title"/>
          </p:nvPr>
        </p:nvSpPr>
        <p:spPr/>
        <p:txBody>
          <a:bodyPr/>
          <a:lstStyle/>
          <a:p>
            <a:r>
              <a:rPr lang="en-IN" dirty="0"/>
              <a:t>Need for safety</a:t>
            </a:r>
          </a:p>
        </p:txBody>
      </p:sp>
      <p:sp>
        <p:nvSpPr>
          <p:cNvPr id="3" name="Content Placeholder 2">
            <a:extLst>
              <a:ext uri="{FF2B5EF4-FFF2-40B4-BE49-F238E27FC236}">
                <a16:creationId xmlns:a16="http://schemas.microsoft.com/office/drawing/2014/main" id="{95547349-4F0A-00F1-5D31-C852F5CD3452}"/>
              </a:ext>
            </a:extLst>
          </p:cNvPr>
          <p:cNvSpPr>
            <a:spLocks noGrp="1"/>
          </p:cNvSpPr>
          <p:nvPr>
            <p:ph idx="1"/>
          </p:nvPr>
        </p:nvSpPr>
        <p:spPr/>
        <p:txBody>
          <a:bodyPr>
            <a:normAutofit/>
          </a:bodyPr>
          <a:lstStyle/>
          <a:p>
            <a:r>
              <a:rPr lang="en-US" dirty="0"/>
              <a:t>Safety measures would not only eliminate/ avoid above cost, but would mean performing their moral responsibility towards workmen/operators also.</a:t>
            </a:r>
          </a:p>
          <a:p>
            <a:pPr lvl="1"/>
            <a:r>
              <a:rPr lang="en-US" dirty="0"/>
              <a:t>To protect health of all employees</a:t>
            </a:r>
          </a:p>
          <a:p>
            <a:pPr lvl="1"/>
            <a:r>
              <a:rPr lang="en-US" dirty="0"/>
              <a:t>To ensure well being of all workers</a:t>
            </a:r>
          </a:p>
          <a:p>
            <a:pPr lvl="1"/>
            <a:r>
              <a:rPr lang="en-US" dirty="0"/>
              <a:t>To promote positive culture in all organization or company</a:t>
            </a:r>
          </a:p>
          <a:p>
            <a:pPr lvl="1"/>
            <a:r>
              <a:rPr lang="en-US" dirty="0"/>
              <a:t>To ensure accident and incident prevention</a:t>
            </a:r>
          </a:p>
          <a:p>
            <a:pPr lvl="1"/>
            <a:r>
              <a:rPr lang="en-US" dirty="0"/>
              <a:t>To ensure organization development and its growth</a:t>
            </a:r>
          </a:p>
          <a:p>
            <a:pPr lvl="1"/>
            <a:r>
              <a:rPr lang="en-US" dirty="0"/>
              <a:t>To ensure continual improvement of company</a:t>
            </a:r>
            <a:endParaRPr lang="en-IN" dirty="0"/>
          </a:p>
        </p:txBody>
      </p:sp>
    </p:spTree>
    <p:extLst>
      <p:ext uri="{BB962C8B-B14F-4D97-AF65-F5344CB8AC3E}">
        <p14:creationId xmlns:p14="http://schemas.microsoft.com/office/powerpoint/2010/main" val="2518397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4E5BE-942D-F665-F224-5200CBA7B686}"/>
              </a:ext>
            </a:extLst>
          </p:cNvPr>
          <p:cNvSpPr>
            <a:spLocks noGrp="1"/>
          </p:cNvSpPr>
          <p:nvPr>
            <p:ph type="title"/>
          </p:nvPr>
        </p:nvSpPr>
        <p:spPr/>
        <p:txBody>
          <a:bodyPr/>
          <a:lstStyle/>
          <a:p>
            <a:r>
              <a:rPr lang="en-US" dirty="0"/>
              <a:t>Objective of safety management in Industry </a:t>
            </a:r>
            <a:endParaRPr lang="en-IN" dirty="0"/>
          </a:p>
        </p:txBody>
      </p:sp>
      <p:sp>
        <p:nvSpPr>
          <p:cNvPr id="3" name="Content Placeholder 2">
            <a:extLst>
              <a:ext uri="{FF2B5EF4-FFF2-40B4-BE49-F238E27FC236}">
                <a16:creationId xmlns:a16="http://schemas.microsoft.com/office/drawing/2014/main" id="{799E2BB7-7146-9FCD-C619-11A005A59325}"/>
              </a:ext>
            </a:extLst>
          </p:cNvPr>
          <p:cNvSpPr>
            <a:spLocks noGrp="1"/>
          </p:cNvSpPr>
          <p:nvPr>
            <p:ph idx="1"/>
          </p:nvPr>
        </p:nvSpPr>
        <p:spPr>
          <a:xfrm>
            <a:off x="838200" y="1788302"/>
            <a:ext cx="10515600" cy="4351338"/>
          </a:xfrm>
        </p:spPr>
        <p:txBody>
          <a:bodyPr>
            <a:normAutofit/>
          </a:bodyPr>
          <a:lstStyle/>
          <a:p>
            <a:r>
              <a:rPr lang="en-US" sz="2400" dirty="0"/>
              <a:t>To prevent accidents in the plant by reducing the hazard to minimum.</a:t>
            </a:r>
          </a:p>
          <a:p>
            <a:r>
              <a:rPr lang="en-US" sz="2400" dirty="0"/>
              <a:t>To eliminate accident caused work stoppage and lost production.</a:t>
            </a:r>
          </a:p>
          <a:p>
            <a:r>
              <a:rPr lang="en-US" sz="2400" dirty="0"/>
              <a:t>To achieve lower workmen's compensation, insurance rates and reduce all other direct and indirect costs of accidents.</a:t>
            </a:r>
          </a:p>
          <a:p>
            <a:r>
              <a:rPr lang="en-US" sz="2400" dirty="0"/>
              <a:t>To prevent loss of life, permanent disability and the loss of income of worker by eliminating causes of accidents.</a:t>
            </a:r>
          </a:p>
          <a:p>
            <a:r>
              <a:rPr lang="en-US" sz="2400" dirty="0"/>
              <a:t>To evaluate employee's morale by promoting safe workplace and good </a:t>
            </a:r>
            <a:r>
              <a:rPr lang="en-IN" sz="2400" dirty="0"/>
              <a:t>working condition</a:t>
            </a:r>
          </a:p>
          <a:p>
            <a:r>
              <a:rPr lang="en-US" sz="2400" dirty="0"/>
              <a:t>To educate all members of the organization in continuous state of safety mindless and to make supervision competent and intensely safety minded</a:t>
            </a:r>
            <a:endParaRPr lang="en-IN" sz="2400" dirty="0"/>
          </a:p>
        </p:txBody>
      </p:sp>
    </p:spTree>
    <p:extLst>
      <p:ext uri="{BB962C8B-B14F-4D97-AF65-F5344CB8AC3E}">
        <p14:creationId xmlns:p14="http://schemas.microsoft.com/office/powerpoint/2010/main" val="1511927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A438D-8BD1-9DEF-726D-1C4C3AE9E3AE}"/>
              </a:ext>
            </a:extLst>
          </p:cNvPr>
          <p:cNvSpPr>
            <a:spLocks noGrp="1"/>
          </p:cNvSpPr>
          <p:nvPr>
            <p:ph type="title"/>
          </p:nvPr>
        </p:nvSpPr>
        <p:spPr/>
        <p:txBody>
          <a:bodyPr/>
          <a:lstStyle/>
          <a:p>
            <a:r>
              <a:rPr lang="en-IN" dirty="0"/>
              <a:t>Four E’s of safety</a:t>
            </a:r>
          </a:p>
        </p:txBody>
      </p:sp>
      <p:sp>
        <p:nvSpPr>
          <p:cNvPr id="3" name="Content Placeholder 2">
            <a:extLst>
              <a:ext uri="{FF2B5EF4-FFF2-40B4-BE49-F238E27FC236}">
                <a16:creationId xmlns:a16="http://schemas.microsoft.com/office/drawing/2014/main" id="{46556844-1A28-F7C1-07C3-60553FDAABDE}"/>
              </a:ext>
            </a:extLst>
          </p:cNvPr>
          <p:cNvSpPr>
            <a:spLocks noGrp="1"/>
          </p:cNvSpPr>
          <p:nvPr>
            <p:ph idx="1"/>
          </p:nvPr>
        </p:nvSpPr>
        <p:spPr/>
        <p:txBody>
          <a:bodyPr/>
          <a:lstStyle/>
          <a:p>
            <a:r>
              <a:rPr lang="en-US" b="1" dirty="0"/>
              <a:t>Engineering</a:t>
            </a:r>
            <a:r>
              <a:rPr lang="en-US" dirty="0"/>
              <a:t>: i.e. safety at the design, equipment installation stage.</a:t>
            </a:r>
          </a:p>
          <a:p>
            <a:r>
              <a:rPr lang="en-US" b="1" dirty="0"/>
              <a:t>Education: </a:t>
            </a:r>
            <a:r>
              <a:rPr lang="en-US" dirty="0"/>
              <a:t>i.e. education of employees in safe practices.</a:t>
            </a:r>
          </a:p>
          <a:p>
            <a:r>
              <a:rPr lang="en-US" b="1" dirty="0"/>
              <a:t>Enlistment: </a:t>
            </a:r>
            <a:r>
              <a:rPr lang="en-US" dirty="0"/>
              <a:t>i.e. it concerns the attitude of the employees and management towards the program and its purpose. This necessary arose the interest of employees in accident prevention and safety consciousness.</a:t>
            </a:r>
          </a:p>
          <a:p>
            <a:r>
              <a:rPr lang="en-US" b="1" dirty="0"/>
              <a:t>Encouragement: </a:t>
            </a:r>
            <a:r>
              <a:rPr lang="en-US" dirty="0"/>
              <a:t>i.e. to enforce adherence to safe rules and practices.</a:t>
            </a:r>
            <a:endParaRPr lang="en-IN" dirty="0"/>
          </a:p>
        </p:txBody>
      </p:sp>
    </p:spTree>
    <p:extLst>
      <p:ext uri="{BB962C8B-B14F-4D97-AF65-F5344CB8AC3E}">
        <p14:creationId xmlns:p14="http://schemas.microsoft.com/office/powerpoint/2010/main" val="2046147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1304</Words>
  <Application>Microsoft Office PowerPoint</Application>
  <PresentationFormat>Widescreen</PresentationFormat>
  <Paragraphs>103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MCN 401 </vt:lpstr>
      <vt:lpstr>Module I (Safety Introduction)</vt:lpstr>
      <vt:lpstr>Module II (Personal protection in work environment)</vt:lpstr>
      <vt:lpstr>Module III (Safety issues in construction)</vt:lpstr>
      <vt:lpstr>Module IV (Safety hazards in machines)</vt:lpstr>
      <vt:lpstr>Module V (Hazard identification and analysis)</vt:lpstr>
      <vt:lpstr>Course Outcomes</vt:lpstr>
      <vt:lpstr>Module I (Safety Introduction)</vt:lpstr>
      <vt:lpstr>What is Safety and what is it's significance ?</vt:lpstr>
      <vt:lpstr>Industry Safety</vt:lpstr>
      <vt:lpstr>Need for safety</vt:lpstr>
      <vt:lpstr>Need for safety</vt:lpstr>
      <vt:lpstr>Need for safety</vt:lpstr>
      <vt:lpstr>Objective of safety management in Industry </vt:lpstr>
      <vt:lpstr>Four E’s of safety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2026-07-15T09:20:00Z</dcterms:created>
  <dcterms:modified xsi:type="dcterms:W3CDTF">2026-07-15T09:20:44Z</dcterms:modified>
</cp:coreProperties>
</file>