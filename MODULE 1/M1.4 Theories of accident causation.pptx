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9" r:id="rId2"/>
    <p:sldId id="362" r:id="rId3"/>
    <p:sldId id="363" r:id="rId4"/>
    <p:sldId id="364" r:id="rId5"/>
    <p:sldId id="365" r:id="rId6"/>
    <p:sldId id="293" r:id="rId7"/>
    <p:sldId id="294" r:id="rId8"/>
    <p:sldId id="295" r:id="rId9"/>
    <p:sldId id="296" r:id="rId10"/>
    <p:sldId id="297" r:id="rId11"/>
    <p:sldId id="366" r:id="rId12"/>
    <p:sldId id="367" r:id="rId13"/>
    <p:sldId id="368" r:id="rId14"/>
    <p:sldId id="369" r:id="rId15"/>
    <p:sldId id="370" r:id="rId16"/>
    <p:sldId id="371" r:id="rId17"/>
    <p:sldId id="372" r:id="rId18"/>
    <p:sldId id="373" r:id="rId19"/>
    <p:sldId id="374" r:id="rId20"/>
    <p:sldId id="376" r:id="rId21"/>
    <p:sldId id="375" r:id="rId22"/>
    <p:sldId id="299" r:id="rId23"/>
    <p:sldId id="305" r:id="rId24"/>
    <p:sldId id="377" r:id="rId25"/>
    <p:sldId id="378" r:id="rId26"/>
    <p:sldId id="379" r:id="rId27"/>
    <p:sldId id="381" r:id="rId28"/>
    <p:sldId id="380" r:id="rId29"/>
    <p:sldId id="306" r:id="rId30"/>
    <p:sldId id="307" r:id="rId31"/>
    <p:sldId id="308" r:id="rId32"/>
    <p:sldId id="309" r:id="rId33"/>
    <p:sldId id="383" r:id="rId34"/>
    <p:sldId id="384" r:id="rId35"/>
    <p:sldId id="38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E2B27-2F84-C498-E618-B6BFAAC6EA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C45A00-F52F-0E0D-61E7-31DF76804D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118594-FA53-5BED-B883-4E793EC00F59}"/>
              </a:ext>
            </a:extLst>
          </p:cNvPr>
          <p:cNvSpPr>
            <a:spLocks noGrp="1"/>
          </p:cNvSpPr>
          <p:nvPr>
            <p:ph type="dt" sz="half" idx="10"/>
          </p:nvPr>
        </p:nvSpPr>
        <p:spPr/>
        <p:txBody>
          <a:bodyPr/>
          <a:lstStyle/>
          <a:p>
            <a:fld id="{6AB86B56-88FC-45D0-ABA2-6272281B19F6}" type="datetimeFigureOut">
              <a:rPr lang="en-IN" smtClean="0"/>
              <a:t>16-07-2026</a:t>
            </a:fld>
            <a:endParaRPr lang="en-IN"/>
          </a:p>
        </p:txBody>
      </p:sp>
      <p:sp>
        <p:nvSpPr>
          <p:cNvPr id="5" name="Footer Placeholder 4">
            <a:extLst>
              <a:ext uri="{FF2B5EF4-FFF2-40B4-BE49-F238E27FC236}">
                <a16:creationId xmlns:a16="http://schemas.microsoft.com/office/drawing/2014/main" id="{B1F9CAE0-1A8F-EB2C-B85E-B456CAF038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7CF51D-3FDC-9756-A788-0B7F27EA81F2}"/>
              </a:ext>
            </a:extLst>
          </p:cNvPr>
          <p:cNvSpPr>
            <a:spLocks noGrp="1"/>
          </p:cNvSpPr>
          <p:nvPr>
            <p:ph type="sldNum" sz="quarter" idx="12"/>
          </p:nvPr>
        </p:nvSpPr>
        <p:spPr/>
        <p:txBody>
          <a:bodyPr/>
          <a:lstStyle/>
          <a:p>
            <a:fld id="{48C50B0E-2C2B-40D2-8904-C3343D01D72A}" type="slidenum">
              <a:rPr lang="en-IN" smtClean="0"/>
              <a:t>‹#›</a:t>
            </a:fld>
            <a:endParaRPr lang="en-IN"/>
          </a:p>
        </p:txBody>
      </p:sp>
    </p:spTree>
    <p:extLst>
      <p:ext uri="{BB962C8B-B14F-4D97-AF65-F5344CB8AC3E}">
        <p14:creationId xmlns:p14="http://schemas.microsoft.com/office/powerpoint/2010/main" val="4125644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982E1-A07B-CFCC-A621-E8458F9506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CDDFB6-E66D-AAED-B3A2-BADE196B24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299AE6-E08E-EFE7-E0B6-68FBD8CF6DA0}"/>
              </a:ext>
            </a:extLst>
          </p:cNvPr>
          <p:cNvSpPr>
            <a:spLocks noGrp="1"/>
          </p:cNvSpPr>
          <p:nvPr>
            <p:ph type="dt" sz="half" idx="10"/>
          </p:nvPr>
        </p:nvSpPr>
        <p:spPr/>
        <p:txBody>
          <a:bodyPr/>
          <a:lstStyle/>
          <a:p>
            <a:fld id="{6AB86B56-88FC-45D0-ABA2-6272281B19F6}" type="datetimeFigureOut">
              <a:rPr lang="en-IN" smtClean="0"/>
              <a:t>16-07-2026</a:t>
            </a:fld>
            <a:endParaRPr lang="en-IN"/>
          </a:p>
        </p:txBody>
      </p:sp>
      <p:sp>
        <p:nvSpPr>
          <p:cNvPr id="5" name="Footer Placeholder 4">
            <a:extLst>
              <a:ext uri="{FF2B5EF4-FFF2-40B4-BE49-F238E27FC236}">
                <a16:creationId xmlns:a16="http://schemas.microsoft.com/office/drawing/2014/main" id="{EA8F42D5-1860-75D4-0AF6-67938B6EE5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C15D5C-0F78-5974-6D49-BBEC5F4A6108}"/>
              </a:ext>
            </a:extLst>
          </p:cNvPr>
          <p:cNvSpPr>
            <a:spLocks noGrp="1"/>
          </p:cNvSpPr>
          <p:nvPr>
            <p:ph type="sldNum" sz="quarter" idx="12"/>
          </p:nvPr>
        </p:nvSpPr>
        <p:spPr/>
        <p:txBody>
          <a:bodyPr/>
          <a:lstStyle/>
          <a:p>
            <a:fld id="{48C50B0E-2C2B-40D2-8904-C3343D01D72A}" type="slidenum">
              <a:rPr lang="en-IN" smtClean="0"/>
              <a:t>‹#›</a:t>
            </a:fld>
            <a:endParaRPr lang="en-IN"/>
          </a:p>
        </p:txBody>
      </p:sp>
    </p:spTree>
    <p:extLst>
      <p:ext uri="{BB962C8B-B14F-4D97-AF65-F5344CB8AC3E}">
        <p14:creationId xmlns:p14="http://schemas.microsoft.com/office/powerpoint/2010/main" val="1944557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49973-A202-6BFB-1D7B-BACA0A2E61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DB7FFF-6EA5-CBFC-0EBE-DFFCC3D9AF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29EC05-7A81-9EC4-0FD4-C1C82EEFEC4B}"/>
              </a:ext>
            </a:extLst>
          </p:cNvPr>
          <p:cNvSpPr>
            <a:spLocks noGrp="1"/>
          </p:cNvSpPr>
          <p:nvPr>
            <p:ph type="dt" sz="half" idx="10"/>
          </p:nvPr>
        </p:nvSpPr>
        <p:spPr/>
        <p:txBody>
          <a:bodyPr/>
          <a:lstStyle/>
          <a:p>
            <a:fld id="{6AB86B56-88FC-45D0-ABA2-6272281B19F6}" type="datetimeFigureOut">
              <a:rPr lang="en-IN" smtClean="0"/>
              <a:t>16-07-2026</a:t>
            </a:fld>
            <a:endParaRPr lang="en-IN"/>
          </a:p>
        </p:txBody>
      </p:sp>
      <p:sp>
        <p:nvSpPr>
          <p:cNvPr id="5" name="Footer Placeholder 4">
            <a:extLst>
              <a:ext uri="{FF2B5EF4-FFF2-40B4-BE49-F238E27FC236}">
                <a16:creationId xmlns:a16="http://schemas.microsoft.com/office/drawing/2014/main" id="{0DFA134E-D465-5326-0438-37551C0F42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C2C2D6-5B34-FB20-64B8-10F41D1F02A0}"/>
              </a:ext>
            </a:extLst>
          </p:cNvPr>
          <p:cNvSpPr>
            <a:spLocks noGrp="1"/>
          </p:cNvSpPr>
          <p:nvPr>
            <p:ph type="sldNum" sz="quarter" idx="12"/>
          </p:nvPr>
        </p:nvSpPr>
        <p:spPr/>
        <p:txBody>
          <a:bodyPr/>
          <a:lstStyle/>
          <a:p>
            <a:fld id="{48C50B0E-2C2B-40D2-8904-C3343D01D72A}" type="slidenum">
              <a:rPr lang="en-IN" smtClean="0"/>
              <a:t>‹#›</a:t>
            </a:fld>
            <a:endParaRPr lang="en-IN"/>
          </a:p>
        </p:txBody>
      </p:sp>
    </p:spTree>
    <p:extLst>
      <p:ext uri="{BB962C8B-B14F-4D97-AF65-F5344CB8AC3E}">
        <p14:creationId xmlns:p14="http://schemas.microsoft.com/office/powerpoint/2010/main" val="1401157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D72F4-AC0C-B528-19E8-1385FCB2A4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FD236F-B183-0808-6488-95744263C5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B22C015-6D5F-96A1-5412-DDC7D2C079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A022789-E768-7D88-4147-A756E187FD98}"/>
              </a:ext>
            </a:extLst>
          </p:cNvPr>
          <p:cNvSpPr>
            <a:spLocks noGrp="1"/>
          </p:cNvSpPr>
          <p:nvPr>
            <p:ph type="dt" sz="half" idx="10"/>
          </p:nvPr>
        </p:nvSpPr>
        <p:spPr/>
        <p:txBody>
          <a:bodyPr/>
          <a:lstStyle/>
          <a:p>
            <a:fld id="{6AB86B56-88FC-45D0-ABA2-6272281B19F6}" type="datetimeFigureOut">
              <a:rPr lang="en-IN" smtClean="0"/>
              <a:t>16-07-2026</a:t>
            </a:fld>
            <a:endParaRPr lang="en-IN"/>
          </a:p>
        </p:txBody>
      </p:sp>
      <p:sp>
        <p:nvSpPr>
          <p:cNvPr id="6" name="Footer Placeholder 5">
            <a:extLst>
              <a:ext uri="{FF2B5EF4-FFF2-40B4-BE49-F238E27FC236}">
                <a16:creationId xmlns:a16="http://schemas.microsoft.com/office/drawing/2014/main" id="{FAC5BA3D-468D-35BF-8934-1231D0E536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4C9BE9-9941-7D65-5551-D7514A0AF746}"/>
              </a:ext>
            </a:extLst>
          </p:cNvPr>
          <p:cNvSpPr>
            <a:spLocks noGrp="1"/>
          </p:cNvSpPr>
          <p:nvPr>
            <p:ph type="sldNum" sz="quarter" idx="12"/>
          </p:nvPr>
        </p:nvSpPr>
        <p:spPr/>
        <p:txBody>
          <a:bodyPr/>
          <a:lstStyle/>
          <a:p>
            <a:fld id="{48C50B0E-2C2B-40D2-8904-C3343D01D72A}" type="slidenum">
              <a:rPr lang="en-IN" smtClean="0"/>
              <a:t>‹#›</a:t>
            </a:fld>
            <a:endParaRPr lang="en-IN"/>
          </a:p>
        </p:txBody>
      </p:sp>
    </p:spTree>
    <p:extLst>
      <p:ext uri="{BB962C8B-B14F-4D97-AF65-F5344CB8AC3E}">
        <p14:creationId xmlns:p14="http://schemas.microsoft.com/office/powerpoint/2010/main" val="127709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22C2A-4E12-1B6A-3970-26137CDF63F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56917C-DE5F-4965-D285-01848796F3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1B6BD-5DBF-FDEA-6F7C-F122DF9530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C342EFA-A860-8090-0433-8A06F666C2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2608F7-F736-DDCD-1BC5-87FDBBCDF0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9068328-F659-28C0-5B9B-58872B822BBE}"/>
              </a:ext>
            </a:extLst>
          </p:cNvPr>
          <p:cNvSpPr>
            <a:spLocks noGrp="1"/>
          </p:cNvSpPr>
          <p:nvPr>
            <p:ph type="dt" sz="half" idx="10"/>
          </p:nvPr>
        </p:nvSpPr>
        <p:spPr/>
        <p:txBody>
          <a:bodyPr/>
          <a:lstStyle/>
          <a:p>
            <a:fld id="{6AB86B56-88FC-45D0-ABA2-6272281B19F6}" type="datetimeFigureOut">
              <a:rPr lang="en-IN" smtClean="0"/>
              <a:t>16-07-2026</a:t>
            </a:fld>
            <a:endParaRPr lang="en-IN"/>
          </a:p>
        </p:txBody>
      </p:sp>
      <p:sp>
        <p:nvSpPr>
          <p:cNvPr id="8" name="Footer Placeholder 7">
            <a:extLst>
              <a:ext uri="{FF2B5EF4-FFF2-40B4-BE49-F238E27FC236}">
                <a16:creationId xmlns:a16="http://schemas.microsoft.com/office/drawing/2014/main" id="{87C1A4BC-AD08-3A5F-8C12-30C8E9336EF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9AD5E4C-51D7-150B-1F38-4B5D5BE5A73D}"/>
              </a:ext>
            </a:extLst>
          </p:cNvPr>
          <p:cNvSpPr>
            <a:spLocks noGrp="1"/>
          </p:cNvSpPr>
          <p:nvPr>
            <p:ph type="sldNum" sz="quarter" idx="12"/>
          </p:nvPr>
        </p:nvSpPr>
        <p:spPr/>
        <p:txBody>
          <a:bodyPr/>
          <a:lstStyle/>
          <a:p>
            <a:fld id="{48C50B0E-2C2B-40D2-8904-C3343D01D72A}" type="slidenum">
              <a:rPr lang="en-IN" smtClean="0"/>
              <a:t>‹#›</a:t>
            </a:fld>
            <a:endParaRPr lang="en-IN"/>
          </a:p>
        </p:txBody>
      </p:sp>
    </p:spTree>
    <p:extLst>
      <p:ext uri="{BB962C8B-B14F-4D97-AF65-F5344CB8AC3E}">
        <p14:creationId xmlns:p14="http://schemas.microsoft.com/office/powerpoint/2010/main" val="3638941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58C52-34E2-0DAA-4A72-06B56C9F01C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19387E-9A6C-63A5-8BB1-6781C8ECB7A3}"/>
              </a:ext>
            </a:extLst>
          </p:cNvPr>
          <p:cNvSpPr>
            <a:spLocks noGrp="1"/>
          </p:cNvSpPr>
          <p:nvPr>
            <p:ph type="dt" sz="half" idx="10"/>
          </p:nvPr>
        </p:nvSpPr>
        <p:spPr/>
        <p:txBody>
          <a:bodyPr/>
          <a:lstStyle/>
          <a:p>
            <a:fld id="{6AB86B56-88FC-45D0-ABA2-6272281B19F6}" type="datetimeFigureOut">
              <a:rPr lang="en-IN" smtClean="0"/>
              <a:t>16-07-2026</a:t>
            </a:fld>
            <a:endParaRPr lang="en-IN"/>
          </a:p>
        </p:txBody>
      </p:sp>
      <p:sp>
        <p:nvSpPr>
          <p:cNvPr id="4" name="Footer Placeholder 3">
            <a:extLst>
              <a:ext uri="{FF2B5EF4-FFF2-40B4-BE49-F238E27FC236}">
                <a16:creationId xmlns:a16="http://schemas.microsoft.com/office/drawing/2014/main" id="{F00DD240-767B-64E0-0344-FF8F03D4262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2C0FC0-11CD-9D0F-0ED6-EDF5D620C355}"/>
              </a:ext>
            </a:extLst>
          </p:cNvPr>
          <p:cNvSpPr>
            <a:spLocks noGrp="1"/>
          </p:cNvSpPr>
          <p:nvPr>
            <p:ph type="sldNum" sz="quarter" idx="12"/>
          </p:nvPr>
        </p:nvSpPr>
        <p:spPr/>
        <p:txBody>
          <a:bodyPr/>
          <a:lstStyle/>
          <a:p>
            <a:fld id="{48C50B0E-2C2B-40D2-8904-C3343D01D72A}" type="slidenum">
              <a:rPr lang="en-IN" smtClean="0"/>
              <a:t>‹#›</a:t>
            </a:fld>
            <a:endParaRPr lang="en-IN"/>
          </a:p>
        </p:txBody>
      </p:sp>
    </p:spTree>
    <p:extLst>
      <p:ext uri="{BB962C8B-B14F-4D97-AF65-F5344CB8AC3E}">
        <p14:creationId xmlns:p14="http://schemas.microsoft.com/office/powerpoint/2010/main" val="3988736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06C6CC-9414-4955-44AA-AE10EF8DCF05}"/>
              </a:ext>
            </a:extLst>
          </p:cNvPr>
          <p:cNvSpPr>
            <a:spLocks noGrp="1"/>
          </p:cNvSpPr>
          <p:nvPr>
            <p:ph type="dt" sz="half" idx="10"/>
          </p:nvPr>
        </p:nvSpPr>
        <p:spPr/>
        <p:txBody>
          <a:bodyPr/>
          <a:lstStyle/>
          <a:p>
            <a:fld id="{6AB86B56-88FC-45D0-ABA2-6272281B19F6}" type="datetimeFigureOut">
              <a:rPr lang="en-IN" smtClean="0"/>
              <a:t>16-07-2026</a:t>
            </a:fld>
            <a:endParaRPr lang="en-IN"/>
          </a:p>
        </p:txBody>
      </p:sp>
      <p:sp>
        <p:nvSpPr>
          <p:cNvPr id="3" name="Footer Placeholder 2">
            <a:extLst>
              <a:ext uri="{FF2B5EF4-FFF2-40B4-BE49-F238E27FC236}">
                <a16:creationId xmlns:a16="http://schemas.microsoft.com/office/drawing/2014/main" id="{39E6C28E-1999-6A7D-8FCD-0A125B2FD69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19079B-DF37-027D-5969-767A88BA78AB}"/>
              </a:ext>
            </a:extLst>
          </p:cNvPr>
          <p:cNvSpPr>
            <a:spLocks noGrp="1"/>
          </p:cNvSpPr>
          <p:nvPr>
            <p:ph type="sldNum" sz="quarter" idx="12"/>
          </p:nvPr>
        </p:nvSpPr>
        <p:spPr/>
        <p:txBody>
          <a:bodyPr/>
          <a:lstStyle/>
          <a:p>
            <a:fld id="{48C50B0E-2C2B-40D2-8904-C3343D01D72A}" type="slidenum">
              <a:rPr lang="en-IN" smtClean="0"/>
              <a:t>‹#›</a:t>
            </a:fld>
            <a:endParaRPr lang="en-IN"/>
          </a:p>
        </p:txBody>
      </p:sp>
    </p:spTree>
    <p:extLst>
      <p:ext uri="{BB962C8B-B14F-4D97-AF65-F5344CB8AC3E}">
        <p14:creationId xmlns:p14="http://schemas.microsoft.com/office/powerpoint/2010/main" val="1830793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CF184-62CB-D593-1B9F-E91BFFE26C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2CDC9A8-A958-B512-4615-7B644F8A8C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E1D7497-1DE1-5007-54CE-7DB6C3AB8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290A74-887F-A323-9F38-C61334E8380A}"/>
              </a:ext>
            </a:extLst>
          </p:cNvPr>
          <p:cNvSpPr>
            <a:spLocks noGrp="1"/>
          </p:cNvSpPr>
          <p:nvPr>
            <p:ph type="dt" sz="half" idx="10"/>
          </p:nvPr>
        </p:nvSpPr>
        <p:spPr/>
        <p:txBody>
          <a:bodyPr/>
          <a:lstStyle/>
          <a:p>
            <a:fld id="{6AB86B56-88FC-45D0-ABA2-6272281B19F6}" type="datetimeFigureOut">
              <a:rPr lang="en-IN" smtClean="0"/>
              <a:t>16-07-2026</a:t>
            </a:fld>
            <a:endParaRPr lang="en-IN"/>
          </a:p>
        </p:txBody>
      </p:sp>
      <p:sp>
        <p:nvSpPr>
          <p:cNvPr id="6" name="Footer Placeholder 5">
            <a:extLst>
              <a:ext uri="{FF2B5EF4-FFF2-40B4-BE49-F238E27FC236}">
                <a16:creationId xmlns:a16="http://schemas.microsoft.com/office/drawing/2014/main" id="{F730C3B7-C7C2-5520-E29D-0C9A025ED3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02D8F6-C066-22C0-A5B5-B938702C86E0}"/>
              </a:ext>
            </a:extLst>
          </p:cNvPr>
          <p:cNvSpPr>
            <a:spLocks noGrp="1"/>
          </p:cNvSpPr>
          <p:nvPr>
            <p:ph type="sldNum" sz="quarter" idx="12"/>
          </p:nvPr>
        </p:nvSpPr>
        <p:spPr/>
        <p:txBody>
          <a:bodyPr/>
          <a:lstStyle/>
          <a:p>
            <a:fld id="{48C50B0E-2C2B-40D2-8904-C3343D01D72A}" type="slidenum">
              <a:rPr lang="en-IN" smtClean="0"/>
              <a:t>‹#›</a:t>
            </a:fld>
            <a:endParaRPr lang="en-IN"/>
          </a:p>
        </p:txBody>
      </p:sp>
    </p:spTree>
    <p:extLst>
      <p:ext uri="{BB962C8B-B14F-4D97-AF65-F5344CB8AC3E}">
        <p14:creationId xmlns:p14="http://schemas.microsoft.com/office/powerpoint/2010/main" val="4224911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F98C4-CB6C-513D-6A4A-E533106E97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B82E77-7E8D-32CB-7B5E-45FD13E78A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334844-6D0D-EA2B-5098-A590AF131D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973D6B-39C4-F9C4-756B-7A1313FECBAA}"/>
              </a:ext>
            </a:extLst>
          </p:cNvPr>
          <p:cNvSpPr>
            <a:spLocks noGrp="1"/>
          </p:cNvSpPr>
          <p:nvPr>
            <p:ph type="dt" sz="half" idx="10"/>
          </p:nvPr>
        </p:nvSpPr>
        <p:spPr/>
        <p:txBody>
          <a:bodyPr/>
          <a:lstStyle/>
          <a:p>
            <a:fld id="{6AB86B56-88FC-45D0-ABA2-6272281B19F6}" type="datetimeFigureOut">
              <a:rPr lang="en-IN" smtClean="0"/>
              <a:t>16-07-2026</a:t>
            </a:fld>
            <a:endParaRPr lang="en-IN"/>
          </a:p>
        </p:txBody>
      </p:sp>
      <p:sp>
        <p:nvSpPr>
          <p:cNvPr id="6" name="Footer Placeholder 5">
            <a:extLst>
              <a:ext uri="{FF2B5EF4-FFF2-40B4-BE49-F238E27FC236}">
                <a16:creationId xmlns:a16="http://schemas.microsoft.com/office/drawing/2014/main" id="{2D46C135-5EE2-671D-10C2-445B7BC41E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89C658-E1EA-7123-DE05-162D562E0A39}"/>
              </a:ext>
            </a:extLst>
          </p:cNvPr>
          <p:cNvSpPr>
            <a:spLocks noGrp="1"/>
          </p:cNvSpPr>
          <p:nvPr>
            <p:ph type="sldNum" sz="quarter" idx="12"/>
          </p:nvPr>
        </p:nvSpPr>
        <p:spPr/>
        <p:txBody>
          <a:bodyPr/>
          <a:lstStyle/>
          <a:p>
            <a:fld id="{48C50B0E-2C2B-40D2-8904-C3343D01D72A}" type="slidenum">
              <a:rPr lang="en-IN" smtClean="0"/>
              <a:t>‹#›</a:t>
            </a:fld>
            <a:endParaRPr lang="en-IN"/>
          </a:p>
        </p:txBody>
      </p:sp>
    </p:spTree>
    <p:extLst>
      <p:ext uri="{BB962C8B-B14F-4D97-AF65-F5344CB8AC3E}">
        <p14:creationId xmlns:p14="http://schemas.microsoft.com/office/powerpoint/2010/main" val="1713068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08490-8E8A-0A53-CCF1-ED708864C4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B20873-5CFB-3CF3-0F32-C8FFBC245E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C3EC81-8A25-E8AC-3A9A-E09975F4AD53}"/>
              </a:ext>
            </a:extLst>
          </p:cNvPr>
          <p:cNvSpPr>
            <a:spLocks noGrp="1"/>
          </p:cNvSpPr>
          <p:nvPr>
            <p:ph type="dt" sz="half" idx="10"/>
          </p:nvPr>
        </p:nvSpPr>
        <p:spPr/>
        <p:txBody>
          <a:bodyPr/>
          <a:lstStyle/>
          <a:p>
            <a:fld id="{6AB86B56-88FC-45D0-ABA2-6272281B19F6}" type="datetimeFigureOut">
              <a:rPr lang="en-IN" smtClean="0"/>
              <a:t>16-07-2026</a:t>
            </a:fld>
            <a:endParaRPr lang="en-IN"/>
          </a:p>
        </p:txBody>
      </p:sp>
      <p:sp>
        <p:nvSpPr>
          <p:cNvPr id="5" name="Footer Placeholder 4">
            <a:extLst>
              <a:ext uri="{FF2B5EF4-FFF2-40B4-BE49-F238E27FC236}">
                <a16:creationId xmlns:a16="http://schemas.microsoft.com/office/drawing/2014/main" id="{12DB531F-C5BC-3854-926B-A8B91D9EA7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1558C2-2D9F-72DB-16DA-2011DEB4A912}"/>
              </a:ext>
            </a:extLst>
          </p:cNvPr>
          <p:cNvSpPr>
            <a:spLocks noGrp="1"/>
          </p:cNvSpPr>
          <p:nvPr>
            <p:ph type="sldNum" sz="quarter" idx="12"/>
          </p:nvPr>
        </p:nvSpPr>
        <p:spPr/>
        <p:txBody>
          <a:bodyPr/>
          <a:lstStyle/>
          <a:p>
            <a:fld id="{48C50B0E-2C2B-40D2-8904-C3343D01D72A}" type="slidenum">
              <a:rPr lang="en-IN" smtClean="0"/>
              <a:t>‹#›</a:t>
            </a:fld>
            <a:endParaRPr lang="en-IN"/>
          </a:p>
        </p:txBody>
      </p:sp>
    </p:spTree>
    <p:extLst>
      <p:ext uri="{BB962C8B-B14F-4D97-AF65-F5344CB8AC3E}">
        <p14:creationId xmlns:p14="http://schemas.microsoft.com/office/powerpoint/2010/main" val="224842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E85AE2-6553-D324-86AB-0C5A449EEEF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C64380-5CB6-D1CF-67E6-DA12F55428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A26650-7CAB-6E09-3569-0B9673920429}"/>
              </a:ext>
            </a:extLst>
          </p:cNvPr>
          <p:cNvSpPr>
            <a:spLocks noGrp="1"/>
          </p:cNvSpPr>
          <p:nvPr>
            <p:ph type="dt" sz="half" idx="10"/>
          </p:nvPr>
        </p:nvSpPr>
        <p:spPr/>
        <p:txBody>
          <a:bodyPr/>
          <a:lstStyle/>
          <a:p>
            <a:fld id="{6AB86B56-88FC-45D0-ABA2-6272281B19F6}" type="datetimeFigureOut">
              <a:rPr lang="en-IN" smtClean="0"/>
              <a:t>16-07-2026</a:t>
            </a:fld>
            <a:endParaRPr lang="en-IN"/>
          </a:p>
        </p:txBody>
      </p:sp>
      <p:sp>
        <p:nvSpPr>
          <p:cNvPr id="5" name="Footer Placeholder 4">
            <a:extLst>
              <a:ext uri="{FF2B5EF4-FFF2-40B4-BE49-F238E27FC236}">
                <a16:creationId xmlns:a16="http://schemas.microsoft.com/office/drawing/2014/main" id="{32A1AA9F-4377-7280-8C3B-8C30B4D012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FA9142-A7DA-2E0C-8BB4-ECDD7A8ABE03}"/>
              </a:ext>
            </a:extLst>
          </p:cNvPr>
          <p:cNvSpPr>
            <a:spLocks noGrp="1"/>
          </p:cNvSpPr>
          <p:nvPr>
            <p:ph type="sldNum" sz="quarter" idx="12"/>
          </p:nvPr>
        </p:nvSpPr>
        <p:spPr/>
        <p:txBody>
          <a:bodyPr/>
          <a:lstStyle/>
          <a:p>
            <a:fld id="{48C50B0E-2C2B-40D2-8904-C3343D01D72A}" type="slidenum">
              <a:rPr lang="en-IN" smtClean="0"/>
              <a:t>‹#›</a:t>
            </a:fld>
            <a:endParaRPr lang="en-IN"/>
          </a:p>
        </p:txBody>
      </p:sp>
    </p:spTree>
    <p:extLst>
      <p:ext uri="{BB962C8B-B14F-4D97-AF65-F5344CB8AC3E}">
        <p14:creationId xmlns:p14="http://schemas.microsoft.com/office/powerpoint/2010/main" val="1367423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E662C2-B7DB-62D6-2EB7-84C1A2E8A0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5FB60A-F26C-E1D4-8E93-972F7C7289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40691E-CF76-1F80-2F27-E489FE56C4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B86B56-88FC-45D0-ABA2-6272281B19F6}" type="datetimeFigureOut">
              <a:rPr lang="en-IN" smtClean="0"/>
              <a:t>16-07-2026</a:t>
            </a:fld>
            <a:endParaRPr lang="en-IN"/>
          </a:p>
        </p:txBody>
      </p:sp>
      <p:sp>
        <p:nvSpPr>
          <p:cNvPr id="5" name="Footer Placeholder 4">
            <a:extLst>
              <a:ext uri="{FF2B5EF4-FFF2-40B4-BE49-F238E27FC236}">
                <a16:creationId xmlns:a16="http://schemas.microsoft.com/office/drawing/2014/main" id="{931EE3C9-678B-3BB1-E8DD-FF468206B1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DEBE0B4-6465-DB95-59F8-7E3D9B9313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C50B0E-2C2B-40D2-8904-C3343D01D72A}" type="slidenum">
              <a:rPr lang="en-IN" smtClean="0"/>
              <a:t>‹#›</a:t>
            </a:fld>
            <a:endParaRPr lang="en-IN"/>
          </a:p>
        </p:txBody>
      </p:sp>
    </p:spTree>
    <p:extLst>
      <p:ext uri="{BB962C8B-B14F-4D97-AF65-F5344CB8AC3E}">
        <p14:creationId xmlns:p14="http://schemas.microsoft.com/office/powerpoint/2010/main" val="256691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DEA9E8-5186-4282-A448-1AC27BD3688C}"/>
              </a:ext>
            </a:extLst>
          </p:cNvPr>
          <p:cNvPicPr>
            <a:picLocks noChangeAspect="1"/>
          </p:cNvPicPr>
          <p:nvPr/>
        </p:nvPicPr>
        <p:blipFill>
          <a:blip r:embed="rId2"/>
          <a:stretch>
            <a:fillRect/>
          </a:stretch>
        </p:blipFill>
        <p:spPr>
          <a:xfrm>
            <a:off x="1433995" y="9331"/>
            <a:ext cx="9126836" cy="6840000"/>
          </a:xfrm>
          <a:prstGeom prst="rect">
            <a:avLst/>
          </a:prstGeom>
        </p:spPr>
      </p:pic>
    </p:spTree>
    <p:extLst>
      <p:ext uri="{BB962C8B-B14F-4D97-AF65-F5344CB8AC3E}">
        <p14:creationId xmlns:p14="http://schemas.microsoft.com/office/powerpoint/2010/main" val="1012306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7B74D-B735-21BD-698D-DB58982FE769}"/>
              </a:ext>
            </a:extLst>
          </p:cNvPr>
          <p:cNvSpPr>
            <a:spLocks noGrp="1"/>
          </p:cNvSpPr>
          <p:nvPr>
            <p:ph type="title"/>
          </p:nvPr>
        </p:nvSpPr>
        <p:spPr>
          <a:xfrm>
            <a:off x="838200" y="365126"/>
            <a:ext cx="10515600" cy="801202"/>
          </a:xfrm>
        </p:spPr>
        <p:txBody>
          <a:bodyPr/>
          <a:lstStyle/>
          <a:p>
            <a:r>
              <a:rPr lang="en-IN" dirty="0"/>
              <a:t>1. Heinrich's Domino Theory</a:t>
            </a:r>
          </a:p>
        </p:txBody>
      </p:sp>
      <p:sp>
        <p:nvSpPr>
          <p:cNvPr id="3" name="Content Placeholder 2">
            <a:extLst>
              <a:ext uri="{FF2B5EF4-FFF2-40B4-BE49-F238E27FC236}">
                <a16:creationId xmlns:a16="http://schemas.microsoft.com/office/drawing/2014/main" id="{552650C7-1558-0054-9676-50E1BC911B29}"/>
              </a:ext>
            </a:extLst>
          </p:cNvPr>
          <p:cNvSpPr>
            <a:spLocks noGrp="1"/>
          </p:cNvSpPr>
          <p:nvPr>
            <p:ph idx="1"/>
          </p:nvPr>
        </p:nvSpPr>
        <p:spPr>
          <a:xfrm>
            <a:off x="838200" y="1530219"/>
            <a:ext cx="10515600" cy="5075853"/>
          </a:xfrm>
        </p:spPr>
        <p:txBody>
          <a:bodyPr>
            <a:normAutofit/>
          </a:bodyPr>
          <a:lstStyle/>
          <a:p>
            <a:r>
              <a:rPr lang="en-US" sz="2400" dirty="0"/>
              <a:t>According to Heinrich, an "accident" is one factor in a sequence that may lead to an injury.</a:t>
            </a:r>
          </a:p>
          <a:p>
            <a:r>
              <a:rPr lang="en-US" sz="2400" dirty="0"/>
              <a:t>The factors can be visualized as a series of dominoes standing on edge; when one falls, the linkage required for a chain reaction is </a:t>
            </a:r>
            <a:r>
              <a:rPr lang="en-IN" sz="2400" dirty="0"/>
              <a:t>completed.</a:t>
            </a:r>
            <a:endParaRPr lang="en-US" sz="2400" dirty="0"/>
          </a:p>
          <a:p>
            <a:r>
              <a:rPr lang="en-US" sz="2400" dirty="0"/>
              <a:t>Each of the factors is dependent on the preceding factor </a:t>
            </a:r>
          </a:p>
          <a:p>
            <a:r>
              <a:rPr lang="en-US" sz="2400" dirty="0"/>
              <a:t>After studying the reports of 75,000 industrial accidents, Heinrich concluded that</a:t>
            </a:r>
          </a:p>
          <a:p>
            <a:pPr lvl="1"/>
            <a:r>
              <a:rPr lang="en-US" sz="2000" dirty="0"/>
              <a:t>88 percent of industrial accidents are caused by unsafe acts committed by fellow </a:t>
            </a:r>
            <a:r>
              <a:rPr lang="en-IN" sz="2000" dirty="0"/>
              <a:t>workers.</a:t>
            </a:r>
          </a:p>
          <a:p>
            <a:pPr lvl="1"/>
            <a:r>
              <a:rPr lang="en-US" sz="2000" dirty="0"/>
              <a:t>10 percent of industrial accidents are caused by unsafe conditions.</a:t>
            </a:r>
          </a:p>
          <a:p>
            <a:pPr lvl="1"/>
            <a:r>
              <a:rPr lang="en-US" sz="2000" dirty="0"/>
              <a:t>2 percent of industrial accidents are unavoidable.</a:t>
            </a:r>
          </a:p>
          <a:p>
            <a:r>
              <a:rPr lang="en-US" sz="2400" dirty="0"/>
              <a:t>Heinrich’s study laid the foundation for his Axioms of Industrial Safety and his theory of accident causation, which came to be known </a:t>
            </a:r>
            <a:r>
              <a:rPr lang="en-IN" sz="2400" dirty="0"/>
              <a:t>as the domino theory.</a:t>
            </a:r>
          </a:p>
        </p:txBody>
      </p:sp>
    </p:spTree>
    <p:extLst>
      <p:ext uri="{BB962C8B-B14F-4D97-AF65-F5344CB8AC3E}">
        <p14:creationId xmlns:p14="http://schemas.microsoft.com/office/powerpoint/2010/main" val="1822752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05893-D13C-D201-80FF-FF78D2EF6037}"/>
              </a:ext>
            </a:extLst>
          </p:cNvPr>
          <p:cNvSpPr>
            <a:spLocks noGrp="1"/>
          </p:cNvSpPr>
          <p:nvPr>
            <p:ph type="title"/>
          </p:nvPr>
        </p:nvSpPr>
        <p:spPr/>
        <p:txBody>
          <a:bodyPr/>
          <a:lstStyle/>
          <a:p>
            <a:r>
              <a:rPr lang="en-US" dirty="0"/>
              <a:t>Heinrich’s Axioms of Industrial Safety</a:t>
            </a:r>
            <a:endParaRPr lang="en-IN" dirty="0"/>
          </a:p>
        </p:txBody>
      </p:sp>
      <p:sp>
        <p:nvSpPr>
          <p:cNvPr id="3" name="Content Placeholder 2">
            <a:extLst>
              <a:ext uri="{FF2B5EF4-FFF2-40B4-BE49-F238E27FC236}">
                <a16:creationId xmlns:a16="http://schemas.microsoft.com/office/drawing/2014/main" id="{AD6DEE7F-235A-AC84-8C21-9DCA6E4B27D2}"/>
              </a:ext>
            </a:extLst>
          </p:cNvPr>
          <p:cNvSpPr>
            <a:spLocks noGrp="1"/>
          </p:cNvSpPr>
          <p:nvPr>
            <p:ph idx="1"/>
          </p:nvPr>
        </p:nvSpPr>
        <p:spPr/>
        <p:txBody>
          <a:bodyPr>
            <a:normAutofit fontScale="77500" lnSpcReduction="20000"/>
          </a:bodyPr>
          <a:lstStyle/>
          <a:p>
            <a:pPr marL="514350" indent="-514350">
              <a:buFont typeface="+mj-lt"/>
              <a:buAutoNum type="arabicPeriod"/>
            </a:pPr>
            <a:r>
              <a:rPr lang="en-US" dirty="0"/>
              <a:t>Injuries result from a series of preceding factors.</a:t>
            </a:r>
          </a:p>
          <a:p>
            <a:pPr marL="514350" indent="-514350">
              <a:buFont typeface="+mj-lt"/>
              <a:buAutoNum type="arabicPeriod"/>
            </a:pPr>
            <a:r>
              <a:rPr lang="en-US" dirty="0"/>
              <a:t>Accidents occur as the result of physical hazard or an unsafe act.</a:t>
            </a:r>
          </a:p>
          <a:p>
            <a:pPr marL="514350" indent="-514350">
              <a:buFont typeface="+mj-lt"/>
              <a:buAutoNum type="arabicPeriod"/>
            </a:pPr>
            <a:r>
              <a:rPr lang="en-US" dirty="0"/>
              <a:t>Most accidents are the result of unsafe behavior.</a:t>
            </a:r>
          </a:p>
          <a:p>
            <a:pPr marL="514350" indent="-514350">
              <a:buFont typeface="+mj-lt"/>
              <a:buAutoNum type="arabicPeriod"/>
            </a:pPr>
            <a:r>
              <a:rPr lang="en-US" dirty="0"/>
              <a:t>Unsafe acts and hazards do not always result in immediate accidents and </a:t>
            </a:r>
            <a:r>
              <a:rPr lang="en-IN" dirty="0"/>
              <a:t>injuries.</a:t>
            </a:r>
          </a:p>
          <a:p>
            <a:pPr marL="514350" indent="-514350">
              <a:buFont typeface="+mj-lt"/>
              <a:buAutoNum type="arabicPeriod"/>
            </a:pPr>
            <a:r>
              <a:rPr lang="en-US" dirty="0"/>
              <a:t>Understanding why people commit unsafe acts helps to establish guidelines </a:t>
            </a:r>
            <a:r>
              <a:rPr lang="en-IN" dirty="0"/>
              <a:t>for corrective actions.</a:t>
            </a:r>
          </a:p>
          <a:p>
            <a:pPr marL="514350" indent="-514350">
              <a:buFont typeface="+mj-lt"/>
              <a:buAutoNum type="arabicPeriod"/>
            </a:pPr>
            <a:r>
              <a:rPr lang="en-US" dirty="0"/>
              <a:t>The severity of the injury is largely fortuitous and the accident that caused </a:t>
            </a:r>
            <a:r>
              <a:rPr lang="en-IN" dirty="0"/>
              <a:t>it is preventable.</a:t>
            </a:r>
          </a:p>
          <a:p>
            <a:pPr marL="514350" indent="-514350">
              <a:buFont typeface="+mj-lt"/>
              <a:buAutoNum type="arabicPeriod"/>
            </a:pPr>
            <a:r>
              <a:rPr lang="en-US" dirty="0"/>
              <a:t>Best accident prevention techniques are analogous to best quality /</a:t>
            </a:r>
            <a:r>
              <a:rPr lang="en-IN" dirty="0"/>
              <a:t>productivity techniques.</a:t>
            </a:r>
          </a:p>
          <a:p>
            <a:pPr marL="514350" indent="-514350">
              <a:buFont typeface="+mj-lt"/>
              <a:buAutoNum type="arabicPeriod"/>
            </a:pPr>
            <a:r>
              <a:rPr lang="en-US" dirty="0"/>
              <a:t>Management should assume safety responsibilities.</a:t>
            </a:r>
          </a:p>
          <a:p>
            <a:pPr marL="514350" indent="-514350">
              <a:buFont typeface="+mj-lt"/>
              <a:buAutoNum type="arabicPeriod"/>
            </a:pPr>
            <a:r>
              <a:rPr lang="en-US" dirty="0"/>
              <a:t>The supervisor is the key person in the prevention of industrial accidents.</a:t>
            </a:r>
          </a:p>
          <a:p>
            <a:pPr marL="514350" indent="-514350">
              <a:buFont typeface="+mj-lt"/>
              <a:buAutoNum type="arabicPeriod"/>
            </a:pPr>
            <a:r>
              <a:rPr lang="en-US" dirty="0"/>
              <a:t>Cost of accidents include both direct costs and indirect costs</a:t>
            </a:r>
            <a:endParaRPr lang="en-IN" dirty="0"/>
          </a:p>
        </p:txBody>
      </p:sp>
    </p:spTree>
    <p:extLst>
      <p:ext uri="{BB962C8B-B14F-4D97-AF65-F5344CB8AC3E}">
        <p14:creationId xmlns:p14="http://schemas.microsoft.com/office/powerpoint/2010/main" val="2667585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F6854-E686-E7D2-3046-139CEA8233B6}"/>
              </a:ext>
            </a:extLst>
          </p:cNvPr>
          <p:cNvSpPr>
            <a:spLocks noGrp="1"/>
          </p:cNvSpPr>
          <p:nvPr>
            <p:ph type="title"/>
          </p:nvPr>
        </p:nvSpPr>
        <p:spPr>
          <a:xfrm>
            <a:off x="838200" y="365126"/>
            <a:ext cx="10515600" cy="1118442"/>
          </a:xfrm>
        </p:spPr>
        <p:txBody>
          <a:bodyPr/>
          <a:lstStyle/>
          <a:p>
            <a:r>
              <a:rPr lang="en-US" dirty="0"/>
              <a:t>Heinrich’s Axioms of Industrial Safety</a:t>
            </a:r>
            <a:endParaRPr lang="en-IN" dirty="0"/>
          </a:p>
        </p:txBody>
      </p:sp>
      <p:sp>
        <p:nvSpPr>
          <p:cNvPr id="3" name="Content Placeholder 2">
            <a:extLst>
              <a:ext uri="{FF2B5EF4-FFF2-40B4-BE49-F238E27FC236}">
                <a16:creationId xmlns:a16="http://schemas.microsoft.com/office/drawing/2014/main" id="{60BAAB6F-CEA0-516B-3D38-B4F85E63F6BC}"/>
              </a:ext>
            </a:extLst>
          </p:cNvPr>
          <p:cNvSpPr>
            <a:spLocks noGrp="1"/>
          </p:cNvSpPr>
          <p:nvPr>
            <p:ph idx="1"/>
          </p:nvPr>
        </p:nvSpPr>
        <p:spPr>
          <a:xfrm>
            <a:off x="838200" y="1483568"/>
            <a:ext cx="10515600" cy="5131836"/>
          </a:xfrm>
        </p:spPr>
        <p:txBody>
          <a:bodyPr>
            <a:normAutofit/>
          </a:bodyPr>
          <a:lstStyle/>
          <a:p>
            <a:pPr>
              <a:lnSpc>
                <a:spcPct val="120000"/>
              </a:lnSpc>
            </a:pPr>
            <a:r>
              <a:rPr lang="en-US" dirty="0"/>
              <a:t>According to Heinrich, these axioms encompass the fundamental body of knowledge that must be understood by decision makers interested in preventing accidents.</a:t>
            </a:r>
          </a:p>
          <a:p>
            <a:pPr>
              <a:lnSpc>
                <a:spcPct val="120000"/>
              </a:lnSpc>
            </a:pPr>
            <a:r>
              <a:rPr lang="en-US" dirty="0"/>
              <a:t>Any accident prevention program that takes all 10 axioms into account is more likely to be effective than a program that leaves out one or more axioms</a:t>
            </a:r>
          </a:p>
        </p:txBody>
      </p:sp>
    </p:spTree>
    <p:extLst>
      <p:ext uri="{BB962C8B-B14F-4D97-AF65-F5344CB8AC3E}">
        <p14:creationId xmlns:p14="http://schemas.microsoft.com/office/powerpoint/2010/main" val="3915783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F6854-E686-E7D2-3046-139CEA8233B6}"/>
              </a:ext>
            </a:extLst>
          </p:cNvPr>
          <p:cNvSpPr>
            <a:spLocks noGrp="1"/>
          </p:cNvSpPr>
          <p:nvPr>
            <p:ph type="title"/>
          </p:nvPr>
        </p:nvSpPr>
        <p:spPr>
          <a:xfrm>
            <a:off x="838200" y="365126"/>
            <a:ext cx="10515600" cy="1118442"/>
          </a:xfrm>
        </p:spPr>
        <p:txBody>
          <a:bodyPr/>
          <a:lstStyle/>
          <a:p>
            <a:r>
              <a:rPr lang="en-US" dirty="0"/>
              <a:t>Heinrich’s Axioms of Industrial Safety</a:t>
            </a:r>
            <a:endParaRPr lang="en-IN" dirty="0"/>
          </a:p>
        </p:txBody>
      </p:sp>
      <p:sp>
        <p:nvSpPr>
          <p:cNvPr id="3" name="Content Placeholder 2">
            <a:extLst>
              <a:ext uri="{FF2B5EF4-FFF2-40B4-BE49-F238E27FC236}">
                <a16:creationId xmlns:a16="http://schemas.microsoft.com/office/drawing/2014/main" id="{60BAAB6F-CEA0-516B-3D38-B4F85E63F6BC}"/>
              </a:ext>
            </a:extLst>
          </p:cNvPr>
          <p:cNvSpPr>
            <a:spLocks noGrp="1"/>
          </p:cNvSpPr>
          <p:nvPr>
            <p:ph idx="1"/>
          </p:nvPr>
        </p:nvSpPr>
        <p:spPr>
          <a:xfrm>
            <a:off x="838200" y="1483568"/>
            <a:ext cx="10515600" cy="5131836"/>
          </a:xfrm>
        </p:spPr>
        <p:txBody>
          <a:bodyPr>
            <a:normAutofit/>
          </a:bodyPr>
          <a:lstStyle/>
          <a:p>
            <a:pPr>
              <a:lnSpc>
                <a:spcPct val="120000"/>
              </a:lnSpc>
            </a:pPr>
            <a:r>
              <a:rPr lang="en-US" sz="2400" dirty="0"/>
              <a:t>According to Heinrich, there are five factors in the sequence of events leading up to an accident. These factors can be summarized as follows:</a:t>
            </a:r>
          </a:p>
          <a:p>
            <a:pPr marL="914400" lvl="1" indent="-457200">
              <a:lnSpc>
                <a:spcPct val="120000"/>
              </a:lnSpc>
              <a:buFont typeface="+mj-lt"/>
              <a:buAutoNum type="arabicPeriod"/>
            </a:pPr>
            <a:r>
              <a:rPr lang="en-US" sz="2000" b="1" dirty="0"/>
              <a:t>Ancestry and social environment. </a:t>
            </a:r>
            <a:r>
              <a:rPr lang="en-US" sz="2000" dirty="0"/>
              <a:t>Negative character traits that may lead people to behave in an unsafe manner can be inherited (ancestry)or acquired as a result of the social environment</a:t>
            </a:r>
          </a:p>
          <a:p>
            <a:pPr marL="914400" lvl="1" indent="-457200">
              <a:lnSpc>
                <a:spcPct val="120000"/>
              </a:lnSpc>
              <a:buFont typeface="+mj-lt"/>
              <a:buAutoNum type="arabicPeriod"/>
            </a:pPr>
            <a:r>
              <a:rPr lang="en-US" sz="2000" b="1" dirty="0"/>
              <a:t>Fault of person </a:t>
            </a:r>
            <a:r>
              <a:rPr lang="en-US" sz="2000" dirty="0"/>
              <a:t>Negative character traits, whether inherited or acquired, are why people behave in an unsafe manner and why hazardous conditions exist.</a:t>
            </a:r>
          </a:p>
          <a:p>
            <a:pPr marL="914400" lvl="1" indent="-457200">
              <a:lnSpc>
                <a:spcPct val="120000"/>
              </a:lnSpc>
              <a:buFont typeface="+mj-lt"/>
              <a:buAutoNum type="arabicPeriod"/>
            </a:pPr>
            <a:r>
              <a:rPr lang="en-US" sz="2000" b="1" dirty="0"/>
              <a:t>Unsafe act/mechanical or physical hazard </a:t>
            </a:r>
            <a:r>
              <a:rPr lang="en-US" sz="2000" dirty="0"/>
              <a:t>.Unsafe acts committed by people and mechanical or physical hazards are the direct causes of accidents.</a:t>
            </a:r>
          </a:p>
          <a:p>
            <a:pPr marL="914400" lvl="1" indent="-457200">
              <a:lnSpc>
                <a:spcPct val="120000"/>
              </a:lnSpc>
              <a:buFont typeface="+mj-lt"/>
              <a:buAutoNum type="arabicPeriod"/>
            </a:pPr>
            <a:r>
              <a:rPr lang="en-US" sz="2000" b="1" dirty="0"/>
              <a:t>Accident. </a:t>
            </a:r>
            <a:r>
              <a:rPr lang="en-US" sz="2000" dirty="0"/>
              <a:t>Typically, accidents that result in injury are caused by falling or being hit by moving objects.</a:t>
            </a:r>
          </a:p>
          <a:p>
            <a:pPr marL="914400" lvl="1" indent="-457200">
              <a:lnSpc>
                <a:spcPct val="120000"/>
              </a:lnSpc>
              <a:buFont typeface="+mj-lt"/>
              <a:buAutoNum type="arabicPeriod"/>
            </a:pPr>
            <a:r>
              <a:rPr lang="en-US" sz="2000" b="1" dirty="0"/>
              <a:t>Injury.</a:t>
            </a:r>
            <a:r>
              <a:rPr lang="en-US" sz="2000" dirty="0"/>
              <a:t> Typical injuries resulting from accidents include lacerations and fractures. •</a:t>
            </a:r>
            <a:endParaRPr lang="en-IN" sz="2000" dirty="0"/>
          </a:p>
        </p:txBody>
      </p:sp>
    </p:spTree>
    <p:extLst>
      <p:ext uri="{BB962C8B-B14F-4D97-AF65-F5344CB8AC3E}">
        <p14:creationId xmlns:p14="http://schemas.microsoft.com/office/powerpoint/2010/main" val="980908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B42E77-63EA-40A2-8974-F1F872B8E34E}"/>
              </a:ext>
            </a:extLst>
          </p:cNvPr>
          <p:cNvPicPr>
            <a:picLocks noChangeAspect="1"/>
          </p:cNvPicPr>
          <p:nvPr/>
        </p:nvPicPr>
        <p:blipFill>
          <a:blip r:embed="rId2"/>
          <a:stretch>
            <a:fillRect/>
          </a:stretch>
        </p:blipFill>
        <p:spPr>
          <a:xfrm>
            <a:off x="1487301" y="-1"/>
            <a:ext cx="9284355" cy="6840000"/>
          </a:xfrm>
          <a:prstGeom prst="rect">
            <a:avLst/>
          </a:prstGeom>
        </p:spPr>
      </p:pic>
    </p:spTree>
    <p:extLst>
      <p:ext uri="{BB962C8B-B14F-4D97-AF65-F5344CB8AC3E}">
        <p14:creationId xmlns:p14="http://schemas.microsoft.com/office/powerpoint/2010/main" val="1764913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DF98DD-471E-40E0-97CA-0DF8F77D4302}"/>
              </a:ext>
            </a:extLst>
          </p:cNvPr>
          <p:cNvPicPr>
            <a:picLocks noChangeAspect="1"/>
          </p:cNvPicPr>
          <p:nvPr/>
        </p:nvPicPr>
        <p:blipFill>
          <a:blip r:embed="rId2"/>
          <a:stretch>
            <a:fillRect/>
          </a:stretch>
        </p:blipFill>
        <p:spPr>
          <a:xfrm>
            <a:off x="1230141" y="23726"/>
            <a:ext cx="10107794" cy="6804000"/>
          </a:xfrm>
          <a:prstGeom prst="rect">
            <a:avLst/>
          </a:prstGeom>
        </p:spPr>
      </p:pic>
    </p:spTree>
    <p:extLst>
      <p:ext uri="{BB962C8B-B14F-4D97-AF65-F5344CB8AC3E}">
        <p14:creationId xmlns:p14="http://schemas.microsoft.com/office/powerpoint/2010/main" val="2645311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B96ED9-3E43-4E18-8537-92B42E648142}"/>
              </a:ext>
            </a:extLst>
          </p:cNvPr>
          <p:cNvPicPr>
            <a:picLocks noChangeAspect="1"/>
          </p:cNvPicPr>
          <p:nvPr/>
        </p:nvPicPr>
        <p:blipFill>
          <a:blip r:embed="rId2"/>
          <a:stretch>
            <a:fillRect/>
          </a:stretch>
        </p:blipFill>
        <p:spPr>
          <a:xfrm>
            <a:off x="585335" y="7770"/>
            <a:ext cx="10839336" cy="6840000"/>
          </a:xfrm>
          <a:prstGeom prst="rect">
            <a:avLst/>
          </a:prstGeom>
        </p:spPr>
      </p:pic>
    </p:spTree>
    <p:extLst>
      <p:ext uri="{BB962C8B-B14F-4D97-AF65-F5344CB8AC3E}">
        <p14:creationId xmlns:p14="http://schemas.microsoft.com/office/powerpoint/2010/main" val="2672810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121D82-5D60-46F8-BF0A-C9D47F5A85E1}"/>
              </a:ext>
            </a:extLst>
          </p:cNvPr>
          <p:cNvPicPr>
            <a:picLocks noChangeAspect="1"/>
          </p:cNvPicPr>
          <p:nvPr/>
        </p:nvPicPr>
        <p:blipFill>
          <a:blip r:embed="rId2"/>
          <a:stretch>
            <a:fillRect/>
          </a:stretch>
        </p:blipFill>
        <p:spPr>
          <a:xfrm>
            <a:off x="429745" y="22241"/>
            <a:ext cx="11276061" cy="6840000"/>
          </a:xfrm>
          <a:prstGeom prst="rect">
            <a:avLst/>
          </a:prstGeom>
        </p:spPr>
      </p:pic>
    </p:spTree>
    <p:extLst>
      <p:ext uri="{BB962C8B-B14F-4D97-AF65-F5344CB8AC3E}">
        <p14:creationId xmlns:p14="http://schemas.microsoft.com/office/powerpoint/2010/main" val="4131650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575F56-957C-4932-BB75-866ADDA76873}"/>
              </a:ext>
            </a:extLst>
          </p:cNvPr>
          <p:cNvPicPr>
            <a:picLocks noChangeAspect="1"/>
          </p:cNvPicPr>
          <p:nvPr/>
        </p:nvPicPr>
        <p:blipFill>
          <a:blip r:embed="rId2"/>
          <a:stretch>
            <a:fillRect/>
          </a:stretch>
        </p:blipFill>
        <p:spPr>
          <a:xfrm>
            <a:off x="977414" y="270320"/>
            <a:ext cx="9552553" cy="6228000"/>
          </a:xfrm>
          <a:prstGeom prst="rect">
            <a:avLst/>
          </a:prstGeom>
        </p:spPr>
      </p:pic>
    </p:spTree>
    <p:extLst>
      <p:ext uri="{BB962C8B-B14F-4D97-AF65-F5344CB8AC3E}">
        <p14:creationId xmlns:p14="http://schemas.microsoft.com/office/powerpoint/2010/main" val="3860342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F3096-08C1-B267-FFFB-E195C1DAD5B7}"/>
              </a:ext>
            </a:extLst>
          </p:cNvPr>
          <p:cNvSpPr>
            <a:spLocks noGrp="1"/>
          </p:cNvSpPr>
          <p:nvPr>
            <p:ph type="title"/>
          </p:nvPr>
        </p:nvSpPr>
        <p:spPr/>
        <p:txBody>
          <a:bodyPr/>
          <a:lstStyle/>
          <a:p>
            <a:r>
              <a:rPr lang="en-IN" dirty="0"/>
              <a:t>2. Human Factors Theory</a:t>
            </a:r>
          </a:p>
        </p:txBody>
      </p:sp>
      <p:pic>
        <p:nvPicPr>
          <p:cNvPr id="5" name="Content Placeholder 4">
            <a:extLst>
              <a:ext uri="{FF2B5EF4-FFF2-40B4-BE49-F238E27FC236}">
                <a16:creationId xmlns:a16="http://schemas.microsoft.com/office/drawing/2014/main" id="{91F7B75B-FAC5-040B-A107-F8AE44991E8E}"/>
              </a:ext>
            </a:extLst>
          </p:cNvPr>
          <p:cNvPicPr>
            <a:picLocks noGrp="1" noChangeAspect="1"/>
          </p:cNvPicPr>
          <p:nvPr>
            <p:ph idx="1"/>
          </p:nvPr>
        </p:nvPicPr>
        <p:blipFill>
          <a:blip r:embed="rId2"/>
          <a:stretch>
            <a:fillRect/>
          </a:stretch>
        </p:blipFill>
        <p:spPr>
          <a:xfrm>
            <a:off x="3404315" y="2273013"/>
            <a:ext cx="5383369" cy="3456562"/>
          </a:xfrm>
          <a:prstGeom prst="rect">
            <a:avLst/>
          </a:prstGeom>
        </p:spPr>
      </p:pic>
    </p:spTree>
    <p:extLst>
      <p:ext uri="{BB962C8B-B14F-4D97-AF65-F5344CB8AC3E}">
        <p14:creationId xmlns:p14="http://schemas.microsoft.com/office/powerpoint/2010/main" val="360913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4197F-30A6-1670-6DFE-BECF2BF7F0DB}"/>
              </a:ext>
            </a:extLst>
          </p:cNvPr>
          <p:cNvSpPr>
            <a:spLocks noGrp="1"/>
          </p:cNvSpPr>
          <p:nvPr>
            <p:ph type="title"/>
          </p:nvPr>
        </p:nvSpPr>
        <p:spPr/>
        <p:txBody>
          <a:bodyPr/>
          <a:lstStyle/>
          <a:p>
            <a:r>
              <a:rPr lang="en-IN" dirty="0"/>
              <a:t>Overload</a:t>
            </a:r>
          </a:p>
        </p:txBody>
      </p:sp>
      <p:sp>
        <p:nvSpPr>
          <p:cNvPr id="3" name="Content Placeholder 2">
            <a:extLst>
              <a:ext uri="{FF2B5EF4-FFF2-40B4-BE49-F238E27FC236}">
                <a16:creationId xmlns:a16="http://schemas.microsoft.com/office/drawing/2014/main" id="{DFD66A4F-C31D-595A-9850-323333F6AABD}"/>
              </a:ext>
            </a:extLst>
          </p:cNvPr>
          <p:cNvSpPr>
            <a:spLocks noGrp="1"/>
          </p:cNvSpPr>
          <p:nvPr>
            <p:ph idx="1"/>
          </p:nvPr>
        </p:nvSpPr>
        <p:spPr/>
        <p:txBody>
          <a:bodyPr>
            <a:normAutofit fontScale="92500" lnSpcReduction="10000"/>
          </a:bodyPr>
          <a:lstStyle/>
          <a:p>
            <a:r>
              <a:rPr lang="en-US" dirty="0"/>
              <a:t>Overload amounts to an imbalance between a person’s capacity at any given time and the load that person is carrying in a given state.</a:t>
            </a:r>
          </a:p>
          <a:p>
            <a:r>
              <a:rPr lang="en-US" dirty="0"/>
              <a:t>A person’s capacity is the product of such factors as his or her natural ability, training, state of mind, fatigue, stress, and physical condition.</a:t>
            </a:r>
          </a:p>
          <a:p>
            <a:r>
              <a:rPr lang="en-US" dirty="0"/>
              <a:t>The load that a person is carrying consists of tasks for which he or she is responsible and added burdens resulting from </a:t>
            </a:r>
          </a:p>
          <a:p>
            <a:pPr lvl="1"/>
            <a:r>
              <a:rPr lang="en-US" dirty="0"/>
              <a:t>Environmental factors (noise, distractions, and so on)</a:t>
            </a:r>
          </a:p>
          <a:p>
            <a:pPr lvl="1"/>
            <a:r>
              <a:rPr lang="en-US" dirty="0"/>
              <a:t>Internal factors (personal problems, emotional stress, and worry)</a:t>
            </a:r>
          </a:p>
          <a:p>
            <a:pPr lvl="1"/>
            <a:r>
              <a:rPr lang="en-US" dirty="0"/>
              <a:t>Situational factors (level of risk, unclear instructions, and so on).</a:t>
            </a:r>
          </a:p>
          <a:p>
            <a:r>
              <a:rPr lang="en-US" dirty="0"/>
              <a:t>The state in which a person is acting is the product of his or her </a:t>
            </a:r>
            <a:r>
              <a:rPr lang="en-IN" dirty="0"/>
              <a:t>motivational and arousal levels</a:t>
            </a:r>
          </a:p>
        </p:txBody>
      </p:sp>
    </p:spTree>
    <p:extLst>
      <p:ext uri="{BB962C8B-B14F-4D97-AF65-F5344CB8AC3E}">
        <p14:creationId xmlns:p14="http://schemas.microsoft.com/office/powerpoint/2010/main" val="2902699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72483-1C82-D31B-B592-8540E89787E2}"/>
              </a:ext>
            </a:extLst>
          </p:cNvPr>
          <p:cNvSpPr>
            <a:spLocks noGrp="1"/>
          </p:cNvSpPr>
          <p:nvPr>
            <p:ph type="title"/>
          </p:nvPr>
        </p:nvSpPr>
        <p:spPr/>
        <p:txBody>
          <a:bodyPr/>
          <a:lstStyle/>
          <a:p>
            <a:r>
              <a:rPr lang="en-IN" dirty="0"/>
              <a:t>Inappropriate Response and Incompatibility</a:t>
            </a:r>
          </a:p>
        </p:txBody>
      </p:sp>
      <p:sp>
        <p:nvSpPr>
          <p:cNvPr id="3" name="Content Placeholder 2">
            <a:extLst>
              <a:ext uri="{FF2B5EF4-FFF2-40B4-BE49-F238E27FC236}">
                <a16:creationId xmlns:a16="http://schemas.microsoft.com/office/drawing/2014/main" id="{68AAE29D-3428-9862-4295-C782D6AA02D6}"/>
              </a:ext>
            </a:extLst>
          </p:cNvPr>
          <p:cNvSpPr>
            <a:spLocks noGrp="1"/>
          </p:cNvSpPr>
          <p:nvPr>
            <p:ph idx="1"/>
          </p:nvPr>
        </p:nvSpPr>
        <p:spPr/>
        <p:txBody>
          <a:bodyPr>
            <a:normAutofit/>
          </a:bodyPr>
          <a:lstStyle/>
          <a:p>
            <a:r>
              <a:rPr lang="en-US" sz="2400" dirty="0"/>
              <a:t>How a person responds in a given situation can cause or prevent an accident.</a:t>
            </a:r>
          </a:p>
          <a:p>
            <a:r>
              <a:rPr lang="en-US" sz="2400" dirty="0"/>
              <a:t>If a person detects a hazardous condition but does nothing to correct it, he or she </a:t>
            </a:r>
            <a:r>
              <a:rPr lang="en-IN" sz="2400" dirty="0"/>
              <a:t>has responded inappropriately.</a:t>
            </a:r>
          </a:p>
          <a:p>
            <a:r>
              <a:rPr lang="en-US" sz="2400" dirty="0"/>
              <a:t>If a person removes a safeguard from a machine in an effort to increase output, he or she has responded inappropriately.</a:t>
            </a:r>
          </a:p>
          <a:p>
            <a:r>
              <a:rPr lang="en-US" sz="2400" dirty="0"/>
              <a:t>If a person disregards an established safety procedure, he or she has responded inappropriately. Such responses can lead to accidents.</a:t>
            </a:r>
          </a:p>
          <a:p>
            <a:r>
              <a:rPr lang="en-US" sz="2400" dirty="0"/>
              <a:t>In addition to inappropriate responses, this component includes workstation </a:t>
            </a:r>
            <a:r>
              <a:rPr lang="en-IN" sz="2400" dirty="0"/>
              <a:t>incompatibility.</a:t>
            </a:r>
          </a:p>
          <a:p>
            <a:r>
              <a:rPr lang="en-US" sz="2400" dirty="0"/>
              <a:t>The incompatibility of a person’s workstation with regard to size, force, reach, feel, and similar factors can lead to accidents and injuries</a:t>
            </a:r>
            <a:endParaRPr lang="en-IN" sz="2400" dirty="0"/>
          </a:p>
        </p:txBody>
      </p:sp>
    </p:spTree>
    <p:extLst>
      <p:ext uri="{BB962C8B-B14F-4D97-AF65-F5344CB8AC3E}">
        <p14:creationId xmlns:p14="http://schemas.microsoft.com/office/powerpoint/2010/main" val="266775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B1E70-CCD5-D59F-2A2F-145D7409A65C}"/>
              </a:ext>
            </a:extLst>
          </p:cNvPr>
          <p:cNvSpPr>
            <a:spLocks noGrp="1"/>
          </p:cNvSpPr>
          <p:nvPr>
            <p:ph type="title"/>
          </p:nvPr>
        </p:nvSpPr>
        <p:spPr/>
        <p:txBody>
          <a:bodyPr/>
          <a:lstStyle/>
          <a:p>
            <a:r>
              <a:rPr lang="en-IN" dirty="0"/>
              <a:t>Inappropriate Activities</a:t>
            </a:r>
          </a:p>
        </p:txBody>
      </p:sp>
      <p:sp>
        <p:nvSpPr>
          <p:cNvPr id="3" name="Content Placeholder 2">
            <a:extLst>
              <a:ext uri="{FF2B5EF4-FFF2-40B4-BE49-F238E27FC236}">
                <a16:creationId xmlns:a16="http://schemas.microsoft.com/office/drawing/2014/main" id="{E3C87974-664A-15BB-5DC5-F0CFCDC365AF}"/>
              </a:ext>
            </a:extLst>
          </p:cNvPr>
          <p:cNvSpPr>
            <a:spLocks noGrp="1"/>
          </p:cNvSpPr>
          <p:nvPr>
            <p:ph idx="1"/>
          </p:nvPr>
        </p:nvSpPr>
        <p:spPr/>
        <p:txBody>
          <a:bodyPr/>
          <a:lstStyle/>
          <a:p>
            <a:r>
              <a:rPr lang="en-US" dirty="0"/>
              <a:t>Human error can be the result of inappropriate activities</a:t>
            </a:r>
          </a:p>
          <a:p>
            <a:r>
              <a:rPr lang="en-US" dirty="0"/>
              <a:t>An example of an inappropriate activity is a person who undertakes a task that he or she doesn’t know how to do.</a:t>
            </a:r>
          </a:p>
          <a:p>
            <a:r>
              <a:rPr lang="en-US" dirty="0"/>
              <a:t>Another example is a person who misjudges the degree of risk involved in a given task and proceeds based on that </a:t>
            </a:r>
            <a:r>
              <a:rPr lang="en-IN" dirty="0"/>
              <a:t>misjudgement.</a:t>
            </a:r>
          </a:p>
          <a:p>
            <a:r>
              <a:rPr lang="en-US" dirty="0"/>
              <a:t>Such inappropriate activities can lead to accidents and injuries.</a:t>
            </a:r>
            <a:endParaRPr lang="en-IN" dirty="0"/>
          </a:p>
        </p:txBody>
      </p:sp>
    </p:spTree>
    <p:extLst>
      <p:ext uri="{BB962C8B-B14F-4D97-AF65-F5344CB8AC3E}">
        <p14:creationId xmlns:p14="http://schemas.microsoft.com/office/powerpoint/2010/main" val="4197270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C87CD80-E64D-69C3-69C3-7F138A9A30A5}"/>
              </a:ext>
            </a:extLst>
          </p:cNvPr>
          <p:cNvPicPr>
            <a:picLocks noGrp="1" noChangeAspect="1"/>
          </p:cNvPicPr>
          <p:nvPr>
            <p:ph idx="1"/>
          </p:nvPr>
        </p:nvPicPr>
        <p:blipFill>
          <a:blip r:embed="rId2"/>
          <a:stretch>
            <a:fillRect/>
          </a:stretch>
        </p:blipFill>
        <p:spPr>
          <a:xfrm>
            <a:off x="998376" y="212337"/>
            <a:ext cx="10217020" cy="6197793"/>
          </a:xfrm>
          <a:prstGeom prst="rect">
            <a:avLst/>
          </a:prstGeom>
        </p:spPr>
      </p:pic>
    </p:spTree>
    <p:extLst>
      <p:ext uri="{BB962C8B-B14F-4D97-AF65-F5344CB8AC3E}">
        <p14:creationId xmlns:p14="http://schemas.microsoft.com/office/powerpoint/2010/main" val="2698647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8AFC1-FF65-E5E9-DA5F-91136EE19145}"/>
              </a:ext>
            </a:extLst>
          </p:cNvPr>
          <p:cNvSpPr>
            <a:spLocks noGrp="1"/>
          </p:cNvSpPr>
          <p:nvPr>
            <p:ph type="title"/>
          </p:nvPr>
        </p:nvSpPr>
        <p:spPr/>
        <p:txBody>
          <a:bodyPr/>
          <a:lstStyle/>
          <a:p>
            <a:r>
              <a:rPr lang="en-IN" dirty="0"/>
              <a:t>3. Accident/Incident Theory</a:t>
            </a:r>
          </a:p>
        </p:txBody>
      </p:sp>
      <p:sp>
        <p:nvSpPr>
          <p:cNvPr id="3" name="Content Placeholder 2">
            <a:extLst>
              <a:ext uri="{FF2B5EF4-FFF2-40B4-BE49-F238E27FC236}">
                <a16:creationId xmlns:a16="http://schemas.microsoft.com/office/drawing/2014/main" id="{83CFA935-906D-ACCB-C42B-6E91C8FAA865}"/>
              </a:ext>
            </a:extLst>
          </p:cNvPr>
          <p:cNvSpPr>
            <a:spLocks noGrp="1"/>
          </p:cNvSpPr>
          <p:nvPr>
            <p:ph idx="1"/>
          </p:nvPr>
        </p:nvSpPr>
        <p:spPr/>
        <p:txBody>
          <a:bodyPr>
            <a:normAutofit fontScale="70000" lnSpcReduction="20000"/>
          </a:bodyPr>
          <a:lstStyle/>
          <a:p>
            <a:r>
              <a:rPr lang="en-US" dirty="0"/>
              <a:t>The accident/incident theory is an extension of the human factors theory. Sometimes referred to as the Petersen accident/incident theory.</a:t>
            </a:r>
          </a:p>
          <a:p>
            <a:r>
              <a:rPr lang="en-US" dirty="0"/>
              <a:t>Petersen introduced such new elements as ergonomic traps, the decision to err, and systems failures, while retaining much of the human factors theory.</a:t>
            </a:r>
          </a:p>
          <a:p>
            <a:r>
              <a:rPr lang="en-US" dirty="0"/>
              <a:t>In this model, </a:t>
            </a:r>
            <a:r>
              <a:rPr lang="en-US" b="1" dirty="0"/>
              <a:t>overload, ergonomic traps, or a decision to err lead to human error.</a:t>
            </a:r>
          </a:p>
          <a:p>
            <a:r>
              <a:rPr lang="en-US" dirty="0"/>
              <a:t>The decision to err may be </a:t>
            </a:r>
            <a:r>
              <a:rPr lang="en-US" b="1" dirty="0"/>
              <a:t>conscious</a:t>
            </a:r>
            <a:r>
              <a:rPr lang="en-US" dirty="0"/>
              <a:t> and based on logic, or it may be </a:t>
            </a:r>
            <a:r>
              <a:rPr lang="en-US" b="1" dirty="0"/>
              <a:t>unconscious.</a:t>
            </a:r>
          </a:p>
          <a:p>
            <a:r>
              <a:rPr lang="en-US" dirty="0"/>
              <a:t>A variety of pressures such as deadlines, peer pressure, and budget factors can lead to </a:t>
            </a:r>
            <a:r>
              <a:rPr lang="en-IN" dirty="0"/>
              <a:t>unsafe behaviour</a:t>
            </a:r>
          </a:p>
          <a:p>
            <a:r>
              <a:rPr lang="en-US" dirty="0"/>
              <a:t>Another factor that can influence such a decision is the “It won’t happen to me” syndrome.</a:t>
            </a:r>
          </a:p>
          <a:p>
            <a:r>
              <a:rPr lang="en-US" dirty="0"/>
              <a:t>The systems failure component is an important contribution of Petersen’s theory.</a:t>
            </a:r>
          </a:p>
          <a:p>
            <a:r>
              <a:rPr lang="en-US" dirty="0"/>
              <a:t>First, it shows the potential for a causal relationship between management decisions or </a:t>
            </a:r>
            <a:r>
              <a:rPr lang="en-IN" dirty="0"/>
              <a:t>management </a:t>
            </a:r>
            <a:r>
              <a:rPr lang="en-IN" dirty="0" err="1"/>
              <a:t>behavior</a:t>
            </a:r>
            <a:r>
              <a:rPr lang="en-IN" dirty="0"/>
              <a:t> and safety.</a:t>
            </a:r>
          </a:p>
          <a:p>
            <a:r>
              <a:rPr lang="en-US" dirty="0"/>
              <a:t>Second, it establishes management’s role in accident prevention as well as the broader concepts of safety and health in the workplace.</a:t>
            </a:r>
            <a:endParaRPr lang="en-IN" dirty="0"/>
          </a:p>
        </p:txBody>
      </p:sp>
    </p:spTree>
    <p:extLst>
      <p:ext uri="{BB962C8B-B14F-4D97-AF65-F5344CB8AC3E}">
        <p14:creationId xmlns:p14="http://schemas.microsoft.com/office/powerpoint/2010/main" val="4203390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EE6599-2666-BA2E-624E-B0A110BB6B92}"/>
              </a:ext>
            </a:extLst>
          </p:cNvPr>
          <p:cNvPicPr>
            <a:picLocks noChangeAspect="1"/>
          </p:cNvPicPr>
          <p:nvPr/>
        </p:nvPicPr>
        <p:blipFill>
          <a:blip r:embed="rId2"/>
          <a:stretch>
            <a:fillRect/>
          </a:stretch>
        </p:blipFill>
        <p:spPr>
          <a:xfrm>
            <a:off x="2000518" y="585281"/>
            <a:ext cx="8190963" cy="5687438"/>
          </a:xfrm>
          <a:prstGeom prst="rect">
            <a:avLst/>
          </a:prstGeom>
        </p:spPr>
      </p:pic>
    </p:spTree>
    <p:extLst>
      <p:ext uri="{BB962C8B-B14F-4D97-AF65-F5344CB8AC3E}">
        <p14:creationId xmlns:p14="http://schemas.microsoft.com/office/powerpoint/2010/main" val="3757984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7C440-0AF4-5725-D93D-3C4E94ED44D6}"/>
              </a:ext>
            </a:extLst>
          </p:cNvPr>
          <p:cNvSpPr>
            <a:spLocks noGrp="1"/>
          </p:cNvSpPr>
          <p:nvPr>
            <p:ph type="title"/>
          </p:nvPr>
        </p:nvSpPr>
        <p:spPr/>
        <p:txBody>
          <a:bodyPr/>
          <a:lstStyle/>
          <a:p>
            <a:r>
              <a:rPr lang="en-IN" dirty="0"/>
              <a:t>3. Accident/Incident Theory</a:t>
            </a:r>
          </a:p>
        </p:txBody>
      </p:sp>
      <p:sp>
        <p:nvSpPr>
          <p:cNvPr id="3" name="Content Placeholder 2">
            <a:extLst>
              <a:ext uri="{FF2B5EF4-FFF2-40B4-BE49-F238E27FC236}">
                <a16:creationId xmlns:a16="http://schemas.microsoft.com/office/drawing/2014/main" id="{4D97E1B4-F49B-A050-C5A0-633430CA4981}"/>
              </a:ext>
            </a:extLst>
          </p:cNvPr>
          <p:cNvSpPr>
            <a:spLocks noGrp="1"/>
          </p:cNvSpPr>
          <p:nvPr>
            <p:ph idx="1"/>
          </p:nvPr>
        </p:nvSpPr>
        <p:spPr/>
        <p:txBody>
          <a:bodyPr>
            <a:normAutofit/>
          </a:bodyPr>
          <a:lstStyle/>
          <a:p>
            <a:r>
              <a:rPr lang="en-US" dirty="0"/>
              <a:t>Following are just some of the different ways that systems can fail, according to</a:t>
            </a:r>
          </a:p>
          <a:p>
            <a:r>
              <a:rPr lang="en-IN" dirty="0"/>
              <a:t>Petersen’s theory:</a:t>
            </a:r>
          </a:p>
          <a:p>
            <a:pPr lvl="1"/>
            <a:r>
              <a:rPr lang="en-US" dirty="0"/>
              <a:t>Management does not establish a comprehensive safety policy.</a:t>
            </a:r>
          </a:p>
          <a:p>
            <a:pPr lvl="1"/>
            <a:r>
              <a:rPr lang="en-US" dirty="0"/>
              <a:t>Responsibility and authority with regard to safety are not clearly defined.</a:t>
            </a:r>
          </a:p>
          <a:p>
            <a:pPr lvl="1"/>
            <a:r>
              <a:rPr lang="en-US" dirty="0"/>
              <a:t>Safety procedures such as measurement, inspection, correction, and investigation ignored or </a:t>
            </a:r>
            <a:r>
              <a:rPr lang="en-IN" dirty="0"/>
              <a:t>given insufficient attention.</a:t>
            </a:r>
          </a:p>
          <a:p>
            <a:pPr lvl="1"/>
            <a:r>
              <a:rPr lang="en-US" dirty="0"/>
              <a:t>Employees do not receive proper orientation.</a:t>
            </a:r>
          </a:p>
          <a:p>
            <a:pPr lvl="1"/>
            <a:r>
              <a:rPr lang="en-US" dirty="0"/>
              <a:t>Employees are not given sufficient safety training</a:t>
            </a:r>
            <a:endParaRPr lang="en-IN" dirty="0"/>
          </a:p>
        </p:txBody>
      </p:sp>
    </p:spTree>
    <p:extLst>
      <p:ext uri="{BB962C8B-B14F-4D97-AF65-F5344CB8AC3E}">
        <p14:creationId xmlns:p14="http://schemas.microsoft.com/office/powerpoint/2010/main" val="687977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BBF6A-0C75-1FE2-0B32-B5B6E9D341EC}"/>
              </a:ext>
            </a:extLst>
          </p:cNvPr>
          <p:cNvSpPr>
            <a:spLocks noGrp="1"/>
          </p:cNvSpPr>
          <p:nvPr>
            <p:ph type="title"/>
          </p:nvPr>
        </p:nvSpPr>
        <p:spPr/>
        <p:txBody>
          <a:bodyPr/>
          <a:lstStyle/>
          <a:p>
            <a:r>
              <a:rPr lang="en-US" dirty="0"/>
              <a:t>4. EPIDEMIOLOGICAL THEORY OF ACCIDENT</a:t>
            </a:r>
            <a:br>
              <a:rPr lang="en-US" dirty="0"/>
            </a:br>
            <a:r>
              <a:rPr lang="en-IN" dirty="0"/>
              <a:t>CAUSATION</a:t>
            </a:r>
          </a:p>
        </p:txBody>
      </p:sp>
      <p:sp>
        <p:nvSpPr>
          <p:cNvPr id="3" name="Content Placeholder 2">
            <a:extLst>
              <a:ext uri="{FF2B5EF4-FFF2-40B4-BE49-F238E27FC236}">
                <a16:creationId xmlns:a16="http://schemas.microsoft.com/office/drawing/2014/main" id="{8E5F5DA4-1E9E-70A1-2453-515E9E4EBE80}"/>
              </a:ext>
            </a:extLst>
          </p:cNvPr>
          <p:cNvSpPr>
            <a:spLocks noGrp="1"/>
          </p:cNvSpPr>
          <p:nvPr>
            <p:ph idx="1"/>
          </p:nvPr>
        </p:nvSpPr>
        <p:spPr>
          <a:xfrm>
            <a:off x="838200" y="1825625"/>
            <a:ext cx="10515600" cy="4667250"/>
          </a:xfrm>
        </p:spPr>
        <p:txBody>
          <a:bodyPr>
            <a:normAutofit/>
          </a:bodyPr>
          <a:lstStyle/>
          <a:p>
            <a:r>
              <a:rPr lang="en-US" sz="2400" dirty="0"/>
              <a:t>Traditionally, safety theories and programs have focused on accidents and the resulting injuries.</a:t>
            </a:r>
          </a:p>
          <a:p>
            <a:r>
              <a:rPr lang="en-US" sz="2400" dirty="0"/>
              <a:t>However, the current trend is toward a broader perspective that also encompasses the issue of industrial </a:t>
            </a:r>
            <a:r>
              <a:rPr lang="en-IN" sz="2400" dirty="0"/>
              <a:t>hygiene.</a:t>
            </a:r>
          </a:p>
          <a:p>
            <a:r>
              <a:rPr lang="en-US" sz="2400" b="1" dirty="0"/>
              <a:t>Industrial hygiene </a:t>
            </a:r>
            <a:r>
              <a:rPr lang="en-US" sz="2400" dirty="0"/>
              <a:t>concerns environmental factors that can lead to sickness, disease, or other forms of </a:t>
            </a:r>
            <a:r>
              <a:rPr lang="en-IN" sz="2400" dirty="0"/>
              <a:t>impaired health.</a:t>
            </a:r>
          </a:p>
          <a:p>
            <a:r>
              <a:rPr lang="en-US" sz="2400" dirty="0"/>
              <a:t>This trend has, in turn, led to the development of an epidemiological theory of accident causation.</a:t>
            </a:r>
          </a:p>
          <a:p>
            <a:r>
              <a:rPr lang="en-US" sz="2400" b="1" dirty="0"/>
              <a:t>Epidemiology is the study of causal relationships between environmental factors and disease.</a:t>
            </a:r>
          </a:p>
        </p:txBody>
      </p:sp>
    </p:spTree>
    <p:extLst>
      <p:ext uri="{BB962C8B-B14F-4D97-AF65-F5344CB8AC3E}">
        <p14:creationId xmlns:p14="http://schemas.microsoft.com/office/powerpoint/2010/main" val="4140844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BBF6A-0C75-1FE2-0B32-B5B6E9D341EC}"/>
              </a:ext>
            </a:extLst>
          </p:cNvPr>
          <p:cNvSpPr>
            <a:spLocks noGrp="1"/>
          </p:cNvSpPr>
          <p:nvPr>
            <p:ph type="title"/>
          </p:nvPr>
        </p:nvSpPr>
        <p:spPr/>
        <p:txBody>
          <a:bodyPr/>
          <a:lstStyle/>
          <a:p>
            <a:r>
              <a:rPr lang="en-US" dirty="0"/>
              <a:t>4. EPIDEMIOLOGICAL THEORY OF ACCIDENT</a:t>
            </a:r>
            <a:br>
              <a:rPr lang="en-US" dirty="0"/>
            </a:br>
            <a:r>
              <a:rPr lang="en-IN" dirty="0"/>
              <a:t>CAUSATION</a:t>
            </a:r>
          </a:p>
        </p:txBody>
      </p:sp>
      <p:sp>
        <p:nvSpPr>
          <p:cNvPr id="3" name="Content Placeholder 2">
            <a:extLst>
              <a:ext uri="{FF2B5EF4-FFF2-40B4-BE49-F238E27FC236}">
                <a16:creationId xmlns:a16="http://schemas.microsoft.com/office/drawing/2014/main" id="{8E5F5DA4-1E9E-70A1-2453-515E9E4EBE80}"/>
              </a:ext>
            </a:extLst>
          </p:cNvPr>
          <p:cNvSpPr>
            <a:spLocks noGrp="1"/>
          </p:cNvSpPr>
          <p:nvPr>
            <p:ph idx="1"/>
          </p:nvPr>
        </p:nvSpPr>
        <p:spPr/>
        <p:txBody>
          <a:bodyPr>
            <a:normAutofit/>
          </a:bodyPr>
          <a:lstStyle/>
          <a:p>
            <a:r>
              <a:rPr lang="en-US" sz="2400" dirty="0"/>
              <a:t>The epidemiological theory holds that the models used for studying and determining these relationships can also be used to study causal relationships between environmental factors and accidents or diseases</a:t>
            </a:r>
          </a:p>
          <a:p>
            <a:r>
              <a:rPr lang="en-US" sz="2400" dirty="0"/>
              <a:t>The key components are </a:t>
            </a:r>
            <a:r>
              <a:rPr lang="en-US" sz="2400" dirty="0" err="1"/>
              <a:t>predispositional</a:t>
            </a:r>
            <a:r>
              <a:rPr lang="en-US" sz="2400" dirty="0"/>
              <a:t> characteristics and situational characteristics.</a:t>
            </a:r>
          </a:p>
          <a:p>
            <a:r>
              <a:rPr lang="en-US" sz="2400" dirty="0"/>
              <a:t>These characteristics, taken together, can either result in or prevent conditions that may result in an </a:t>
            </a:r>
            <a:r>
              <a:rPr lang="en-IN" sz="2400" dirty="0"/>
              <a:t>accident.</a:t>
            </a:r>
          </a:p>
          <a:p>
            <a:r>
              <a:rPr lang="en-US" sz="2400" dirty="0"/>
              <a:t>For example, if an employee who is particularly susceptible to peer pressure (</a:t>
            </a:r>
            <a:r>
              <a:rPr lang="en-US" sz="2400" dirty="0" err="1"/>
              <a:t>predispositional</a:t>
            </a:r>
            <a:r>
              <a:rPr lang="en-US" sz="2400" dirty="0"/>
              <a:t> characteristic) is pressured by his coworkers (situational characteristic) to speed up his operation, the result will be an increased probability of an accident</a:t>
            </a:r>
            <a:endParaRPr lang="en-IN" sz="2400" dirty="0"/>
          </a:p>
        </p:txBody>
      </p:sp>
    </p:spTree>
    <p:extLst>
      <p:ext uri="{BB962C8B-B14F-4D97-AF65-F5344CB8AC3E}">
        <p14:creationId xmlns:p14="http://schemas.microsoft.com/office/powerpoint/2010/main" val="442103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EC83854-1BA4-19C8-E518-C8CD9D54A32B}"/>
              </a:ext>
            </a:extLst>
          </p:cNvPr>
          <p:cNvPicPr>
            <a:picLocks noGrp="1" noChangeAspect="1"/>
          </p:cNvPicPr>
          <p:nvPr>
            <p:ph idx="4294967295"/>
          </p:nvPr>
        </p:nvPicPr>
        <p:blipFill>
          <a:blip r:embed="rId2"/>
          <a:stretch>
            <a:fillRect/>
          </a:stretch>
        </p:blipFill>
        <p:spPr>
          <a:xfrm>
            <a:off x="690466" y="135572"/>
            <a:ext cx="10664889" cy="6586855"/>
          </a:xfrm>
          <a:prstGeom prst="rect">
            <a:avLst/>
          </a:prstGeom>
        </p:spPr>
      </p:pic>
    </p:spTree>
    <p:extLst>
      <p:ext uri="{BB962C8B-B14F-4D97-AF65-F5344CB8AC3E}">
        <p14:creationId xmlns:p14="http://schemas.microsoft.com/office/powerpoint/2010/main" val="2688534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41565-8763-B7D2-DA1A-57121A59A69C}"/>
              </a:ext>
            </a:extLst>
          </p:cNvPr>
          <p:cNvSpPr>
            <a:spLocks noGrp="1"/>
          </p:cNvSpPr>
          <p:nvPr>
            <p:ph type="title"/>
          </p:nvPr>
        </p:nvSpPr>
        <p:spPr>
          <a:xfrm>
            <a:off x="838199" y="365125"/>
            <a:ext cx="10843727" cy="1325563"/>
          </a:xfrm>
        </p:spPr>
        <p:txBody>
          <a:bodyPr/>
          <a:lstStyle/>
          <a:p>
            <a:r>
              <a:rPr lang="en-US" dirty="0"/>
              <a:t>5. SYSTEMS THEORY OF ACCIDENT CAUSATION</a:t>
            </a:r>
            <a:endParaRPr lang="en-IN" dirty="0"/>
          </a:p>
        </p:txBody>
      </p:sp>
      <p:sp>
        <p:nvSpPr>
          <p:cNvPr id="4" name="Content Placeholder 3">
            <a:extLst>
              <a:ext uri="{FF2B5EF4-FFF2-40B4-BE49-F238E27FC236}">
                <a16:creationId xmlns:a16="http://schemas.microsoft.com/office/drawing/2014/main" id="{A458E73D-175D-91A4-695E-90355DC50C7B}"/>
              </a:ext>
            </a:extLst>
          </p:cNvPr>
          <p:cNvSpPr>
            <a:spLocks noGrp="1"/>
          </p:cNvSpPr>
          <p:nvPr>
            <p:ph idx="1"/>
          </p:nvPr>
        </p:nvSpPr>
        <p:spPr>
          <a:xfrm>
            <a:off x="838200" y="1614196"/>
            <a:ext cx="10843726" cy="4878679"/>
          </a:xfrm>
        </p:spPr>
        <p:txBody>
          <a:bodyPr>
            <a:normAutofit/>
          </a:bodyPr>
          <a:lstStyle/>
          <a:p>
            <a:pPr>
              <a:lnSpc>
                <a:spcPct val="110000"/>
              </a:lnSpc>
            </a:pPr>
            <a:r>
              <a:rPr lang="en-US" sz="2400" dirty="0"/>
              <a:t>A system is a group of regularly interacting and interrelated components that together form a unified whole. This definition is the basis for the systems theory of accident causation.</a:t>
            </a:r>
          </a:p>
          <a:p>
            <a:pPr>
              <a:lnSpc>
                <a:spcPct val="110000"/>
              </a:lnSpc>
            </a:pPr>
            <a:r>
              <a:rPr lang="en-US" sz="2400" dirty="0"/>
              <a:t>This theory views a situation in which an accident may occur as a system comprised of the following components: </a:t>
            </a:r>
            <a:r>
              <a:rPr lang="en-US" sz="2400" b="1" dirty="0"/>
              <a:t>person (host), machine (agency), and environment.</a:t>
            </a:r>
          </a:p>
          <a:p>
            <a:pPr>
              <a:lnSpc>
                <a:spcPct val="110000"/>
              </a:lnSpc>
            </a:pPr>
            <a:r>
              <a:rPr lang="en-US" sz="2400" dirty="0"/>
              <a:t>The likelihood of an accident occurring is determined by how these components interact.</a:t>
            </a:r>
          </a:p>
          <a:p>
            <a:r>
              <a:rPr lang="en-US" sz="2400" dirty="0"/>
              <a:t>Under normal circumstances chances of an accident is low. Rather than looking at the environment as being full of hazards and people prone to  errors, system safety assumes harmony (steady state) exists between  individuals and the work environment. </a:t>
            </a:r>
          </a:p>
        </p:txBody>
      </p:sp>
    </p:spTree>
    <p:extLst>
      <p:ext uri="{BB962C8B-B14F-4D97-AF65-F5344CB8AC3E}">
        <p14:creationId xmlns:p14="http://schemas.microsoft.com/office/powerpoint/2010/main" val="4202097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832102-F34A-4634-AAE7-56C15964840F}"/>
              </a:ext>
            </a:extLst>
          </p:cNvPr>
          <p:cNvPicPr>
            <a:picLocks noChangeAspect="1"/>
          </p:cNvPicPr>
          <p:nvPr/>
        </p:nvPicPr>
        <p:blipFill>
          <a:blip r:embed="rId2"/>
          <a:stretch>
            <a:fillRect/>
          </a:stretch>
        </p:blipFill>
        <p:spPr>
          <a:xfrm>
            <a:off x="986807" y="1940767"/>
            <a:ext cx="10032589" cy="4491670"/>
          </a:xfrm>
          <a:prstGeom prst="rect">
            <a:avLst/>
          </a:prstGeom>
        </p:spPr>
      </p:pic>
      <p:sp>
        <p:nvSpPr>
          <p:cNvPr id="5" name="Title 4">
            <a:extLst>
              <a:ext uri="{FF2B5EF4-FFF2-40B4-BE49-F238E27FC236}">
                <a16:creationId xmlns:a16="http://schemas.microsoft.com/office/drawing/2014/main" id="{CDFED24F-5753-2AC0-1EFD-CD018AF3FD72}"/>
              </a:ext>
            </a:extLst>
          </p:cNvPr>
          <p:cNvSpPr>
            <a:spLocks noGrp="1"/>
          </p:cNvSpPr>
          <p:nvPr>
            <p:ph type="title"/>
          </p:nvPr>
        </p:nvSpPr>
        <p:spPr>
          <a:xfrm>
            <a:off x="838199" y="365125"/>
            <a:ext cx="10825065" cy="1325563"/>
          </a:xfrm>
        </p:spPr>
        <p:txBody>
          <a:bodyPr/>
          <a:lstStyle/>
          <a:p>
            <a:r>
              <a:rPr lang="en-US" dirty="0"/>
              <a:t>5. SYSTEMS THEORY OF ACCIDENT CAUSATION</a:t>
            </a:r>
            <a:endParaRPr lang="en-IN" dirty="0"/>
          </a:p>
        </p:txBody>
      </p:sp>
    </p:spTree>
    <p:extLst>
      <p:ext uri="{BB962C8B-B14F-4D97-AF65-F5344CB8AC3E}">
        <p14:creationId xmlns:p14="http://schemas.microsoft.com/office/powerpoint/2010/main" val="1173611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41565-8763-B7D2-DA1A-57121A59A69C}"/>
              </a:ext>
            </a:extLst>
          </p:cNvPr>
          <p:cNvSpPr>
            <a:spLocks noGrp="1"/>
          </p:cNvSpPr>
          <p:nvPr>
            <p:ph type="title"/>
          </p:nvPr>
        </p:nvSpPr>
        <p:spPr/>
        <p:txBody>
          <a:bodyPr/>
          <a:lstStyle/>
          <a:p>
            <a:r>
              <a:rPr lang="en-US" dirty="0"/>
              <a:t>5. SYSTEMS THEORY OF ACCIDENT CAUSATION</a:t>
            </a:r>
            <a:endParaRPr lang="en-IN" dirty="0"/>
          </a:p>
        </p:txBody>
      </p:sp>
      <p:sp>
        <p:nvSpPr>
          <p:cNvPr id="4" name="Content Placeholder 3">
            <a:extLst>
              <a:ext uri="{FF2B5EF4-FFF2-40B4-BE49-F238E27FC236}">
                <a16:creationId xmlns:a16="http://schemas.microsoft.com/office/drawing/2014/main" id="{A458E73D-175D-91A4-695E-90355DC50C7B}"/>
              </a:ext>
            </a:extLst>
          </p:cNvPr>
          <p:cNvSpPr>
            <a:spLocks noGrp="1"/>
          </p:cNvSpPr>
          <p:nvPr>
            <p:ph idx="1"/>
          </p:nvPr>
        </p:nvSpPr>
        <p:spPr>
          <a:xfrm>
            <a:off x="838199" y="1825625"/>
            <a:ext cx="10918371" cy="4667250"/>
          </a:xfrm>
        </p:spPr>
        <p:txBody>
          <a:bodyPr>
            <a:normAutofit/>
          </a:bodyPr>
          <a:lstStyle/>
          <a:p>
            <a:pPr>
              <a:lnSpc>
                <a:spcPct val="110000"/>
              </a:lnSpc>
            </a:pPr>
            <a:r>
              <a:rPr lang="en-US" sz="2400" dirty="0"/>
              <a:t>Changes in the patterns of interaction can increase or reduce the probability of an accident. </a:t>
            </a:r>
          </a:p>
          <a:p>
            <a:pPr lvl="1">
              <a:lnSpc>
                <a:spcPct val="110000"/>
              </a:lnSpc>
            </a:pPr>
            <a:r>
              <a:rPr lang="en-US" sz="2000" dirty="0"/>
              <a:t>For example, an experienced employee who operates a numerically controlled five axis machining </a:t>
            </a:r>
            <a:r>
              <a:rPr lang="en-US" sz="2000" dirty="0" err="1"/>
              <a:t>centre</a:t>
            </a:r>
            <a:r>
              <a:rPr lang="en-US" sz="2000" dirty="0"/>
              <a:t> in a shop environment may take a two-week vacation. Her temporary replacement may be less experienced. This change in one component of the system (person/host) increases the probability of an accident.</a:t>
            </a:r>
          </a:p>
          <a:p>
            <a:pPr lvl="1"/>
            <a:r>
              <a:rPr lang="en-US" sz="2000" dirty="0"/>
              <a:t>Such a simple example is easily understood. However, not all changes in patterns of interaction are this simple. Some are so subtle that their analysis may require a team of people, each with a different type of </a:t>
            </a:r>
            <a:r>
              <a:rPr lang="en-IN" sz="2000" dirty="0"/>
              <a:t>expertise.</a:t>
            </a:r>
          </a:p>
          <a:p>
            <a:r>
              <a:rPr lang="en-US" sz="2400" dirty="0"/>
              <a:t>The primary components of the systems model are the person/ machine/ environment, information, decisions, risks, and the task to be performed.</a:t>
            </a:r>
          </a:p>
          <a:p>
            <a:r>
              <a:rPr lang="en-US" sz="2400" dirty="0"/>
              <a:t>Each of the components has a bearing on the probability that an accident will occur.</a:t>
            </a:r>
            <a:endParaRPr lang="en-IN" sz="2400" dirty="0"/>
          </a:p>
        </p:txBody>
      </p:sp>
    </p:spTree>
    <p:extLst>
      <p:ext uri="{BB962C8B-B14F-4D97-AF65-F5344CB8AC3E}">
        <p14:creationId xmlns:p14="http://schemas.microsoft.com/office/powerpoint/2010/main" val="1872549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F9EEA-E8C3-FC17-D240-A119DD867B4C}"/>
              </a:ext>
            </a:extLst>
          </p:cNvPr>
          <p:cNvSpPr>
            <a:spLocks noGrp="1"/>
          </p:cNvSpPr>
          <p:nvPr>
            <p:ph type="title"/>
          </p:nvPr>
        </p:nvSpPr>
        <p:spPr>
          <a:xfrm>
            <a:off x="838199" y="365125"/>
            <a:ext cx="10918371" cy="1325563"/>
          </a:xfrm>
        </p:spPr>
        <p:txBody>
          <a:bodyPr/>
          <a:lstStyle/>
          <a:p>
            <a:r>
              <a:rPr lang="en-US" dirty="0"/>
              <a:t>5. SYSTEMS THEORY OF ACCIDENT CAUSATION</a:t>
            </a:r>
            <a:endParaRPr lang="en-IN" dirty="0"/>
          </a:p>
        </p:txBody>
      </p:sp>
      <p:pic>
        <p:nvPicPr>
          <p:cNvPr id="5" name="Content Placeholder 4">
            <a:extLst>
              <a:ext uri="{FF2B5EF4-FFF2-40B4-BE49-F238E27FC236}">
                <a16:creationId xmlns:a16="http://schemas.microsoft.com/office/drawing/2014/main" id="{840261F9-540A-B42D-601B-D29EE5D89B5E}"/>
              </a:ext>
            </a:extLst>
          </p:cNvPr>
          <p:cNvPicPr>
            <a:picLocks noGrp="1" noChangeAspect="1"/>
          </p:cNvPicPr>
          <p:nvPr>
            <p:ph idx="1"/>
          </p:nvPr>
        </p:nvPicPr>
        <p:blipFill>
          <a:blip r:embed="rId2"/>
          <a:stretch>
            <a:fillRect/>
          </a:stretch>
        </p:blipFill>
        <p:spPr>
          <a:xfrm>
            <a:off x="0" y="121553"/>
            <a:ext cx="12192000" cy="6531174"/>
          </a:xfrm>
          <a:prstGeom prst="rect">
            <a:avLst/>
          </a:prstGeom>
        </p:spPr>
      </p:pic>
    </p:spTree>
    <p:extLst>
      <p:ext uri="{BB962C8B-B14F-4D97-AF65-F5344CB8AC3E}">
        <p14:creationId xmlns:p14="http://schemas.microsoft.com/office/powerpoint/2010/main" val="215697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75852-5971-1F5A-F165-FC8A56D18850}"/>
              </a:ext>
            </a:extLst>
          </p:cNvPr>
          <p:cNvSpPr>
            <a:spLocks noGrp="1"/>
          </p:cNvSpPr>
          <p:nvPr>
            <p:ph type="title"/>
          </p:nvPr>
        </p:nvSpPr>
        <p:spPr>
          <a:xfrm>
            <a:off x="838199" y="365125"/>
            <a:ext cx="11095653" cy="1325563"/>
          </a:xfrm>
        </p:spPr>
        <p:txBody>
          <a:bodyPr/>
          <a:lstStyle/>
          <a:p>
            <a:r>
              <a:rPr lang="en-US" dirty="0"/>
              <a:t>5. SYSTEMS THEORY OF ACCIDENT CAUSATION</a:t>
            </a:r>
            <a:endParaRPr lang="en-IN" dirty="0"/>
          </a:p>
        </p:txBody>
      </p:sp>
      <p:sp>
        <p:nvSpPr>
          <p:cNvPr id="3" name="Content Placeholder 2">
            <a:extLst>
              <a:ext uri="{FF2B5EF4-FFF2-40B4-BE49-F238E27FC236}">
                <a16:creationId xmlns:a16="http://schemas.microsoft.com/office/drawing/2014/main" id="{14143D58-7EA3-1BAC-C792-0B448F8CB78F}"/>
              </a:ext>
            </a:extLst>
          </p:cNvPr>
          <p:cNvSpPr>
            <a:spLocks noGrp="1"/>
          </p:cNvSpPr>
          <p:nvPr>
            <p:ph idx="1"/>
          </p:nvPr>
        </p:nvSpPr>
        <p:spPr/>
        <p:txBody>
          <a:bodyPr>
            <a:normAutofit/>
          </a:bodyPr>
          <a:lstStyle/>
          <a:p>
            <a:r>
              <a:rPr lang="en-US" sz="2400" dirty="0"/>
              <a:t>As this model shows, even as a person interacts with a machine within an environment, three activities take place between the system and the task to be performed.</a:t>
            </a:r>
          </a:p>
          <a:p>
            <a:r>
              <a:rPr lang="en-US" sz="2400" dirty="0"/>
              <a:t>Every time a task must be performed, there is the risk that an accident may occur.</a:t>
            </a:r>
          </a:p>
          <a:p>
            <a:r>
              <a:rPr lang="en-US" sz="2400" dirty="0"/>
              <a:t>Sometimes the risks are great; at other times, they are small.</a:t>
            </a:r>
          </a:p>
          <a:p>
            <a:r>
              <a:rPr lang="en-US" sz="2400" dirty="0"/>
              <a:t>This is where information collection and decision making come in.</a:t>
            </a:r>
          </a:p>
          <a:p>
            <a:r>
              <a:rPr lang="en-US" sz="2400" dirty="0"/>
              <a:t>Based on the information that has been collected by observing and mentally noting the current circumstances, the person weighs the risks and decides whether to perform the task </a:t>
            </a:r>
            <a:r>
              <a:rPr lang="en-IN" sz="2400" dirty="0"/>
              <a:t>under existing circumstances.</a:t>
            </a:r>
          </a:p>
        </p:txBody>
      </p:sp>
    </p:spTree>
    <p:extLst>
      <p:ext uri="{BB962C8B-B14F-4D97-AF65-F5344CB8AC3E}">
        <p14:creationId xmlns:p14="http://schemas.microsoft.com/office/powerpoint/2010/main" val="3207491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75852-5971-1F5A-F165-FC8A56D18850}"/>
              </a:ext>
            </a:extLst>
          </p:cNvPr>
          <p:cNvSpPr>
            <a:spLocks noGrp="1"/>
          </p:cNvSpPr>
          <p:nvPr>
            <p:ph type="title"/>
          </p:nvPr>
        </p:nvSpPr>
        <p:spPr>
          <a:xfrm>
            <a:off x="838199" y="365125"/>
            <a:ext cx="11095653" cy="1325563"/>
          </a:xfrm>
        </p:spPr>
        <p:txBody>
          <a:bodyPr/>
          <a:lstStyle/>
          <a:p>
            <a:r>
              <a:rPr lang="en-US" dirty="0"/>
              <a:t>5. SYSTEMS THEORY OF ACCIDENT CAUSATION</a:t>
            </a:r>
            <a:endParaRPr lang="en-IN" dirty="0"/>
          </a:p>
        </p:txBody>
      </p:sp>
      <p:sp>
        <p:nvSpPr>
          <p:cNvPr id="3" name="Content Placeholder 2">
            <a:extLst>
              <a:ext uri="{FF2B5EF4-FFF2-40B4-BE49-F238E27FC236}">
                <a16:creationId xmlns:a16="http://schemas.microsoft.com/office/drawing/2014/main" id="{14143D58-7EA3-1BAC-C792-0B448F8CB78F}"/>
              </a:ext>
            </a:extLst>
          </p:cNvPr>
          <p:cNvSpPr>
            <a:spLocks noGrp="1"/>
          </p:cNvSpPr>
          <p:nvPr>
            <p:ph idx="1"/>
          </p:nvPr>
        </p:nvSpPr>
        <p:spPr/>
        <p:txBody>
          <a:bodyPr>
            <a:normAutofit/>
          </a:bodyPr>
          <a:lstStyle/>
          <a:p>
            <a:r>
              <a:rPr lang="en-US" sz="2400" dirty="0"/>
              <a:t>For example, say a machine operator is working on a rush order that is behind schedule. </a:t>
            </a:r>
          </a:p>
          <a:p>
            <a:pPr lvl="1"/>
            <a:r>
              <a:rPr lang="en-US" sz="2000" dirty="0"/>
              <a:t>An important safety device has malfunctioned on his machine. </a:t>
            </a:r>
          </a:p>
          <a:p>
            <a:pPr lvl="1"/>
            <a:r>
              <a:rPr lang="en-US" sz="2000" dirty="0"/>
              <a:t>Simply taking it off will interrupt work for only five minutes, but it will also increase the probability of an accident. </a:t>
            </a:r>
          </a:p>
          <a:p>
            <a:pPr lvl="1"/>
            <a:r>
              <a:rPr lang="en-US" sz="2000" dirty="0"/>
              <a:t>However, replacing it could take up to an hour. The operator and his supervisor may assess the situation (collect information), weigh the risks, and make a decision to proceed. </a:t>
            </a:r>
          </a:p>
          <a:p>
            <a:pPr lvl="1"/>
            <a:r>
              <a:rPr lang="en-US" sz="2000" dirty="0"/>
              <a:t>If their information was right and their assessment of the risks accurate, the task will probably be </a:t>
            </a:r>
            <a:r>
              <a:rPr lang="en-IN" sz="2000" dirty="0"/>
              <a:t>accomplished without an accident.</a:t>
            </a:r>
          </a:p>
          <a:p>
            <a:r>
              <a:rPr lang="en-US" sz="2400" dirty="0"/>
              <a:t>However, the environment in which the machine operator is working is unusually hectic, and the pressure to complete an order that is already behind schedule is intense.</a:t>
            </a:r>
            <a:endParaRPr lang="en-IN" sz="2400" dirty="0"/>
          </a:p>
        </p:txBody>
      </p:sp>
    </p:spTree>
    <p:extLst>
      <p:ext uri="{BB962C8B-B14F-4D97-AF65-F5344CB8AC3E}">
        <p14:creationId xmlns:p14="http://schemas.microsoft.com/office/powerpoint/2010/main" val="30566849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5224F-2905-F276-DCDB-D49F3A6CC951}"/>
              </a:ext>
            </a:extLst>
          </p:cNvPr>
          <p:cNvSpPr>
            <a:spLocks noGrp="1"/>
          </p:cNvSpPr>
          <p:nvPr>
            <p:ph type="title"/>
          </p:nvPr>
        </p:nvSpPr>
        <p:spPr>
          <a:xfrm>
            <a:off x="838199" y="365125"/>
            <a:ext cx="10787743" cy="1325563"/>
          </a:xfrm>
        </p:spPr>
        <p:txBody>
          <a:bodyPr/>
          <a:lstStyle/>
          <a:p>
            <a:r>
              <a:rPr lang="en-US" dirty="0"/>
              <a:t>5. SYSTEMS THEORY OF ACCIDENT CAUSATION</a:t>
            </a:r>
            <a:endParaRPr lang="en-IN" dirty="0"/>
          </a:p>
        </p:txBody>
      </p:sp>
      <p:sp>
        <p:nvSpPr>
          <p:cNvPr id="3" name="Content Placeholder 2">
            <a:extLst>
              <a:ext uri="{FF2B5EF4-FFF2-40B4-BE49-F238E27FC236}">
                <a16:creationId xmlns:a16="http://schemas.microsoft.com/office/drawing/2014/main" id="{407C33E3-79A5-CAA2-AB62-3AB6EB6494C5}"/>
              </a:ext>
            </a:extLst>
          </p:cNvPr>
          <p:cNvSpPr>
            <a:spLocks noGrp="1"/>
          </p:cNvSpPr>
          <p:nvPr>
            <p:ph idx="1"/>
          </p:nvPr>
        </p:nvSpPr>
        <p:spPr>
          <a:xfrm>
            <a:off x="838200" y="1690688"/>
            <a:ext cx="10787742" cy="4802187"/>
          </a:xfrm>
        </p:spPr>
        <p:txBody>
          <a:bodyPr>
            <a:normAutofit fontScale="85000" lnSpcReduction="20000"/>
          </a:bodyPr>
          <a:lstStyle/>
          <a:p>
            <a:r>
              <a:rPr lang="en-US" dirty="0"/>
              <a:t>These factors are stressors that can cloud the judgment of those collecting information, weighing risks, and making the decision.</a:t>
            </a:r>
          </a:p>
          <a:p>
            <a:r>
              <a:rPr lang="en-US" dirty="0"/>
              <a:t>When stressors are introduced between points 1 and 3, the likelihood </a:t>
            </a:r>
            <a:r>
              <a:rPr lang="en-IN" dirty="0"/>
              <a:t>of an accident increases.</a:t>
            </a:r>
          </a:p>
          <a:p>
            <a:r>
              <a:rPr lang="en-US" dirty="0"/>
              <a:t>For this reason, five factors should be considered before beginning the process of collecting information, weighing risks, and making a decision:</a:t>
            </a:r>
          </a:p>
          <a:p>
            <a:pPr lvl="1"/>
            <a:r>
              <a:rPr lang="en-IN" dirty="0"/>
              <a:t>Job requirements</a:t>
            </a:r>
          </a:p>
          <a:p>
            <a:pPr lvl="1"/>
            <a:r>
              <a:rPr lang="en-US" dirty="0"/>
              <a:t>The workers’ abilities and limitations</a:t>
            </a:r>
          </a:p>
          <a:p>
            <a:pPr lvl="1"/>
            <a:r>
              <a:rPr lang="en-US" dirty="0"/>
              <a:t>The gain if the task is successfully accomplished</a:t>
            </a:r>
          </a:p>
          <a:p>
            <a:pPr lvl="1"/>
            <a:r>
              <a:rPr lang="en-US" dirty="0"/>
              <a:t>The loss if the task is attempted but fails</a:t>
            </a:r>
          </a:p>
          <a:p>
            <a:pPr lvl="1"/>
            <a:r>
              <a:rPr lang="en-US" dirty="0"/>
              <a:t>His loss if the task is not attempted</a:t>
            </a:r>
          </a:p>
          <a:p>
            <a:r>
              <a:rPr lang="en-US" dirty="0"/>
              <a:t>These factors can help a person achieve the proper perspective before performing the above mentioned tasks. It is particularly important to consider these factors when stressors such as noise, time constraints, or pressure from a supervisor may tend to cloud one’s judgment.</a:t>
            </a:r>
            <a:endParaRPr lang="en-IN" dirty="0"/>
          </a:p>
        </p:txBody>
      </p:sp>
    </p:spTree>
    <p:extLst>
      <p:ext uri="{BB962C8B-B14F-4D97-AF65-F5344CB8AC3E}">
        <p14:creationId xmlns:p14="http://schemas.microsoft.com/office/powerpoint/2010/main" val="3105534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C9A1CF-503B-49CE-81AE-0546F2C5C0D2}"/>
              </a:ext>
            </a:extLst>
          </p:cNvPr>
          <p:cNvPicPr>
            <a:picLocks noChangeAspect="1"/>
          </p:cNvPicPr>
          <p:nvPr/>
        </p:nvPicPr>
        <p:blipFill>
          <a:blip r:embed="rId2"/>
          <a:stretch>
            <a:fillRect/>
          </a:stretch>
        </p:blipFill>
        <p:spPr>
          <a:xfrm>
            <a:off x="1270429" y="693454"/>
            <a:ext cx="9235367" cy="5652000"/>
          </a:xfrm>
          <a:prstGeom prst="rect">
            <a:avLst/>
          </a:prstGeom>
        </p:spPr>
      </p:pic>
    </p:spTree>
    <p:extLst>
      <p:ext uri="{BB962C8B-B14F-4D97-AF65-F5344CB8AC3E}">
        <p14:creationId xmlns:p14="http://schemas.microsoft.com/office/powerpoint/2010/main" val="1249955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2C6FC1-76A6-4D83-9931-6A60AF330E88}"/>
              </a:ext>
            </a:extLst>
          </p:cNvPr>
          <p:cNvPicPr>
            <a:picLocks noChangeAspect="1"/>
          </p:cNvPicPr>
          <p:nvPr/>
        </p:nvPicPr>
        <p:blipFill>
          <a:blip r:embed="rId2"/>
          <a:stretch>
            <a:fillRect/>
          </a:stretch>
        </p:blipFill>
        <p:spPr>
          <a:xfrm>
            <a:off x="1055823" y="930524"/>
            <a:ext cx="9350894" cy="5580000"/>
          </a:xfrm>
          <a:prstGeom prst="rect">
            <a:avLst/>
          </a:prstGeom>
        </p:spPr>
      </p:pic>
    </p:spTree>
    <p:extLst>
      <p:ext uri="{BB962C8B-B14F-4D97-AF65-F5344CB8AC3E}">
        <p14:creationId xmlns:p14="http://schemas.microsoft.com/office/powerpoint/2010/main" val="1155997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59B321-01C1-4DB4-BEF1-A4D451EE5FF7}"/>
              </a:ext>
            </a:extLst>
          </p:cNvPr>
          <p:cNvPicPr>
            <a:picLocks noChangeAspect="1"/>
          </p:cNvPicPr>
          <p:nvPr/>
        </p:nvPicPr>
        <p:blipFill>
          <a:blip r:embed="rId2"/>
          <a:stretch>
            <a:fillRect/>
          </a:stretch>
        </p:blipFill>
        <p:spPr>
          <a:xfrm>
            <a:off x="963735" y="596839"/>
            <a:ext cx="10188524" cy="5616000"/>
          </a:xfrm>
          <a:prstGeom prst="rect">
            <a:avLst/>
          </a:prstGeom>
        </p:spPr>
      </p:pic>
    </p:spTree>
    <p:extLst>
      <p:ext uri="{BB962C8B-B14F-4D97-AF65-F5344CB8AC3E}">
        <p14:creationId xmlns:p14="http://schemas.microsoft.com/office/powerpoint/2010/main" val="3675255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0CFC6D-70EA-41B5-8A7E-4D6E23537330}"/>
              </a:ext>
            </a:extLst>
          </p:cNvPr>
          <p:cNvPicPr>
            <a:picLocks noChangeAspect="1"/>
          </p:cNvPicPr>
          <p:nvPr/>
        </p:nvPicPr>
        <p:blipFill>
          <a:blip r:embed="rId2"/>
          <a:stretch>
            <a:fillRect/>
          </a:stretch>
        </p:blipFill>
        <p:spPr>
          <a:xfrm>
            <a:off x="1011106" y="537190"/>
            <a:ext cx="8686223" cy="5904000"/>
          </a:xfrm>
          <a:prstGeom prst="rect">
            <a:avLst/>
          </a:prstGeom>
        </p:spPr>
      </p:pic>
    </p:spTree>
    <p:extLst>
      <p:ext uri="{BB962C8B-B14F-4D97-AF65-F5344CB8AC3E}">
        <p14:creationId xmlns:p14="http://schemas.microsoft.com/office/powerpoint/2010/main" val="11737338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349D9-46EB-3D68-E3A9-B3F43C6E052E}"/>
              </a:ext>
            </a:extLst>
          </p:cNvPr>
          <p:cNvSpPr>
            <a:spLocks noGrp="1"/>
          </p:cNvSpPr>
          <p:nvPr>
            <p:ph type="title"/>
          </p:nvPr>
        </p:nvSpPr>
        <p:spPr/>
        <p:txBody>
          <a:bodyPr/>
          <a:lstStyle/>
          <a:p>
            <a:r>
              <a:rPr lang="en-US" dirty="0"/>
              <a:t>6. BEHAVIORAL THEORY OF ACCIDENT</a:t>
            </a:r>
            <a:br>
              <a:rPr lang="en-US" dirty="0"/>
            </a:br>
            <a:r>
              <a:rPr lang="en-IN" dirty="0"/>
              <a:t>CAUSATION</a:t>
            </a:r>
          </a:p>
        </p:txBody>
      </p:sp>
      <p:sp>
        <p:nvSpPr>
          <p:cNvPr id="3" name="Content Placeholder 2">
            <a:extLst>
              <a:ext uri="{FF2B5EF4-FFF2-40B4-BE49-F238E27FC236}">
                <a16:creationId xmlns:a16="http://schemas.microsoft.com/office/drawing/2014/main" id="{3C3956EC-86A0-A99D-F0EF-282862B291D1}"/>
              </a:ext>
            </a:extLst>
          </p:cNvPr>
          <p:cNvSpPr>
            <a:spLocks noGrp="1"/>
          </p:cNvSpPr>
          <p:nvPr>
            <p:ph idx="1"/>
          </p:nvPr>
        </p:nvSpPr>
        <p:spPr/>
        <p:txBody>
          <a:bodyPr>
            <a:normAutofit/>
          </a:bodyPr>
          <a:lstStyle/>
          <a:p>
            <a:r>
              <a:rPr lang="en-US" dirty="0"/>
              <a:t>The </a:t>
            </a:r>
            <a:r>
              <a:rPr lang="en-US" dirty="0" err="1"/>
              <a:t>behaviour</a:t>
            </a:r>
            <a:r>
              <a:rPr lang="en-US" dirty="0"/>
              <a:t> theory of accident causation and prevention is often referred to as </a:t>
            </a:r>
            <a:r>
              <a:rPr lang="en-US" dirty="0" err="1"/>
              <a:t>behaviour</a:t>
            </a:r>
            <a:r>
              <a:rPr lang="en-US" dirty="0"/>
              <a:t> -based safety (BBS)</a:t>
            </a:r>
          </a:p>
          <a:p>
            <a:r>
              <a:rPr lang="en-US" dirty="0"/>
              <a:t>BBS has both proponents and critics.</a:t>
            </a:r>
          </a:p>
          <a:p>
            <a:r>
              <a:rPr lang="en-US" dirty="0"/>
              <a:t>One of the most prominent proponents of BBS is E. Scott Geller, a senior partner of Safety Performance Solutions, Inc., and a </a:t>
            </a:r>
            <a:r>
              <a:rPr lang="en-IN" dirty="0"/>
              <a:t>professor of psychology.</a:t>
            </a:r>
          </a:p>
          <a:p>
            <a:r>
              <a:rPr lang="en-US" dirty="0"/>
              <a:t>It is appropriate that Geller is a professional psychologist because BBS is the application of </a:t>
            </a:r>
            <a:r>
              <a:rPr lang="en-US" dirty="0" err="1"/>
              <a:t>behavioural</a:t>
            </a:r>
            <a:r>
              <a:rPr lang="en-US" dirty="0"/>
              <a:t> theories from the field of psychology to the field of occupational safety.</a:t>
            </a:r>
            <a:endParaRPr lang="en-IN" dirty="0"/>
          </a:p>
        </p:txBody>
      </p:sp>
    </p:spTree>
    <p:extLst>
      <p:ext uri="{BB962C8B-B14F-4D97-AF65-F5344CB8AC3E}">
        <p14:creationId xmlns:p14="http://schemas.microsoft.com/office/powerpoint/2010/main" val="24290246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FB4A1-8C79-4ED8-F778-462FA54835C8}"/>
              </a:ext>
            </a:extLst>
          </p:cNvPr>
          <p:cNvSpPr>
            <a:spLocks noGrp="1"/>
          </p:cNvSpPr>
          <p:nvPr>
            <p:ph type="title"/>
          </p:nvPr>
        </p:nvSpPr>
        <p:spPr/>
        <p:txBody>
          <a:bodyPr/>
          <a:lstStyle/>
          <a:p>
            <a:r>
              <a:rPr lang="en-US" dirty="0"/>
              <a:t>6. BEHAVIORAL THEORY OF ACCIDENT</a:t>
            </a:r>
            <a:br>
              <a:rPr lang="en-US" dirty="0"/>
            </a:br>
            <a:r>
              <a:rPr lang="en-IN" dirty="0"/>
              <a:t>CAUSATION</a:t>
            </a:r>
          </a:p>
        </p:txBody>
      </p:sp>
      <p:sp>
        <p:nvSpPr>
          <p:cNvPr id="3" name="Content Placeholder 2">
            <a:extLst>
              <a:ext uri="{FF2B5EF4-FFF2-40B4-BE49-F238E27FC236}">
                <a16:creationId xmlns:a16="http://schemas.microsoft.com/office/drawing/2014/main" id="{8183D858-5AF3-6906-BA9E-E3CB2F343AE3}"/>
              </a:ext>
            </a:extLst>
          </p:cNvPr>
          <p:cNvSpPr>
            <a:spLocks noGrp="1"/>
          </p:cNvSpPr>
          <p:nvPr>
            <p:ph idx="1"/>
          </p:nvPr>
        </p:nvSpPr>
        <p:spPr>
          <a:xfrm>
            <a:off x="838199" y="1825625"/>
            <a:ext cx="10974355" cy="4827102"/>
          </a:xfrm>
        </p:spPr>
        <p:txBody>
          <a:bodyPr>
            <a:normAutofit lnSpcReduction="10000"/>
          </a:bodyPr>
          <a:lstStyle/>
          <a:p>
            <a:r>
              <a:rPr lang="en-US" dirty="0"/>
              <a:t>According to Geller, there are seven basic principles of BBS:</a:t>
            </a:r>
          </a:p>
          <a:p>
            <a:pPr marL="914400" lvl="1" indent="-457200">
              <a:buFont typeface="+mj-lt"/>
              <a:buAutoNum type="arabicPeriod"/>
            </a:pPr>
            <a:r>
              <a:rPr lang="en-US" b="1" dirty="0"/>
              <a:t>Intervention</a:t>
            </a:r>
            <a:r>
              <a:rPr lang="en-US" dirty="0"/>
              <a:t> that is focused on employee </a:t>
            </a:r>
            <a:r>
              <a:rPr lang="en-US" dirty="0" err="1"/>
              <a:t>behaviour</a:t>
            </a:r>
            <a:r>
              <a:rPr lang="en-US" dirty="0"/>
              <a:t>;</a:t>
            </a:r>
          </a:p>
          <a:p>
            <a:pPr marL="914400" lvl="1" indent="-457200">
              <a:buFont typeface="+mj-lt"/>
              <a:buAutoNum type="arabicPeriod"/>
            </a:pPr>
            <a:r>
              <a:rPr lang="en-US" b="1" dirty="0"/>
              <a:t>Identification of external factors </a:t>
            </a:r>
            <a:r>
              <a:rPr lang="en-US" dirty="0"/>
              <a:t>that will help understand and improve employee </a:t>
            </a:r>
            <a:r>
              <a:rPr lang="en-US" dirty="0" err="1"/>
              <a:t>behaviour</a:t>
            </a:r>
            <a:r>
              <a:rPr lang="en-US" dirty="0"/>
              <a:t> (from the perspective of safety in the workplace);</a:t>
            </a:r>
          </a:p>
          <a:p>
            <a:pPr marL="914400" lvl="1" indent="-457200">
              <a:buFont typeface="+mj-lt"/>
              <a:buAutoNum type="arabicPeriod"/>
            </a:pPr>
            <a:r>
              <a:rPr lang="en-US" dirty="0"/>
              <a:t>Direct </a:t>
            </a:r>
            <a:r>
              <a:rPr lang="en-US" dirty="0" err="1"/>
              <a:t>behaviour</a:t>
            </a:r>
            <a:r>
              <a:rPr lang="en-US" dirty="0"/>
              <a:t> with activators or events antecedent to the desired </a:t>
            </a:r>
            <a:r>
              <a:rPr lang="en-US" dirty="0" err="1"/>
              <a:t>behaviour</a:t>
            </a:r>
            <a:r>
              <a:rPr lang="en-US" b="1" dirty="0"/>
              <a:t>,</a:t>
            </a:r>
            <a:r>
              <a:rPr lang="en-US" dirty="0"/>
              <a:t> and </a:t>
            </a:r>
            <a:r>
              <a:rPr lang="en-US" b="1" dirty="0"/>
              <a:t>motivation of the employee to behave as desired </a:t>
            </a:r>
            <a:r>
              <a:rPr lang="en-US" dirty="0"/>
              <a:t>with incentives and rewards that will follow the desired </a:t>
            </a:r>
            <a:r>
              <a:rPr lang="en-US" dirty="0" err="1"/>
              <a:t>behaviour</a:t>
            </a:r>
            <a:r>
              <a:rPr lang="en-US" dirty="0"/>
              <a:t>;</a:t>
            </a:r>
          </a:p>
          <a:p>
            <a:pPr marL="914400" lvl="1" indent="-457200">
              <a:buFont typeface="+mj-lt"/>
              <a:buAutoNum type="arabicPeriod"/>
            </a:pPr>
            <a:r>
              <a:rPr lang="en-US" b="1" dirty="0"/>
              <a:t>Focus on the positive consequences </a:t>
            </a:r>
            <a:r>
              <a:rPr lang="en-US" dirty="0"/>
              <a:t>that will result from the desired </a:t>
            </a:r>
            <a:r>
              <a:rPr lang="en-US" dirty="0" err="1"/>
              <a:t>behaviour</a:t>
            </a:r>
            <a:r>
              <a:rPr lang="en-US" dirty="0"/>
              <a:t> as a </a:t>
            </a:r>
            <a:r>
              <a:rPr lang="en-IN" dirty="0"/>
              <a:t>way to motivate employees;</a:t>
            </a:r>
          </a:p>
          <a:p>
            <a:pPr marL="914400" lvl="1" indent="-457200">
              <a:buFont typeface="+mj-lt"/>
              <a:buAutoNum type="arabicPeriod"/>
            </a:pPr>
            <a:r>
              <a:rPr lang="en-US" b="1" dirty="0"/>
              <a:t>Application of the scientific method </a:t>
            </a:r>
            <a:r>
              <a:rPr lang="en-US" dirty="0"/>
              <a:t>to improve attempts at </a:t>
            </a:r>
            <a:r>
              <a:rPr lang="en-US" dirty="0" err="1"/>
              <a:t>behaviour</a:t>
            </a:r>
            <a:r>
              <a:rPr lang="en-US" dirty="0"/>
              <a:t> interventions;</a:t>
            </a:r>
          </a:p>
          <a:p>
            <a:pPr marL="914400" lvl="1" indent="-457200">
              <a:buFont typeface="+mj-lt"/>
              <a:buAutoNum type="arabicPeriod"/>
            </a:pPr>
            <a:r>
              <a:rPr lang="en-US" b="1" dirty="0"/>
              <a:t>Use of theory to integrate information</a:t>
            </a:r>
            <a:r>
              <a:rPr lang="en-US" dirty="0"/>
              <a:t> rather than to limit possibilities; and</a:t>
            </a:r>
          </a:p>
          <a:p>
            <a:pPr marL="914400" lvl="1" indent="-457200">
              <a:buFont typeface="+mj-lt"/>
              <a:buAutoNum type="arabicPeriod"/>
            </a:pPr>
            <a:r>
              <a:rPr lang="en-US" b="1" dirty="0"/>
              <a:t>Planned interventions</a:t>
            </a:r>
            <a:r>
              <a:rPr lang="en-US" dirty="0"/>
              <a:t> with the feelings and attitudes of the individual employee in </a:t>
            </a:r>
            <a:r>
              <a:rPr lang="en-IN" dirty="0"/>
              <a:t>mind.</a:t>
            </a:r>
          </a:p>
        </p:txBody>
      </p:sp>
    </p:spTree>
    <p:extLst>
      <p:ext uri="{BB962C8B-B14F-4D97-AF65-F5344CB8AC3E}">
        <p14:creationId xmlns:p14="http://schemas.microsoft.com/office/powerpoint/2010/main" val="13899437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F6CA3-2F40-D1BD-8C5D-C7EC75DD601B}"/>
              </a:ext>
            </a:extLst>
          </p:cNvPr>
          <p:cNvSpPr>
            <a:spLocks noGrp="1"/>
          </p:cNvSpPr>
          <p:nvPr>
            <p:ph type="title"/>
          </p:nvPr>
        </p:nvSpPr>
        <p:spPr>
          <a:xfrm>
            <a:off x="354563" y="365125"/>
            <a:ext cx="11663265" cy="1325563"/>
          </a:xfrm>
        </p:spPr>
        <p:txBody>
          <a:bodyPr>
            <a:normAutofit/>
          </a:bodyPr>
          <a:lstStyle/>
          <a:p>
            <a:r>
              <a:rPr lang="en-US" sz="4000" dirty="0"/>
              <a:t>7. COMBINATION THEORY OF ACCIDENT </a:t>
            </a:r>
            <a:r>
              <a:rPr lang="en-IN" sz="4000" dirty="0"/>
              <a:t>CAUSATION</a:t>
            </a:r>
          </a:p>
        </p:txBody>
      </p:sp>
      <p:sp>
        <p:nvSpPr>
          <p:cNvPr id="3" name="Content Placeholder 2">
            <a:extLst>
              <a:ext uri="{FF2B5EF4-FFF2-40B4-BE49-F238E27FC236}">
                <a16:creationId xmlns:a16="http://schemas.microsoft.com/office/drawing/2014/main" id="{28E8C3B9-6B5E-FF4E-116D-F9922047BF2B}"/>
              </a:ext>
            </a:extLst>
          </p:cNvPr>
          <p:cNvSpPr>
            <a:spLocks noGrp="1"/>
          </p:cNvSpPr>
          <p:nvPr>
            <p:ph idx="1"/>
          </p:nvPr>
        </p:nvSpPr>
        <p:spPr/>
        <p:txBody>
          <a:bodyPr>
            <a:normAutofit lnSpcReduction="10000"/>
          </a:bodyPr>
          <a:lstStyle/>
          <a:p>
            <a:r>
              <a:rPr lang="en-US" sz="2400" dirty="0"/>
              <a:t>There is often a degree of difference between any theory of accident causation and </a:t>
            </a:r>
            <a:r>
              <a:rPr lang="en-IN" sz="2400" dirty="0"/>
              <a:t>reality.</a:t>
            </a:r>
          </a:p>
          <a:p>
            <a:r>
              <a:rPr lang="en-US" sz="2400" dirty="0"/>
              <a:t>The various models presented with their corresponding theories attempt to explain why accidents occur.</a:t>
            </a:r>
          </a:p>
          <a:p>
            <a:r>
              <a:rPr lang="en-US" sz="2400" dirty="0"/>
              <a:t>For some accidents, a given model may be very accurate. For others, it may be less so. Often the cause of an accident cannot be adequately explained by just one model </a:t>
            </a:r>
            <a:r>
              <a:rPr lang="en-IN" sz="2400" dirty="0"/>
              <a:t>or theory.</a:t>
            </a:r>
          </a:p>
          <a:p>
            <a:r>
              <a:rPr lang="en-US" sz="2400" dirty="0"/>
              <a:t>Thus, according to the combination theory, the actual cause may combine parts of several different models. Safety personnel should use these theories as appropriate both for accident prevention and accident investigation.</a:t>
            </a:r>
          </a:p>
          <a:p>
            <a:r>
              <a:rPr lang="en-US" sz="2400" dirty="0"/>
              <a:t>However, they should avoid the tendency to try to apply one model to all accidents</a:t>
            </a:r>
            <a:endParaRPr lang="en-IN" sz="2400" dirty="0"/>
          </a:p>
        </p:txBody>
      </p:sp>
    </p:spTree>
    <p:extLst>
      <p:ext uri="{BB962C8B-B14F-4D97-AF65-F5344CB8AC3E}">
        <p14:creationId xmlns:p14="http://schemas.microsoft.com/office/powerpoint/2010/main" val="36739023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2337</Words>
  <Application>Microsoft Office PowerPoint</Application>
  <PresentationFormat>Widescreen</PresentationFormat>
  <Paragraphs>136</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Calibri Light</vt:lpstr>
      <vt:lpstr>Office Theme</vt:lpstr>
      <vt:lpstr>PowerPoint Presentation</vt:lpstr>
      <vt:lpstr>1. Heinrich's Domino Theory</vt:lpstr>
      <vt:lpstr>Heinrich’s Axioms of Industrial Safety</vt:lpstr>
      <vt:lpstr>Heinrich’s Axioms of Industrial Safety</vt:lpstr>
      <vt:lpstr>Heinrich’s Axioms of Industrial Safety</vt:lpstr>
      <vt:lpstr>PowerPoint Presentation</vt:lpstr>
      <vt:lpstr>PowerPoint Presentation</vt:lpstr>
      <vt:lpstr>PowerPoint Presentation</vt:lpstr>
      <vt:lpstr>PowerPoint Presentation</vt:lpstr>
      <vt:lpstr>PowerPoint Presentation</vt:lpstr>
      <vt:lpstr>2. Human Factors Theory</vt:lpstr>
      <vt:lpstr>Overload</vt:lpstr>
      <vt:lpstr>Inappropriate Response and Incompatibility</vt:lpstr>
      <vt:lpstr>Inappropriate Activities</vt:lpstr>
      <vt:lpstr>PowerPoint Presentation</vt:lpstr>
      <vt:lpstr>3. Accident/Incident Theory</vt:lpstr>
      <vt:lpstr>PowerPoint Presentation</vt:lpstr>
      <vt:lpstr>3. Accident/Incident Theory</vt:lpstr>
      <vt:lpstr>4. EPIDEMIOLOGICAL THEORY OF ACCIDENT CAUSATION</vt:lpstr>
      <vt:lpstr>4. EPIDEMIOLOGICAL THEORY OF ACCIDENT CAUSATION</vt:lpstr>
      <vt:lpstr>PowerPoint Presentation</vt:lpstr>
      <vt:lpstr>5. SYSTEMS THEORY OF ACCIDENT CAUSATION</vt:lpstr>
      <vt:lpstr>5. SYSTEMS THEORY OF ACCIDENT CAUSATION</vt:lpstr>
      <vt:lpstr>5. SYSTEMS THEORY OF ACCIDENT CAUSATION</vt:lpstr>
      <vt:lpstr>5. SYSTEMS THEORY OF ACCIDENT CAUSATION</vt:lpstr>
      <vt:lpstr>5. SYSTEMS THEORY OF ACCIDENT CAUSATION</vt:lpstr>
      <vt:lpstr>5. SYSTEMS THEORY OF ACCIDENT CAUSATION</vt:lpstr>
      <vt:lpstr>5. SYSTEMS THEORY OF ACCIDENT CAUSATION</vt:lpstr>
      <vt:lpstr>PowerPoint Presentation</vt:lpstr>
      <vt:lpstr>PowerPoint Presentation</vt:lpstr>
      <vt:lpstr>PowerPoint Presentation</vt:lpstr>
      <vt:lpstr>PowerPoint Presentation</vt:lpstr>
      <vt:lpstr>6. BEHAVIORAL THEORY OF ACCIDENT CAUSATION</vt:lpstr>
      <vt:lpstr>6. BEHAVIORAL THEORY OF ACCIDENT CAUSATION</vt:lpstr>
      <vt:lpstr>7. COMBINATION THEORY OF ACCIDENT CAUSATION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2026-07-16T05:32:40Z</dcterms:created>
  <dcterms:modified xsi:type="dcterms:W3CDTF">2026-07-16T05:33:54Z</dcterms:modified>
</cp:coreProperties>
</file>