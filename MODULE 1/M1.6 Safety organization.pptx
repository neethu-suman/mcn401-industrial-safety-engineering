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85" r:id="rId2"/>
    <p:sldId id="386" r:id="rId3"/>
    <p:sldId id="387" r:id="rId4"/>
    <p:sldId id="389" r:id="rId5"/>
    <p:sldId id="323" r:id="rId6"/>
    <p:sldId id="325" r:id="rId7"/>
    <p:sldId id="326" r:id="rId8"/>
    <p:sldId id="399" r:id="rId9"/>
    <p:sldId id="400" r:id="rId10"/>
    <p:sldId id="32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80E33-055C-D4CE-EC59-478D25885F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4B18DC-B914-624E-3DB7-09FE160399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E257D0-7AC3-60BA-6A80-F7BA1E3FB7E5}"/>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5" name="Footer Placeholder 4">
            <a:extLst>
              <a:ext uri="{FF2B5EF4-FFF2-40B4-BE49-F238E27FC236}">
                <a16:creationId xmlns:a16="http://schemas.microsoft.com/office/drawing/2014/main" id="{27B7D1A7-8BB8-20E7-B958-9A0C3FBFED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1A32B1-D9B5-F1EA-D5ED-F9D911FCC83E}"/>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109369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BEA4-217B-76EE-AA32-8E712DD404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6A02E1-64A7-2589-409F-1719639B53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0B9509-E4EE-CFFA-078A-5C815AEA85F0}"/>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5" name="Footer Placeholder 4">
            <a:extLst>
              <a:ext uri="{FF2B5EF4-FFF2-40B4-BE49-F238E27FC236}">
                <a16:creationId xmlns:a16="http://schemas.microsoft.com/office/drawing/2014/main" id="{EABAF16F-D506-9BE6-9A51-AF3085721D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8DE673-3A2A-A735-A7F3-E83835179AFF}"/>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4138399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8BA88-2153-93B9-46B4-AA1B1C4AA7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1E31D2-8D32-516E-E85F-C83A545F09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9C53D-4664-8363-1BEA-8E062AE4ACE0}"/>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5" name="Footer Placeholder 4">
            <a:extLst>
              <a:ext uri="{FF2B5EF4-FFF2-40B4-BE49-F238E27FC236}">
                <a16:creationId xmlns:a16="http://schemas.microsoft.com/office/drawing/2014/main" id="{6F5AFB0F-8A37-C663-31E0-CBC177BD01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C6B359-7D76-4035-6A25-A8697F29843A}"/>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3981700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43C6D-DFA5-9EB0-75B5-7797BB6FDA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1314C9-EEA0-81BB-A58D-7F85C91739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F5761D-FFAA-9B88-483A-98E0409962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A9DC97-77C0-A809-CF5F-12D634A12B44}"/>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6" name="Footer Placeholder 5">
            <a:extLst>
              <a:ext uri="{FF2B5EF4-FFF2-40B4-BE49-F238E27FC236}">
                <a16:creationId xmlns:a16="http://schemas.microsoft.com/office/drawing/2014/main" id="{E63E855F-5C13-C6FD-B924-FD5E79E0AE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2F84F1-ADB2-D3AA-573E-C86DFEA4B3C7}"/>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3219723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65ACF-670F-9FEB-581D-7FE704EC6B1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414C21-2253-461D-7355-3239AD9B4B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5E2990-9414-C277-99C3-7C4EB4D426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391179-4CD5-1C84-B573-DA8BD07051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8EC89A-226C-22C9-7C84-0A59732A20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082058-8A50-57A3-64A8-B079F1EBFEF5}"/>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8" name="Footer Placeholder 7">
            <a:extLst>
              <a:ext uri="{FF2B5EF4-FFF2-40B4-BE49-F238E27FC236}">
                <a16:creationId xmlns:a16="http://schemas.microsoft.com/office/drawing/2014/main" id="{EB16E3BE-3103-C3F3-62DE-A762DF720DD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43973F1-E537-0B26-EF05-382D831B780B}"/>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2097534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59CB0-7529-F143-B9FC-13DB2B7707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F3BB98-B5CF-046C-5D85-224B53A4F10A}"/>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4" name="Footer Placeholder 3">
            <a:extLst>
              <a:ext uri="{FF2B5EF4-FFF2-40B4-BE49-F238E27FC236}">
                <a16:creationId xmlns:a16="http://schemas.microsoft.com/office/drawing/2014/main" id="{BC6BD26E-0523-CAD7-51A0-24BE8F26205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DB8D9C-35EC-222C-3AE5-C4167A3E1DB7}"/>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3415084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746874-9F0B-95DE-0088-7453E0AD4F3C}"/>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3" name="Footer Placeholder 2">
            <a:extLst>
              <a:ext uri="{FF2B5EF4-FFF2-40B4-BE49-F238E27FC236}">
                <a16:creationId xmlns:a16="http://schemas.microsoft.com/office/drawing/2014/main" id="{78643420-A1AC-9E75-EDF6-98461B6828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C08416-AEC7-B16A-0AED-3962AC24AA01}"/>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1416738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D38EA-EEED-0A07-1021-D86159C8C4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F63BBF-3F2D-6038-18F0-85FD984FDA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40539A-9D5E-A62D-5A59-121101C08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AA7366-0163-78F5-4903-B428F56A5588}"/>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6" name="Footer Placeholder 5">
            <a:extLst>
              <a:ext uri="{FF2B5EF4-FFF2-40B4-BE49-F238E27FC236}">
                <a16:creationId xmlns:a16="http://schemas.microsoft.com/office/drawing/2014/main" id="{841E69E7-D305-4D8E-EB1C-3188142C43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6A5B31-947F-019F-A22D-02C08691F404}"/>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1161431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154B-A332-4CD2-B83C-E837BA7C50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B0B541-BE23-7B99-D918-7889B18988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7A9E6D-62E6-7C33-2134-3085ABA0E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F9A9B5-7254-7E4A-577A-1402F621F6E3}"/>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6" name="Footer Placeholder 5">
            <a:extLst>
              <a:ext uri="{FF2B5EF4-FFF2-40B4-BE49-F238E27FC236}">
                <a16:creationId xmlns:a16="http://schemas.microsoft.com/office/drawing/2014/main" id="{1FF1D0A7-778F-88EB-4CD0-466A97687C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08681D-B7D1-8F77-4003-85A3114CD972}"/>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1185897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2B64A-9F0C-A809-C67B-9D6E5986BF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DCC6EF-580B-E9E1-BFAD-CB3824D6A1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DB7D35-DC81-2DD4-142F-47553057CFCB}"/>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5" name="Footer Placeholder 4">
            <a:extLst>
              <a:ext uri="{FF2B5EF4-FFF2-40B4-BE49-F238E27FC236}">
                <a16:creationId xmlns:a16="http://schemas.microsoft.com/office/drawing/2014/main" id="{84328F67-85F6-9147-F412-7D80F46C5D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C14E6-9787-DE75-84DB-9351ACA2D140}"/>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2711686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285DCF-8EEF-C98D-CC77-9C58AACAD0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059F1F-6336-A189-167A-0A1EDB428B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BF9A94-F321-3C4D-1782-2406AE5B6BC0}"/>
              </a:ext>
            </a:extLst>
          </p:cNvPr>
          <p:cNvSpPr>
            <a:spLocks noGrp="1"/>
          </p:cNvSpPr>
          <p:nvPr>
            <p:ph type="dt" sz="half" idx="10"/>
          </p:nvPr>
        </p:nvSpPr>
        <p:spPr/>
        <p:txBody>
          <a:bodyPr/>
          <a:lstStyle/>
          <a:p>
            <a:fld id="{FFC1E3D2-119B-484D-89E1-D138DE016428}" type="datetimeFigureOut">
              <a:rPr lang="en-IN" smtClean="0"/>
              <a:t>18-07-2026</a:t>
            </a:fld>
            <a:endParaRPr lang="en-IN"/>
          </a:p>
        </p:txBody>
      </p:sp>
      <p:sp>
        <p:nvSpPr>
          <p:cNvPr id="5" name="Footer Placeholder 4">
            <a:extLst>
              <a:ext uri="{FF2B5EF4-FFF2-40B4-BE49-F238E27FC236}">
                <a16:creationId xmlns:a16="http://schemas.microsoft.com/office/drawing/2014/main" id="{4879F739-7F8A-E6D4-ACF2-2317DB2920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4F2E51-B919-5F2E-05B0-1B0E84B4E55B}"/>
              </a:ext>
            </a:extLst>
          </p:cNvPr>
          <p:cNvSpPr>
            <a:spLocks noGrp="1"/>
          </p:cNvSpPr>
          <p:nvPr>
            <p:ph type="sldNum" sz="quarter" idx="12"/>
          </p:nvPr>
        </p:nvSpPr>
        <p:spPr/>
        <p:txBody>
          <a:bodyPr/>
          <a:lstStyle/>
          <a:p>
            <a:fld id="{AE5425D3-EE67-4C34-908B-3CB0055C3BEB}" type="slidenum">
              <a:rPr lang="en-IN" smtClean="0"/>
              <a:t>‹#›</a:t>
            </a:fld>
            <a:endParaRPr lang="en-IN"/>
          </a:p>
        </p:txBody>
      </p:sp>
    </p:spTree>
    <p:extLst>
      <p:ext uri="{BB962C8B-B14F-4D97-AF65-F5344CB8AC3E}">
        <p14:creationId xmlns:p14="http://schemas.microsoft.com/office/powerpoint/2010/main" val="329157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A78-5DD1-4A9E-0056-777B923EA6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59ACFC-49FC-6CAF-FC07-7B980406C8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0837E6-54EE-4CF2-85D9-21DE75FBC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C1E3D2-119B-484D-89E1-D138DE016428}" type="datetimeFigureOut">
              <a:rPr lang="en-IN" smtClean="0"/>
              <a:t>18-07-2026</a:t>
            </a:fld>
            <a:endParaRPr lang="en-IN"/>
          </a:p>
        </p:txBody>
      </p:sp>
      <p:sp>
        <p:nvSpPr>
          <p:cNvPr id="5" name="Footer Placeholder 4">
            <a:extLst>
              <a:ext uri="{FF2B5EF4-FFF2-40B4-BE49-F238E27FC236}">
                <a16:creationId xmlns:a16="http://schemas.microsoft.com/office/drawing/2014/main" id="{EE7C980D-5104-12D4-E0F2-13239A19B1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7BD291-7D63-469B-A6FE-B6DA29E83A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5425D3-EE67-4C34-908B-3CB0055C3BEB}" type="slidenum">
              <a:rPr lang="en-IN" smtClean="0"/>
              <a:t>‹#›</a:t>
            </a:fld>
            <a:endParaRPr lang="en-IN"/>
          </a:p>
        </p:txBody>
      </p:sp>
    </p:spTree>
    <p:extLst>
      <p:ext uri="{BB962C8B-B14F-4D97-AF65-F5344CB8AC3E}">
        <p14:creationId xmlns:p14="http://schemas.microsoft.com/office/powerpoint/2010/main" val="1348553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6AD70-BDF3-E2D0-01B8-8A2483897DB1}"/>
              </a:ext>
            </a:extLst>
          </p:cNvPr>
          <p:cNvSpPr>
            <a:spLocks noGrp="1"/>
          </p:cNvSpPr>
          <p:nvPr>
            <p:ph type="title"/>
          </p:nvPr>
        </p:nvSpPr>
        <p:spPr/>
        <p:txBody>
          <a:bodyPr/>
          <a:lstStyle/>
          <a:p>
            <a:r>
              <a:rPr lang="en-IN" dirty="0"/>
              <a:t>Safety organization</a:t>
            </a:r>
          </a:p>
        </p:txBody>
      </p:sp>
      <p:sp>
        <p:nvSpPr>
          <p:cNvPr id="3" name="Content Placeholder 2">
            <a:extLst>
              <a:ext uri="{FF2B5EF4-FFF2-40B4-BE49-F238E27FC236}">
                <a16:creationId xmlns:a16="http://schemas.microsoft.com/office/drawing/2014/main" id="{05353718-26B1-E5AE-249D-65DFC3CB9E15}"/>
              </a:ext>
            </a:extLst>
          </p:cNvPr>
          <p:cNvSpPr>
            <a:spLocks noGrp="1"/>
          </p:cNvSpPr>
          <p:nvPr>
            <p:ph idx="1"/>
          </p:nvPr>
        </p:nvSpPr>
        <p:spPr>
          <a:xfrm>
            <a:off x="838199" y="1567543"/>
            <a:ext cx="10759751" cy="4925332"/>
          </a:xfrm>
        </p:spPr>
        <p:txBody>
          <a:bodyPr>
            <a:normAutofit fontScale="70000" lnSpcReduction="20000"/>
          </a:bodyPr>
          <a:lstStyle/>
          <a:p>
            <a:pPr>
              <a:lnSpc>
                <a:spcPct val="120000"/>
              </a:lnSpc>
            </a:pPr>
            <a:r>
              <a:rPr lang="en-US" dirty="0"/>
              <a:t>Safety organization can be defined as the structure and process by which groups of people (employees) are divided into sections or departments, each section or department is assigned specific safety function or duty.</a:t>
            </a:r>
          </a:p>
          <a:p>
            <a:pPr>
              <a:lnSpc>
                <a:spcPct val="120000"/>
              </a:lnSpc>
            </a:pPr>
            <a:r>
              <a:rPr lang="en-US" dirty="0"/>
              <a:t>Authority and responsibility of everybody is clearly defined and interrelationship between them is specified for the accomplishment of organizational safety goals.</a:t>
            </a:r>
          </a:p>
          <a:p>
            <a:pPr>
              <a:lnSpc>
                <a:spcPct val="120000"/>
              </a:lnSpc>
            </a:pPr>
            <a:r>
              <a:rPr lang="en-US" dirty="0"/>
              <a:t>A large unit may have safety department which may have groups of people for division of such safety function and responsibilities.</a:t>
            </a:r>
          </a:p>
          <a:p>
            <a:pPr>
              <a:lnSpc>
                <a:spcPct val="120000"/>
              </a:lnSpc>
            </a:pPr>
            <a:r>
              <a:rPr lang="en-US" dirty="0"/>
              <a:t>But in a small unit (majority) if such division is not possible and only a few persons are available for safety work, they will be assigned specific duty and other departmental heads (production, purchase, personnel etc.) will be explained their role and responsibility towards safety goals.</a:t>
            </a:r>
          </a:p>
          <a:p>
            <a:pPr>
              <a:lnSpc>
                <a:spcPct val="120000"/>
              </a:lnSpc>
            </a:pPr>
            <a:r>
              <a:rPr lang="en-US" dirty="0"/>
              <a:t>All supervisors shall be integrated with safety as part of their duty. ‘Safety is everybody’s duty’ will be explained to all with their safety duty given in writing or by displaying at their workplaces.</a:t>
            </a:r>
            <a:endParaRPr lang="en-IN" dirty="0"/>
          </a:p>
        </p:txBody>
      </p:sp>
    </p:spTree>
    <p:extLst>
      <p:ext uri="{BB962C8B-B14F-4D97-AF65-F5344CB8AC3E}">
        <p14:creationId xmlns:p14="http://schemas.microsoft.com/office/powerpoint/2010/main" val="3792333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A3810-26B1-F8BE-D79D-BFADF024A4B2}"/>
              </a:ext>
            </a:extLst>
          </p:cNvPr>
          <p:cNvSpPr>
            <a:spLocks noGrp="1"/>
          </p:cNvSpPr>
          <p:nvPr>
            <p:ph type="title"/>
          </p:nvPr>
        </p:nvSpPr>
        <p:spPr/>
        <p:txBody>
          <a:bodyPr/>
          <a:lstStyle/>
          <a:p>
            <a:r>
              <a:rPr lang="en-IN" dirty="0"/>
              <a:t>Need (Significance) of Safety Organization</a:t>
            </a:r>
          </a:p>
        </p:txBody>
      </p:sp>
      <p:sp>
        <p:nvSpPr>
          <p:cNvPr id="5" name="Rectangle 2">
            <a:extLst>
              <a:ext uri="{FF2B5EF4-FFF2-40B4-BE49-F238E27FC236}">
                <a16:creationId xmlns:a16="http://schemas.microsoft.com/office/drawing/2014/main" id="{39941A73-62E3-9B3A-7322-C762AF849CA0}"/>
              </a:ext>
            </a:extLst>
          </p:cNvPr>
          <p:cNvSpPr>
            <a:spLocks noGrp="1" noChangeArrowheads="1"/>
          </p:cNvSpPr>
          <p:nvPr>
            <p:ph idx="1"/>
          </p:nvPr>
        </p:nvSpPr>
        <p:spPr bwMode="auto">
          <a:xfrm>
            <a:off x="912844" y="1690688"/>
            <a:ext cx="10059955" cy="391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Prevents workplace accidents and injuries.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Ensures compliance with safety laws and standards.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Protects employees, equipment, and property.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Reduces financial losses and production downtime.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Improves productivity, morale, and organizational reputation.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Promotes safety awareness through training and inspections. </a:t>
            </a:r>
          </a:p>
          <a:p>
            <a:pPr marR="0" lvl="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solidFill>
                <a:effectLst/>
              </a:rPr>
              <a:t>Enhances emergency preparedness and continuous improvement. </a:t>
            </a:r>
          </a:p>
        </p:txBody>
      </p:sp>
    </p:spTree>
    <p:extLst>
      <p:ext uri="{BB962C8B-B14F-4D97-AF65-F5344CB8AC3E}">
        <p14:creationId xmlns:p14="http://schemas.microsoft.com/office/powerpoint/2010/main" val="4515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3CD7C-4C0E-6487-213C-D60620C974AF}"/>
              </a:ext>
            </a:extLst>
          </p:cNvPr>
          <p:cNvSpPr>
            <a:spLocks noGrp="1"/>
          </p:cNvSpPr>
          <p:nvPr>
            <p:ph type="title"/>
          </p:nvPr>
        </p:nvSpPr>
        <p:spPr/>
        <p:txBody>
          <a:bodyPr/>
          <a:lstStyle/>
          <a:p>
            <a:r>
              <a:rPr lang="en-IN" dirty="0"/>
              <a:t>Objectives of safety organization</a:t>
            </a:r>
          </a:p>
        </p:txBody>
      </p:sp>
      <p:sp>
        <p:nvSpPr>
          <p:cNvPr id="3" name="Content Placeholder 2">
            <a:extLst>
              <a:ext uri="{FF2B5EF4-FFF2-40B4-BE49-F238E27FC236}">
                <a16:creationId xmlns:a16="http://schemas.microsoft.com/office/drawing/2014/main" id="{6E768190-97F1-94E9-9208-9F4AC2E64D30}"/>
              </a:ext>
            </a:extLst>
          </p:cNvPr>
          <p:cNvSpPr>
            <a:spLocks noGrp="1"/>
          </p:cNvSpPr>
          <p:nvPr>
            <p:ph idx="1"/>
          </p:nvPr>
        </p:nvSpPr>
        <p:spPr/>
        <p:txBody>
          <a:bodyPr>
            <a:normAutofit/>
          </a:bodyPr>
          <a:lstStyle/>
          <a:p>
            <a:r>
              <a:rPr lang="en-US" sz="2400" dirty="0"/>
              <a:t>To prevent accidents in future</a:t>
            </a:r>
          </a:p>
          <a:p>
            <a:r>
              <a:rPr lang="en-US" sz="2400" dirty="0"/>
              <a:t>To provide safe work environment</a:t>
            </a:r>
          </a:p>
          <a:p>
            <a:r>
              <a:rPr lang="en-IN" sz="2400" dirty="0"/>
              <a:t>Safety consciousness</a:t>
            </a:r>
          </a:p>
          <a:p>
            <a:r>
              <a:rPr lang="en-US" sz="2400" dirty="0"/>
              <a:t>Integrate safety policies with job process</a:t>
            </a:r>
          </a:p>
          <a:p>
            <a:r>
              <a:rPr lang="en-US" sz="2400" dirty="0"/>
              <a:t>Compliance of rules as per factory act</a:t>
            </a:r>
          </a:p>
          <a:p>
            <a:r>
              <a:rPr lang="en-US" sz="2400" dirty="0"/>
              <a:t>Ensure and modify on identified risk</a:t>
            </a:r>
          </a:p>
          <a:p>
            <a:r>
              <a:rPr lang="en-IN" sz="2400" dirty="0"/>
              <a:t>Training to ensure safety</a:t>
            </a:r>
          </a:p>
          <a:p>
            <a:r>
              <a:rPr lang="en-US" sz="2400" dirty="0"/>
              <a:t>Invite cooperation and suggestions from the employees</a:t>
            </a:r>
          </a:p>
          <a:p>
            <a:r>
              <a:rPr lang="en-US" sz="2400" dirty="0"/>
              <a:t>To take measures after accident</a:t>
            </a:r>
            <a:endParaRPr lang="en-IN" sz="2400" dirty="0"/>
          </a:p>
        </p:txBody>
      </p:sp>
    </p:spTree>
    <p:extLst>
      <p:ext uri="{BB962C8B-B14F-4D97-AF65-F5344CB8AC3E}">
        <p14:creationId xmlns:p14="http://schemas.microsoft.com/office/powerpoint/2010/main" val="2059917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10D79-802B-E147-81DC-6133C3F3D6AD}"/>
              </a:ext>
            </a:extLst>
          </p:cNvPr>
          <p:cNvSpPr>
            <a:spLocks noGrp="1"/>
          </p:cNvSpPr>
          <p:nvPr>
            <p:ph type="title"/>
          </p:nvPr>
        </p:nvSpPr>
        <p:spPr/>
        <p:txBody>
          <a:bodyPr/>
          <a:lstStyle/>
          <a:p>
            <a:r>
              <a:rPr lang="en-US" dirty="0"/>
              <a:t>Functions &amp; Duties of safety organization</a:t>
            </a:r>
            <a:endParaRPr lang="en-IN" dirty="0"/>
          </a:p>
        </p:txBody>
      </p:sp>
      <p:sp>
        <p:nvSpPr>
          <p:cNvPr id="3" name="Content Placeholder 2">
            <a:extLst>
              <a:ext uri="{FF2B5EF4-FFF2-40B4-BE49-F238E27FC236}">
                <a16:creationId xmlns:a16="http://schemas.microsoft.com/office/drawing/2014/main" id="{82481840-C6C8-295D-B759-606F3E900DF0}"/>
              </a:ext>
            </a:extLst>
          </p:cNvPr>
          <p:cNvSpPr>
            <a:spLocks noGrp="1"/>
          </p:cNvSpPr>
          <p:nvPr>
            <p:ph idx="1"/>
          </p:nvPr>
        </p:nvSpPr>
        <p:spPr>
          <a:xfrm>
            <a:off x="838199" y="1690688"/>
            <a:ext cx="11058331" cy="4486275"/>
          </a:xfrm>
        </p:spPr>
        <p:txBody>
          <a:bodyPr>
            <a:noAutofit/>
          </a:bodyPr>
          <a:lstStyle/>
          <a:p>
            <a:pPr marL="342900" lvl="0" indent="-342900" eaLnBrk="0" fontAlgn="base" hangingPunct="0">
              <a:lnSpc>
                <a:spcPct val="120000"/>
              </a:lnSpc>
              <a:spcBef>
                <a:spcPct val="0"/>
              </a:spcBef>
              <a:spcAft>
                <a:spcPct val="0"/>
              </a:spcAft>
              <a:buFont typeface="+mj-lt"/>
              <a:buAutoNum type="arabicPeriod"/>
            </a:pPr>
            <a:r>
              <a:rPr lang="en-US" altLang="en-US" sz="2400" dirty="0"/>
              <a:t>Formulation and implementation of safety policies, rules, and procedures.</a:t>
            </a:r>
          </a:p>
          <a:p>
            <a:pPr marL="342900" lvl="0" indent="-342900" eaLnBrk="0" fontAlgn="base" hangingPunct="0">
              <a:lnSpc>
                <a:spcPct val="120000"/>
              </a:lnSpc>
              <a:spcBef>
                <a:spcPct val="0"/>
              </a:spcBef>
              <a:spcAft>
                <a:spcPct val="0"/>
              </a:spcAft>
              <a:buFont typeface="+mj-lt"/>
              <a:buAutoNum type="arabicPeriod"/>
            </a:pPr>
            <a:r>
              <a:rPr lang="en-US" altLang="en-US" sz="2400" dirty="0"/>
              <a:t>Regular safety inspections, audits, and site evaluations.</a:t>
            </a:r>
          </a:p>
          <a:p>
            <a:pPr marL="342900" lvl="0" indent="-342900" eaLnBrk="0" fontAlgn="base" hangingPunct="0">
              <a:lnSpc>
                <a:spcPct val="120000"/>
              </a:lnSpc>
              <a:spcBef>
                <a:spcPct val="0"/>
              </a:spcBef>
              <a:spcAft>
                <a:spcPct val="0"/>
              </a:spcAft>
              <a:buFont typeface="+mj-lt"/>
              <a:buAutoNum type="arabicPeriod"/>
            </a:pPr>
            <a:r>
              <a:rPr lang="en-US" altLang="en-US" sz="2400" dirty="0"/>
              <a:t>Accident and incident investigation, root cause analysis, and reporting.</a:t>
            </a:r>
          </a:p>
          <a:p>
            <a:pPr marL="342900" lvl="0" indent="-342900" eaLnBrk="0" fontAlgn="base" hangingPunct="0">
              <a:lnSpc>
                <a:spcPct val="120000"/>
              </a:lnSpc>
              <a:spcBef>
                <a:spcPct val="0"/>
              </a:spcBef>
              <a:spcAft>
                <a:spcPct val="0"/>
              </a:spcAft>
              <a:buFont typeface="+mj-lt"/>
              <a:buAutoNum type="arabicPeriod"/>
            </a:pPr>
            <a:r>
              <a:rPr lang="en-US" altLang="en-US" sz="2400" dirty="0"/>
              <a:t>Identification, assessment, and control of workplace hazards and risks.</a:t>
            </a:r>
          </a:p>
          <a:p>
            <a:pPr marL="342900" lvl="0" indent="-342900" eaLnBrk="0" fontAlgn="base" hangingPunct="0">
              <a:lnSpc>
                <a:spcPct val="120000"/>
              </a:lnSpc>
              <a:spcBef>
                <a:spcPct val="0"/>
              </a:spcBef>
              <a:spcAft>
                <a:spcPct val="0"/>
              </a:spcAft>
              <a:buFont typeface="+mj-lt"/>
              <a:buAutoNum type="arabicPeriod"/>
            </a:pPr>
            <a:r>
              <a:rPr lang="en-US" altLang="en-US" sz="2400" dirty="0"/>
              <a:t>Development and delivery of mandatory safety training and orientation programs.</a:t>
            </a:r>
          </a:p>
          <a:p>
            <a:pPr marL="342900" lvl="0" indent="-342900" eaLnBrk="0" fontAlgn="base" hangingPunct="0">
              <a:lnSpc>
                <a:spcPct val="120000"/>
              </a:lnSpc>
              <a:spcBef>
                <a:spcPct val="0"/>
              </a:spcBef>
              <a:spcAft>
                <a:spcPct val="0"/>
              </a:spcAft>
              <a:buFont typeface="+mj-lt"/>
              <a:buAutoNum type="arabicPeriod"/>
            </a:pPr>
            <a:r>
              <a:rPr lang="en-US" altLang="en-US" sz="2400" dirty="0"/>
              <a:t>Ensuring compliance with local, national, and industry safety regulations and laws.</a:t>
            </a:r>
          </a:p>
          <a:p>
            <a:pPr marL="342900" lvl="0" indent="-342900" eaLnBrk="0" fontAlgn="base" hangingPunct="0">
              <a:lnSpc>
                <a:spcPct val="120000"/>
              </a:lnSpc>
              <a:spcBef>
                <a:spcPct val="0"/>
              </a:spcBef>
              <a:spcAft>
                <a:spcPct val="0"/>
              </a:spcAft>
              <a:buFont typeface="+mj-lt"/>
              <a:buAutoNum type="arabicPeriod"/>
            </a:pPr>
            <a:r>
              <a:rPr lang="en-US" altLang="en-US" sz="2400" dirty="0"/>
              <a:t>Maintenance and management of emergency response and disaster mitigation plans.</a:t>
            </a:r>
          </a:p>
          <a:p>
            <a:pPr marL="342900" lvl="0" indent="-342900" eaLnBrk="0" fontAlgn="base" hangingPunct="0">
              <a:lnSpc>
                <a:spcPct val="120000"/>
              </a:lnSpc>
              <a:spcBef>
                <a:spcPct val="0"/>
              </a:spcBef>
              <a:spcAft>
                <a:spcPct val="0"/>
              </a:spcAft>
              <a:buFont typeface="+mj-lt"/>
              <a:buAutoNum type="arabicPeriod"/>
            </a:pPr>
            <a:r>
              <a:rPr lang="en-US" altLang="en-US" sz="2400" dirty="0"/>
              <a:t>Selection, distribution, and monitoring of Personal Protective Equipment (PPE).</a:t>
            </a:r>
          </a:p>
          <a:p>
            <a:pPr marL="342900" lvl="0" indent="-342900" eaLnBrk="0" fontAlgn="base" hangingPunct="0">
              <a:lnSpc>
                <a:spcPct val="120000"/>
              </a:lnSpc>
              <a:spcBef>
                <a:spcPct val="0"/>
              </a:spcBef>
              <a:spcAft>
                <a:spcPct val="0"/>
              </a:spcAft>
              <a:buFont typeface="+mj-lt"/>
              <a:buAutoNum type="arabicPeriod"/>
            </a:pPr>
            <a:r>
              <a:rPr lang="en-US" altLang="en-US" sz="2400" dirty="0"/>
              <a:t>Monitoring employee health programs and occupational medical screenings.</a:t>
            </a:r>
          </a:p>
          <a:p>
            <a:pPr marL="342900" lvl="0" indent="-342900" eaLnBrk="0" fontAlgn="base" hangingPunct="0">
              <a:lnSpc>
                <a:spcPct val="120000"/>
              </a:lnSpc>
              <a:spcBef>
                <a:spcPct val="0"/>
              </a:spcBef>
              <a:spcAft>
                <a:spcPct val="0"/>
              </a:spcAft>
              <a:buFont typeface="+mj-lt"/>
              <a:buAutoNum type="arabicPeriod"/>
            </a:pPr>
            <a:r>
              <a:rPr lang="en-US" altLang="en-US" sz="2400" dirty="0"/>
              <a:t>Collection, analysis, and tracking of safety data and performance statistics.</a:t>
            </a:r>
          </a:p>
        </p:txBody>
      </p:sp>
    </p:spTree>
    <p:extLst>
      <p:ext uri="{BB962C8B-B14F-4D97-AF65-F5344CB8AC3E}">
        <p14:creationId xmlns:p14="http://schemas.microsoft.com/office/powerpoint/2010/main" val="256289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8314B3-D83B-4E20-8C91-4BD15194753D}"/>
              </a:ext>
            </a:extLst>
          </p:cNvPr>
          <p:cNvPicPr>
            <a:picLocks noChangeAspect="1"/>
          </p:cNvPicPr>
          <p:nvPr/>
        </p:nvPicPr>
        <p:blipFill>
          <a:blip r:embed="rId2"/>
          <a:stretch>
            <a:fillRect/>
          </a:stretch>
        </p:blipFill>
        <p:spPr>
          <a:xfrm>
            <a:off x="1613413" y="2238161"/>
            <a:ext cx="10467512" cy="1368000"/>
          </a:xfrm>
          <a:prstGeom prst="rect">
            <a:avLst/>
          </a:prstGeom>
        </p:spPr>
      </p:pic>
      <p:sp>
        <p:nvSpPr>
          <p:cNvPr id="2" name="Title 1">
            <a:extLst>
              <a:ext uri="{FF2B5EF4-FFF2-40B4-BE49-F238E27FC236}">
                <a16:creationId xmlns:a16="http://schemas.microsoft.com/office/drawing/2014/main" id="{D6275B23-7452-5E53-6239-1FA3980B0548}"/>
              </a:ext>
            </a:extLst>
          </p:cNvPr>
          <p:cNvSpPr>
            <a:spLocks noGrp="1"/>
          </p:cNvSpPr>
          <p:nvPr>
            <p:ph type="title"/>
          </p:nvPr>
        </p:nvSpPr>
        <p:spPr/>
        <p:txBody>
          <a:bodyPr/>
          <a:lstStyle/>
          <a:p>
            <a:r>
              <a:rPr lang="en-IN" dirty="0"/>
              <a:t>Safety organization</a:t>
            </a:r>
          </a:p>
        </p:txBody>
      </p:sp>
    </p:spTree>
    <p:extLst>
      <p:ext uri="{BB962C8B-B14F-4D97-AF65-F5344CB8AC3E}">
        <p14:creationId xmlns:p14="http://schemas.microsoft.com/office/powerpoint/2010/main" val="1276016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184AF7-4E5C-4279-8596-8282700DF50C}"/>
              </a:ext>
            </a:extLst>
          </p:cNvPr>
          <p:cNvPicPr>
            <a:picLocks noChangeAspect="1"/>
          </p:cNvPicPr>
          <p:nvPr/>
        </p:nvPicPr>
        <p:blipFill>
          <a:blip r:embed="rId2"/>
          <a:stretch>
            <a:fillRect/>
          </a:stretch>
        </p:blipFill>
        <p:spPr>
          <a:xfrm>
            <a:off x="1075878" y="860731"/>
            <a:ext cx="10337160" cy="4752000"/>
          </a:xfrm>
          <a:prstGeom prst="rect">
            <a:avLst/>
          </a:prstGeom>
        </p:spPr>
      </p:pic>
    </p:spTree>
    <p:extLst>
      <p:ext uri="{BB962C8B-B14F-4D97-AF65-F5344CB8AC3E}">
        <p14:creationId xmlns:p14="http://schemas.microsoft.com/office/powerpoint/2010/main" val="4055621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6A503-CC00-4CC5-B18B-E2BF111E71A2}"/>
              </a:ext>
            </a:extLst>
          </p:cNvPr>
          <p:cNvPicPr>
            <a:picLocks noChangeAspect="1"/>
          </p:cNvPicPr>
          <p:nvPr/>
        </p:nvPicPr>
        <p:blipFill>
          <a:blip r:embed="rId2"/>
          <a:stretch>
            <a:fillRect/>
          </a:stretch>
        </p:blipFill>
        <p:spPr>
          <a:xfrm>
            <a:off x="1282335" y="932138"/>
            <a:ext cx="9323696" cy="4968000"/>
          </a:xfrm>
          <a:prstGeom prst="rect">
            <a:avLst/>
          </a:prstGeom>
        </p:spPr>
      </p:pic>
    </p:spTree>
    <p:extLst>
      <p:ext uri="{BB962C8B-B14F-4D97-AF65-F5344CB8AC3E}">
        <p14:creationId xmlns:p14="http://schemas.microsoft.com/office/powerpoint/2010/main" val="2843585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9022BE5-3361-356C-EBAD-790E477E4073}"/>
              </a:ext>
            </a:extLst>
          </p:cNvPr>
          <p:cNvPicPr>
            <a:picLocks noGrp="1" noChangeAspect="1"/>
          </p:cNvPicPr>
          <p:nvPr>
            <p:ph idx="4294967295"/>
          </p:nvPr>
        </p:nvPicPr>
        <p:blipFill>
          <a:blip r:embed="rId2"/>
          <a:stretch>
            <a:fillRect/>
          </a:stretch>
        </p:blipFill>
        <p:spPr>
          <a:xfrm>
            <a:off x="755780" y="632019"/>
            <a:ext cx="10254342" cy="4957017"/>
          </a:xfrm>
          <a:prstGeom prst="rect">
            <a:avLst/>
          </a:prstGeom>
        </p:spPr>
      </p:pic>
    </p:spTree>
    <p:extLst>
      <p:ext uri="{BB962C8B-B14F-4D97-AF65-F5344CB8AC3E}">
        <p14:creationId xmlns:p14="http://schemas.microsoft.com/office/powerpoint/2010/main" val="260459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1F76E4-A317-E90A-88C8-73136462D869}"/>
              </a:ext>
            </a:extLst>
          </p:cNvPr>
          <p:cNvPicPr>
            <a:picLocks noChangeAspect="1"/>
          </p:cNvPicPr>
          <p:nvPr/>
        </p:nvPicPr>
        <p:blipFill>
          <a:blip r:embed="rId2"/>
          <a:stretch>
            <a:fillRect/>
          </a:stretch>
        </p:blipFill>
        <p:spPr>
          <a:xfrm>
            <a:off x="360277" y="189745"/>
            <a:ext cx="12796666" cy="6220386"/>
          </a:xfrm>
          <a:prstGeom prst="rect">
            <a:avLst/>
          </a:prstGeom>
        </p:spPr>
      </p:pic>
    </p:spTree>
    <p:extLst>
      <p:ext uri="{BB962C8B-B14F-4D97-AF65-F5344CB8AC3E}">
        <p14:creationId xmlns:p14="http://schemas.microsoft.com/office/powerpoint/2010/main" val="1650820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BF27F8-E46D-4C34-835F-E0E0D1B944F1}"/>
              </a:ext>
            </a:extLst>
          </p:cNvPr>
          <p:cNvPicPr>
            <a:picLocks noChangeAspect="1"/>
          </p:cNvPicPr>
          <p:nvPr/>
        </p:nvPicPr>
        <p:blipFill>
          <a:blip r:embed="rId2"/>
          <a:stretch>
            <a:fillRect/>
          </a:stretch>
        </p:blipFill>
        <p:spPr>
          <a:xfrm>
            <a:off x="85062" y="-1"/>
            <a:ext cx="12194023" cy="7063273"/>
          </a:xfrm>
          <a:prstGeom prst="rect">
            <a:avLst/>
          </a:prstGeom>
        </p:spPr>
      </p:pic>
    </p:spTree>
    <p:extLst>
      <p:ext uri="{BB962C8B-B14F-4D97-AF65-F5344CB8AC3E}">
        <p14:creationId xmlns:p14="http://schemas.microsoft.com/office/powerpoint/2010/main" val="1302201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411</Words>
  <Application>Microsoft Office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Safety organization</vt:lpstr>
      <vt:lpstr>Need (Significance) of Safety Organization</vt:lpstr>
      <vt:lpstr>Objectives of safety organization</vt:lpstr>
      <vt:lpstr>Functions &amp; Duties of safety organization</vt:lpstr>
      <vt:lpstr>Safety organization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2026-07-18T08:52:17Z</dcterms:created>
  <dcterms:modified xsi:type="dcterms:W3CDTF">2026-07-18T08:52:50Z</dcterms:modified>
</cp:coreProperties>
</file>