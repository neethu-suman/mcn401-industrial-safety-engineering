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47" r:id="rId2"/>
    <p:sldId id="348" r:id="rId3"/>
    <p:sldId id="390" r:id="rId4"/>
    <p:sldId id="391" r:id="rId5"/>
    <p:sldId id="392" r:id="rId6"/>
    <p:sldId id="393" r:id="rId7"/>
    <p:sldId id="394" r:id="rId8"/>
    <p:sldId id="395" r:id="rId9"/>
    <p:sldId id="396" r:id="rId10"/>
    <p:sldId id="397" r:id="rId11"/>
    <p:sldId id="398" r:id="rId12"/>
    <p:sldId id="315" r:id="rId13"/>
    <p:sldId id="316" r:id="rId14"/>
    <p:sldId id="317" r:id="rId15"/>
    <p:sldId id="318" r:id="rId16"/>
    <p:sldId id="319" r:id="rId17"/>
    <p:sldId id="320" r:id="rId18"/>
    <p:sldId id="321" r:id="rId19"/>
    <p:sldId id="31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AB552-EDCF-09B4-8607-3A85CCF4D8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410FDD1-7BD5-94D0-19F0-AAA8E01F5D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A2C1090-0296-A148-33B7-2F2C45FE9158}"/>
              </a:ext>
            </a:extLst>
          </p:cNvPr>
          <p:cNvSpPr>
            <a:spLocks noGrp="1"/>
          </p:cNvSpPr>
          <p:nvPr>
            <p:ph type="dt" sz="half" idx="10"/>
          </p:nvPr>
        </p:nvSpPr>
        <p:spPr/>
        <p:txBody>
          <a:bodyPr/>
          <a:lstStyle/>
          <a:p>
            <a:fld id="{BE8F87E9-D7B0-4A1A-B895-918C8A80D4E3}" type="datetimeFigureOut">
              <a:rPr lang="en-IN" smtClean="0"/>
              <a:t>22-07-2026</a:t>
            </a:fld>
            <a:endParaRPr lang="en-IN"/>
          </a:p>
        </p:txBody>
      </p:sp>
      <p:sp>
        <p:nvSpPr>
          <p:cNvPr id="5" name="Footer Placeholder 4">
            <a:extLst>
              <a:ext uri="{FF2B5EF4-FFF2-40B4-BE49-F238E27FC236}">
                <a16:creationId xmlns:a16="http://schemas.microsoft.com/office/drawing/2014/main" id="{8AEBB046-09C1-2007-711E-9DD2EBE09E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31E874-1B2B-3775-74FD-3E66EBF69B24}"/>
              </a:ext>
            </a:extLst>
          </p:cNvPr>
          <p:cNvSpPr>
            <a:spLocks noGrp="1"/>
          </p:cNvSpPr>
          <p:nvPr>
            <p:ph type="sldNum" sz="quarter" idx="12"/>
          </p:nvPr>
        </p:nvSpPr>
        <p:spPr/>
        <p:txBody>
          <a:bodyPr/>
          <a:lstStyle/>
          <a:p>
            <a:fld id="{DB6EF7F9-D5A8-4D23-8E3A-60D9AC9C9591}" type="slidenum">
              <a:rPr lang="en-IN" smtClean="0"/>
              <a:t>‹#›</a:t>
            </a:fld>
            <a:endParaRPr lang="en-IN"/>
          </a:p>
        </p:txBody>
      </p:sp>
    </p:spTree>
    <p:extLst>
      <p:ext uri="{BB962C8B-B14F-4D97-AF65-F5344CB8AC3E}">
        <p14:creationId xmlns:p14="http://schemas.microsoft.com/office/powerpoint/2010/main" val="3916572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973E4-3279-CEE4-0EA8-06190DF0F8D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8D4B33-340D-1436-363A-E1ED4136FE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69163F-626E-47FC-6A60-33BCB655ADBE}"/>
              </a:ext>
            </a:extLst>
          </p:cNvPr>
          <p:cNvSpPr>
            <a:spLocks noGrp="1"/>
          </p:cNvSpPr>
          <p:nvPr>
            <p:ph type="dt" sz="half" idx="10"/>
          </p:nvPr>
        </p:nvSpPr>
        <p:spPr/>
        <p:txBody>
          <a:bodyPr/>
          <a:lstStyle/>
          <a:p>
            <a:fld id="{BE8F87E9-D7B0-4A1A-B895-918C8A80D4E3}" type="datetimeFigureOut">
              <a:rPr lang="en-IN" smtClean="0"/>
              <a:t>22-07-2026</a:t>
            </a:fld>
            <a:endParaRPr lang="en-IN"/>
          </a:p>
        </p:txBody>
      </p:sp>
      <p:sp>
        <p:nvSpPr>
          <p:cNvPr id="5" name="Footer Placeholder 4">
            <a:extLst>
              <a:ext uri="{FF2B5EF4-FFF2-40B4-BE49-F238E27FC236}">
                <a16:creationId xmlns:a16="http://schemas.microsoft.com/office/drawing/2014/main" id="{0B41A0D7-8FE9-5873-3810-94C76988F7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157BC6-DC68-17E4-AC6A-7BE61E0077B0}"/>
              </a:ext>
            </a:extLst>
          </p:cNvPr>
          <p:cNvSpPr>
            <a:spLocks noGrp="1"/>
          </p:cNvSpPr>
          <p:nvPr>
            <p:ph type="sldNum" sz="quarter" idx="12"/>
          </p:nvPr>
        </p:nvSpPr>
        <p:spPr/>
        <p:txBody>
          <a:bodyPr/>
          <a:lstStyle/>
          <a:p>
            <a:fld id="{DB6EF7F9-D5A8-4D23-8E3A-60D9AC9C9591}" type="slidenum">
              <a:rPr lang="en-IN" smtClean="0"/>
              <a:t>‹#›</a:t>
            </a:fld>
            <a:endParaRPr lang="en-IN"/>
          </a:p>
        </p:txBody>
      </p:sp>
    </p:spTree>
    <p:extLst>
      <p:ext uri="{BB962C8B-B14F-4D97-AF65-F5344CB8AC3E}">
        <p14:creationId xmlns:p14="http://schemas.microsoft.com/office/powerpoint/2010/main" val="3138592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2D5ED-C228-442F-BD68-68B16ECD96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89DEF7E-62B0-380A-BDB7-D0E0A31285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C5C836-74B2-C5DB-132F-CD0C02A7CC88}"/>
              </a:ext>
            </a:extLst>
          </p:cNvPr>
          <p:cNvSpPr>
            <a:spLocks noGrp="1"/>
          </p:cNvSpPr>
          <p:nvPr>
            <p:ph type="dt" sz="half" idx="10"/>
          </p:nvPr>
        </p:nvSpPr>
        <p:spPr/>
        <p:txBody>
          <a:bodyPr/>
          <a:lstStyle/>
          <a:p>
            <a:fld id="{BE8F87E9-D7B0-4A1A-B895-918C8A80D4E3}" type="datetimeFigureOut">
              <a:rPr lang="en-IN" smtClean="0"/>
              <a:t>22-07-2026</a:t>
            </a:fld>
            <a:endParaRPr lang="en-IN"/>
          </a:p>
        </p:txBody>
      </p:sp>
      <p:sp>
        <p:nvSpPr>
          <p:cNvPr id="5" name="Footer Placeholder 4">
            <a:extLst>
              <a:ext uri="{FF2B5EF4-FFF2-40B4-BE49-F238E27FC236}">
                <a16:creationId xmlns:a16="http://schemas.microsoft.com/office/drawing/2014/main" id="{C14DD06E-69FB-7A43-E822-D345C04C6C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3E27FD-5C25-839F-745E-05D040F31214}"/>
              </a:ext>
            </a:extLst>
          </p:cNvPr>
          <p:cNvSpPr>
            <a:spLocks noGrp="1"/>
          </p:cNvSpPr>
          <p:nvPr>
            <p:ph type="sldNum" sz="quarter" idx="12"/>
          </p:nvPr>
        </p:nvSpPr>
        <p:spPr/>
        <p:txBody>
          <a:bodyPr/>
          <a:lstStyle/>
          <a:p>
            <a:fld id="{DB6EF7F9-D5A8-4D23-8E3A-60D9AC9C9591}" type="slidenum">
              <a:rPr lang="en-IN" smtClean="0"/>
              <a:t>‹#›</a:t>
            </a:fld>
            <a:endParaRPr lang="en-IN"/>
          </a:p>
        </p:txBody>
      </p:sp>
    </p:spTree>
    <p:extLst>
      <p:ext uri="{BB962C8B-B14F-4D97-AF65-F5344CB8AC3E}">
        <p14:creationId xmlns:p14="http://schemas.microsoft.com/office/powerpoint/2010/main" val="855968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F8FD7-1FF1-5BDD-884E-BC2F04D63D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136BBFE-7F0F-314F-3F15-70B8B4D3E3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3D0B8C7-DF8E-8B3E-F498-A40E4F9A82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B7EA8D4-D851-5EA2-C100-B2B2B5CC3444}"/>
              </a:ext>
            </a:extLst>
          </p:cNvPr>
          <p:cNvSpPr>
            <a:spLocks noGrp="1"/>
          </p:cNvSpPr>
          <p:nvPr>
            <p:ph type="dt" sz="half" idx="10"/>
          </p:nvPr>
        </p:nvSpPr>
        <p:spPr/>
        <p:txBody>
          <a:bodyPr/>
          <a:lstStyle/>
          <a:p>
            <a:fld id="{BE8F87E9-D7B0-4A1A-B895-918C8A80D4E3}" type="datetimeFigureOut">
              <a:rPr lang="en-IN" smtClean="0"/>
              <a:t>22-07-2026</a:t>
            </a:fld>
            <a:endParaRPr lang="en-IN"/>
          </a:p>
        </p:txBody>
      </p:sp>
      <p:sp>
        <p:nvSpPr>
          <p:cNvPr id="6" name="Footer Placeholder 5">
            <a:extLst>
              <a:ext uri="{FF2B5EF4-FFF2-40B4-BE49-F238E27FC236}">
                <a16:creationId xmlns:a16="http://schemas.microsoft.com/office/drawing/2014/main" id="{DB59AD1C-BCD9-87D0-DBAA-1BF8DFB2F2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5AB59E-37F0-2EEC-EF4A-46F27246FAA1}"/>
              </a:ext>
            </a:extLst>
          </p:cNvPr>
          <p:cNvSpPr>
            <a:spLocks noGrp="1"/>
          </p:cNvSpPr>
          <p:nvPr>
            <p:ph type="sldNum" sz="quarter" idx="12"/>
          </p:nvPr>
        </p:nvSpPr>
        <p:spPr/>
        <p:txBody>
          <a:bodyPr/>
          <a:lstStyle/>
          <a:p>
            <a:fld id="{DB6EF7F9-D5A8-4D23-8E3A-60D9AC9C9591}" type="slidenum">
              <a:rPr lang="en-IN" smtClean="0"/>
              <a:t>‹#›</a:t>
            </a:fld>
            <a:endParaRPr lang="en-IN"/>
          </a:p>
        </p:txBody>
      </p:sp>
    </p:spTree>
    <p:extLst>
      <p:ext uri="{BB962C8B-B14F-4D97-AF65-F5344CB8AC3E}">
        <p14:creationId xmlns:p14="http://schemas.microsoft.com/office/powerpoint/2010/main" val="839094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8DE5E-9199-F115-4BBD-54F52C8FF7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88B0EA-8021-05DF-402F-B2E5AD2417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9E7E0B-EC45-E81F-7C6F-B833E84B5E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CD71476-EE28-79A8-0A11-34CFF4F6AB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5F616B-24C3-3119-5F0A-12A3581215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33A6000-3ED2-ED71-2EBF-246DA2C0F811}"/>
              </a:ext>
            </a:extLst>
          </p:cNvPr>
          <p:cNvSpPr>
            <a:spLocks noGrp="1"/>
          </p:cNvSpPr>
          <p:nvPr>
            <p:ph type="dt" sz="half" idx="10"/>
          </p:nvPr>
        </p:nvSpPr>
        <p:spPr/>
        <p:txBody>
          <a:bodyPr/>
          <a:lstStyle/>
          <a:p>
            <a:fld id="{BE8F87E9-D7B0-4A1A-B895-918C8A80D4E3}" type="datetimeFigureOut">
              <a:rPr lang="en-IN" smtClean="0"/>
              <a:t>22-07-2026</a:t>
            </a:fld>
            <a:endParaRPr lang="en-IN"/>
          </a:p>
        </p:txBody>
      </p:sp>
      <p:sp>
        <p:nvSpPr>
          <p:cNvPr id="8" name="Footer Placeholder 7">
            <a:extLst>
              <a:ext uri="{FF2B5EF4-FFF2-40B4-BE49-F238E27FC236}">
                <a16:creationId xmlns:a16="http://schemas.microsoft.com/office/drawing/2014/main" id="{EA852E8F-A19E-115F-E26E-D570E83C61D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48337EA-36B9-79AC-C1A8-832F48A3BB98}"/>
              </a:ext>
            </a:extLst>
          </p:cNvPr>
          <p:cNvSpPr>
            <a:spLocks noGrp="1"/>
          </p:cNvSpPr>
          <p:nvPr>
            <p:ph type="sldNum" sz="quarter" idx="12"/>
          </p:nvPr>
        </p:nvSpPr>
        <p:spPr/>
        <p:txBody>
          <a:bodyPr/>
          <a:lstStyle/>
          <a:p>
            <a:fld id="{DB6EF7F9-D5A8-4D23-8E3A-60D9AC9C9591}" type="slidenum">
              <a:rPr lang="en-IN" smtClean="0"/>
              <a:t>‹#›</a:t>
            </a:fld>
            <a:endParaRPr lang="en-IN"/>
          </a:p>
        </p:txBody>
      </p:sp>
    </p:spTree>
    <p:extLst>
      <p:ext uri="{BB962C8B-B14F-4D97-AF65-F5344CB8AC3E}">
        <p14:creationId xmlns:p14="http://schemas.microsoft.com/office/powerpoint/2010/main" val="594901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5E7DA-570A-40BD-4FC5-B705F490ABE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ED22E6-98CA-FAA9-4D72-234BAFEFC7E9}"/>
              </a:ext>
            </a:extLst>
          </p:cNvPr>
          <p:cNvSpPr>
            <a:spLocks noGrp="1"/>
          </p:cNvSpPr>
          <p:nvPr>
            <p:ph type="dt" sz="half" idx="10"/>
          </p:nvPr>
        </p:nvSpPr>
        <p:spPr/>
        <p:txBody>
          <a:bodyPr/>
          <a:lstStyle/>
          <a:p>
            <a:fld id="{BE8F87E9-D7B0-4A1A-B895-918C8A80D4E3}" type="datetimeFigureOut">
              <a:rPr lang="en-IN" smtClean="0"/>
              <a:t>22-07-2026</a:t>
            </a:fld>
            <a:endParaRPr lang="en-IN"/>
          </a:p>
        </p:txBody>
      </p:sp>
      <p:sp>
        <p:nvSpPr>
          <p:cNvPr id="4" name="Footer Placeholder 3">
            <a:extLst>
              <a:ext uri="{FF2B5EF4-FFF2-40B4-BE49-F238E27FC236}">
                <a16:creationId xmlns:a16="http://schemas.microsoft.com/office/drawing/2014/main" id="{C2F08D14-8B75-25BC-0973-2C08984C66D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745122C-A7B2-4B7F-8BB5-3D264ECA3751}"/>
              </a:ext>
            </a:extLst>
          </p:cNvPr>
          <p:cNvSpPr>
            <a:spLocks noGrp="1"/>
          </p:cNvSpPr>
          <p:nvPr>
            <p:ph type="sldNum" sz="quarter" idx="12"/>
          </p:nvPr>
        </p:nvSpPr>
        <p:spPr/>
        <p:txBody>
          <a:bodyPr/>
          <a:lstStyle/>
          <a:p>
            <a:fld id="{DB6EF7F9-D5A8-4D23-8E3A-60D9AC9C9591}" type="slidenum">
              <a:rPr lang="en-IN" smtClean="0"/>
              <a:t>‹#›</a:t>
            </a:fld>
            <a:endParaRPr lang="en-IN"/>
          </a:p>
        </p:txBody>
      </p:sp>
    </p:spTree>
    <p:extLst>
      <p:ext uri="{BB962C8B-B14F-4D97-AF65-F5344CB8AC3E}">
        <p14:creationId xmlns:p14="http://schemas.microsoft.com/office/powerpoint/2010/main" val="2881413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868961-ECF2-AEC1-CA69-97A4A8993864}"/>
              </a:ext>
            </a:extLst>
          </p:cNvPr>
          <p:cNvSpPr>
            <a:spLocks noGrp="1"/>
          </p:cNvSpPr>
          <p:nvPr>
            <p:ph type="dt" sz="half" idx="10"/>
          </p:nvPr>
        </p:nvSpPr>
        <p:spPr/>
        <p:txBody>
          <a:bodyPr/>
          <a:lstStyle/>
          <a:p>
            <a:fld id="{BE8F87E9-D7B0-4A1A-B895-918C8A80D4E3}" type="datetimeFigureOut">
              <a:rPr lang="en-IN" smtClean="0"/>
              <a:t>22-07-2026</a:t>
            </a:fld>
            <a:endParaRPr lang="en-IN"/>
          </a:p>
        </p:txBody>
      </p:sp>
      <p:sp>
        <p:nvSpPr>
          <p:cNvPr id="3" name="Footer Placeholder 2">
            <a:extLst>
              <a:ext uri="{FF2B5EF4-FFF2-40B4-BE49-F238E27FC236}">
                <a16:creationId xmlns:a16="http://schemas.microsoft.com/office/drawing/2014/main" id="{E2265CA2-3F36-65C5-9697-11082E540B3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DB3362F-6415-0BD9-F884-CF50E70DCEA6}"/>
              </a:ext>
            </a:extLst>
          </p:cNvPr>
          <p:cNvSpPr>
            <a:spLocks noGrp="1"/>
          </p:cNvSpPr>
          <p:nvPr>
            <p:ph type="sldNum" sz="quarter" idx="12"/>
          </p:nvPr>
        </p:nvSpPr>
        <p:spPr/>
        <p:txBody>
          <a:bodyPr/>
          <a:lstStyle/>
          <a:p>
            <a:fld id="{DB6EF7F9-D5A8-4D23-8E3A-60D9AC9C9591}" type="slidenum">
              <a:rPr lang="en-IN" smtClean="0"/>
              <a:t>‹#›</a:t>
            </a:fld>
            <a:endParaRPr lang="en-IN"/>
          </a:p>
        </p:txBody>
      </p:sp>
    </p:spTree>
    <p:extLst>
      <p:ext uri="{BB962C8B-B14F-4D97-AF65-F5344CB8AC3E}">
        <p14:creationId xmlns:p14="http://schemas.microsoft.com/office/powerpoint/2010/main" val="4049267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ABC62-4893-DCC2-E5CF-3A9AE017B4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6C2181D-2BC5-E58E-BE9A-C1A41E0C19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5C4DAEC-502B-8BEF-94A5-04BEF3043E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EA7925-8633-F312-324C-383F1044C9F6}"/>
              </a:ext>
            </a:extLst>
          </p:cNvPr>
          <p:cNvSpPr>
            <a:spLocks noGrp="1"/>
          </p:cNvSpPr>
          <p:nvPr>
            <p:ph type="dt" sz="half" idx="10"/>
          </p:nvPr>
        </p:nvSpPr>
        <p:spPr/>
        <p:txBody>
          <a:bodyPr/>
          <a:lstStyle/>
          <a:p>
            <a:fld id="{BE8F87E9-D7B0-4A1A-B895-918C8A80D4E3}" type="datetimeFigureOut">
              <a:rPr lang="en-IN" smtClean="0"/>
              <a:t>22-07-2026</a:t>
            </a:fld>
            <a:endParaRPr lang="en-IN"/>
          </a:p>
        </p:txBody>
      </p:sp>
      <p:sp>
        <p:nvSpPr>
          <p:cNvPr id="6" name="Footer Placeholder 5">
            <a:extLst>
              <a:ext uri="{FF2B5EF4-FFF2-40B4-BE49-F238E27FC236}">
                <a16:creationId xmlns:a16="http://schemas.microsoft.com/office/drawing/2014/main" id="{79D40F6D-C610-A7BB-7BD5-807589BB61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0254DA-B08B-037A-BD6A-8CD900EC8656}"/>
              </a:ext>
            </a:extLst>
          </p:cNvPr>
          <p:cNvSpPr>
            <a:spLocks noGrp="1"/>
          </p:cNvSpPr>
          <p:nvPr>
            <p:ph type="sldNum" sz="quarter" idx="12"/>
          </p:nvPr>
        </p:nvSpPr>
        <p:spPr/>
        <p:txBody>
          <a:bodyPr/>
          <a:lstStyle/>
          <a:p>
            <a:fld id="{DB6EF7F9-D5A8-4D23-8E3A-60D9AC9C9591}" type="slidenum">
              <a:rPr lang="en-IN" smtClean="0"/>
              <a:t>‹#›</a:t>
            </a:fld>
            <a:endParaRPr lang="en-IN"/>
          </a:p>
        </p:txBody>
      </p:sp>
    </p:spTree>
    <p:extLst>
      <p:ext uri="{BB962C8B-B14F-4D97-AF65-F5344CB8AC3E}">
        <p14:creationId xmlns:p14="http://schemas.microsoft.com/office/powerpoint/2010/main" val="708777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4DCB6-3428-E43C-A590-F8E4B580D4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3931D92-FFCB-3416-B84C-5D10286D9A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226F455-A013-BB1C-20C8-FBA9BDF36D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8A9254-3089-3D28-96C7-F74BC0A878CD}"/>
              </a:ext>
            </a:extLst>
          </p:cNvPr>
          <p:cNvSpPr>
            <a:spLocks noGrp="1"/>
          </p:cNvSpPr>
          <p:nvPr>
            <p:ph type="dt" sz="half" idx="10"/>
          </p:nvPr>
        </p:nvSpPr>
        <p:spPr/>
        <p:txBody>
          <a:bodyPr/>
          <a:lstStyle/>
          <a:p>
            <a:fld id="{BE8F87E9-D7B0-4A1A-B895-918C8A80D4E3}" type="datetimeFigureOut">
              <a:rPr lang="en-IN" smtClean="0"/>
              <a:t>22-07-2026</a:t>
            </a:fld>
            <a:endParaRPr lang="en-IN"/>
          </a:p>
        </p:txBody>
      </p:sp>
      <p:sp>
        <p:nvSpPr>
          <p:cNvPr id="6" name="Footer Placeholder 5">
            <a:extLst>
              <a:ext uri="{FF2B5EF4-FFF2-40B4-BE49-F238E27FC236}">
                <a16:creationId xmlns:a16="http://schemas.microsoft.com/office/drawing/2014/main" id="{891B903F-F46D-BB1F-A97F-56BAA7E245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ED64CF-D7E2-5016-790C-04E51B733000}"/>
              </a:ext>
            </a:extLst>
          </p:cNvPr>
          <p:cNvSpPr>
            <a:spLocks noGrp="1"/>
          </p:cNvSpPr>
          <p:nvPr>
            <p:ph type="sldNum" sz="quarter" idx="12"/>
          </p:nvPr>
        </p:nvSpPr>
        <p:spPr/>
        <p:txBody>
          <a:bodyPr/>
          <a:lstStyle/>
          <a:p>
            <a:fld id="{DB6EF7F9-D5A8-4D23-8E3A-60D9AC9C9591}" type="slidenum">
              <a:rPr lang="en-IN" smtClean="0"/>
              <a:t>‹#›</a:t>
            </a:fld>
            <a:endParaRPr lang="en-IN"/>
          </a:p>
        </p:txBody>
      </p:sp>
    </p:spTree>
    <p:extLst>
      <p:ext uri="{BB962C8B-B14F-4D97-AF65-F5344CB8AC3E}">
        <p14:creationId xmlns:p14="http://schemas.microsoft.com/office/powerpoint/2010/main" val="1284338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7C187-A737-490B-A31B-32ED6F06A9D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227A60-1215-2912-8F9F-BC98D12D74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F31DED-30B2-5510-E0EF-C951D72B3633}"/>
              </a:ext>
            </a:extLst>
          </p:cNvPr>
          <p:cNvSpPr>
            <a:spLocks noGrp="1"/>
          </p:cNvSpPr>
          <p:nvPr>
            <p:ph type="dt" sz="half" idx="10"/>
          </p:nvPr>
        </p:nvSpPr>
        <p:spPr/>
        <p:txBody>
          <a:bodyPr/>
          <a:lstStyle/>
          <a:p>
            <a:fld id="{BE8F87E9-D7B0-4A1A-B895-918C8A80D4E3}" type="datetimeFigureOut">
              <a:rPr lang="en-IN" smtClean="0"/>
              <a:t>22-07-2026</a:t>
            </a:fld>
            <a:endParaRPr lang="en-IN"/>
          </a:p>
        </p:txBody>
      </p:sp>
      <p:sp>
        <p:nvSpPr>
          <p:cNvPr id="5" name="Footer Placeholder 4">
            <a:extLst>
              <a:ext uri="{FF2B5EF4-FFF2-40B4-BE49-F238E27FC236}">
                <a16:creationId xmlns:a16="http://schemas.microsoft.com/office/drawing/2014/main" id="{851D4453-FBDF-487D-4875-487B2E919D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26065D-FC8C-7BA2-19ED-170B248D3E82}"/>
              </a:ext>
            </a:extLst>
          </p:cNvPr>
          <p:cNvSpPr>
            <a:spLocks noGrp="1"/>
          </p:cNvSpPr>
          <p:nvPr>
            <p:ph type="sldNum" sz="quarter" idx="12"/>
          </p:nvPr>
        </p:nvSpPr>
        <p:spPr/>
        <p:txBody>
          <a:bodyPr/>
          <a:lstStyle/>
          <a:p>
            <a:fld id="{DB6EF7F9-D5A8-4D23-8E3A-60D9AC9C9591}" type="slidenum">
              <a:rPr lang="en-IN" smtClean="0"/>
              <a:t>‹#›</a:t>
            </a:fld>
            <a:endParaRPr lang="en-IN"/>
          </a:p>
        </p:txBody>
      </p:sp>
    </p:spTree>
    <p:extLst>
      <p:ext uri="{BB962C8B-B14F-4D97-AF65-F5344CB8AC3E}">
        <p14:creationId xmlns:p14="http://schemas.microsoft.com/office/powerpoint/2010/main" val="2650814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CCC2F6-7723-71B0-41D0-B352F23E150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D1CF20-58A6-0F73-7158-C9D0F4D124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2D1FFE-2142-1FEA-1DAB-F0C7B6922C5C}"/>
              </a:ext>
            </a:extLst>
          </p:cNvPr>
          <p:cNvSpPr>
            <a:spLocks noGrp="1"/>
          </p:cNvSpPr>
          <p:nvPr>
            <p:ph type="dt" sz="half" idx="10"/>
          </p:nvPr>
        </p:nvSpPr>
        <p:spPr/>
        <p:txBody>
          <a:bodyPr/>
          <a:lstStyle/>
          <a:p>
            <a:fld id="{BE8F87E9-D7B0-4A1A-B895-918C8A80D4E3}" type="datetimeFigureOut">
              <a:rPr lang="en-IN" smtClean="0"/>
              <a:t>22-07-2026</a:t>
            </a:fld>
            <a:endParaRPr lang="en-IN"/>
          </a:p>
        </p:txBody>
      </p:sp>
      <p:sp>
        <p:nvSpPr>
          <p:cNvPr id="5" name="Footer Placeholder 4">
            <a:extLst>
              <a:ext uri="{FF2B5EF4-FFF2-40B4-BE49-F238E27FC236}">
                <a16:creationId xmlns:a16="http://schemas.microsoft.com/office/drawing/2014/main" id="{858E1784-9C24-7820-A10F-BE510CBBCB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18B4A3-D82A-E4CA-B60C-D4E5A83A6778}"/>
              </a:ext>
            </a:extLst>
          </p:cNvPr>
          <p:cNvSpPr>
            <a:spLocks noGrp="1"/>
          </p:cNvSpPr>
          <p:nvPr>
            <p:ph type="sldNum" sz="quarter" idx="12"/>
          </p:nvPr>
        </p:nvSpPr>
        <p:spPr/>
        <p:txBody>
          <a:bodyPr/>
          <a:lstStyle/>
          <a:p>
            <a:fld id="{DB6EF7F9-D5A8-4D23-8E3A-60D9AC9C9591}" type="slidenum">
              <a:rPr lang="en-IN" smtClean="0"/>
              <a:t>‹#›</a:t>
            </a:fld>
            <a:endParaRPr lang="en-IN"/>
          </a:p>
        </p:txBody>
      </p:sp>
    </p:spTree>
    <p:extLst>
      <p:ext uri="{BB962C8B-B14F-4D97-AF65-F5344CB8AC3E}">
        <p14:creationId xmlns:p14="http://schemas.microsoft.com/office/powerpoint/2010/main" val="135862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D76022-3715-A4EB-EAFC-D40E5035AD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B3C6329-1638-2D45-263F-65AEA0ABC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1EA299-958E-BE82-9112-4E56BAC0A1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8F87E9-D7B0-4A1A-B895-918C8A80D4E3}" type="datetimeFigureOut">
              <a:rPr lang="en-IN" smtClean="0"/>
              <a:t>22-07-2026</a:t>
            </a:fld>
            <a:endParaRPr lang="en-IN"/>
          </a:p>
        </p:txBody>
      </p:sp>
      <p:sp>
        <p:nvSpPr>
          <p:cNvPr id="5" name="Footer Placeholder 4">
            <a:extLst>
              <a:ext uri="{FF2B5EF4-FFF2-40B4-BE49-F238E27FC236}">
                <a16:creationId xmlns:a16="http://schemas.microsoft.com/office/drawing/2014/main" id="{499DDD56-4C87-A71F-492E-1CE8CC4A3F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822A8A5-6A56-2608-5CEB-030730D2CC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6EF7F9-D5A8-4D23-8E3A-60D9AC9C9591}" type="slidenum">
              <a:rPr lang="en-IN" smtClean="0"/>
              <a:t>‹#›</a:t>
            </a:fld>
            <a:endParaRPr lang="en-IN"/>
          </a:p>
        </p:txBody>
      </p:sp>
    </p:spTree>
    <p:extLst>
      <p:ext uri="{BB962C8B-B14F-4D97-AF65-F5344CB8AC3E}">
        <p14:creationId xmlns:p14="http://schemas.microsoft.com/office/powerpoint/2010/main" val="15845932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DBDDF-0B70-3E5D-E6C7-CFAB6DFCC351}"/>
              </a:ext>
            </a:extLst>
          </p:cNvPr>
          <p:cNvSpPr>
            <a:spLocks noGrp="1"/>
          </p:cNvSpPr>
          <p:nvPr>
            <p:ph type="title"/>
          </p:nvPr>
        </p:nvSpPr>
        <p:spPr>
          <a:xfrm>
            <a:off x="838200" y="365125"/>
            <a:ext cx="10515600" cy="726557"/>
          </a:xfrm>
        </p:spPr>
        <p:txBody>
          <a:bodyPr/>
          <a:lstStyle/>
          <a:p>
            <a:r>
              <a:rPr lang="en-US" dirty="0"/>
              <a:t>Safety Policy</a:t>
            </a:r>
            <a:endParaRPr lang="en-IN" dirty="0"/>
          </a:p>
        </p:txBody>
      </p:sp>
      <p:sp>
        <p:nvSpPr>
          <p:cNvPr id="3" name="Content Placeholder 2">
            <a:extLst>
              <a:ext uri="{FF2B5EF4-FFF2-40B4-BE49-F238E27FC236}">
                <a16:creationId xmlns:a16="http://schemas.microsoft.com/office/drawing/2014/main" id="{C43C9AB8-0164-5937-A10A-EEC8FC229DA7}"/>
              </a:ext>
            </a:extLst>
          </p:cNvPr>
          <p:cNvSpPr>
            <a:spLocks noGrp="1"/>
          </p:cNvSpPr>
          <p:nvPr>
            <p:ph idx="1"/>
          </p:nvPr>
        </p:nvSpPr>
        <p:spPr>
          <a:xfrm>
            <a:off x="838200" y="1184988"/>
            <a:ext cx="10515600" cy="5430416"/>
          </a:xfrm>
        </p:spPr>
        <p:txBody>
          <a:bodyPr>
            <a:normAutofit/>
          </a:bodyPr>
          <a:lstStyle/>
          <a:p>
            <a:r>
              <a:rPr lang="en-US" sz="2000" dirty="0"/>
              <a:t>An organization's safety policy is a recognized, written statement of its commitment to protect the health and safety of the employees and the surrounding community. </a:t>
            </a:r>
          </a:p>
          <a:p>
            <a:r>
              <a:rPr lang="en-US" sz="2000" dirty="0"/>
              <a:t>The safety policy also details the measures the company takes and will take to protect their employees' life, limb, and health, often surpassing the requirements set out by the laws or the standard practices of the industry. </a:t>
            </a:r>
          </a:p>
          <a:p>
            <a:r>
              <a:rPr lang="en-US" sz="2000" dirty="0"/>
              <a:t>The Occupational Health and Safety Act requires employers to develop and implement a safety policy. </a:t>
            </a:r>
          </a:p>
          <a:p>
            <a:r>
              <a:rPr lang="en-US" sz="2000" dirty="0"/>
              <a:t>To succeed, a safety policy requires commitment and endorsement from the employer and employee buy-in. </a:t>
            </a:r>
          </a:p>
          <a:p>
            <a:r>
              <a:rPr lang="en-US" sz="2000" dirty="0"/>
              <a:t>There are generally three sections in a safety policy, which include: </a:t>
            </a:r>
          </a:p>
          <a:p>
            <a:pPr lvl="1"/>
            <a:r>
              <a:rPr lang="en-US" sz="2000" b="1" dirty="0"/>
              <a:t>Statement of the policy </a:t>
            </a:r>
            <a:r>
              <a:rPr lang="en-US" sz="2000" dirty="0"/>
              <a:t>- The employer's commitment to managing health and safety and the goal of the policy </a:t>
            </a:r>
          </a:p>
          <a:p>
            <a:pPr lvl="1"/>
            <a:r>
              <a:rPr lang="en-US" sz="2000" b="1" dirty="0"/>
              <a:t>Responsibility </a:t>
            </a:r>
            <a:r>
              <a:rPr lang="en-US" sz="2000" dirty="0"/>
              <a:t>- Stating who is responsible for implementing, enacting, and tracking each element of the policy </a:t>
            </a:r>
          </a:p>
          <a:p>
            <a:pPr lvl="1"/>
            <a:r>
              <a:rPr lang="en-US" sz="2000" b="1" dirty="0"/>
              <a:t>Arrangements or procedures</a:t>
            </a:r>
            <a:r>
              <a:rPr lang="en-US" sz="2000" dirty="0"/>
              <a:t> - Outlines the details of procedures including the reduction of hazard policy</a:t>
            </a:r>
          </a:p>
        </p:txBody>
      </p:sp>
    </p:spTree>
    <p:extLst>
      <p:ext uri="{BB962C8B-B14F-4D97-AF65-F5344CB8AC3E}">
        <p14:creationId xmlns:p14="http://schemas.microsoft.com/office/powerpoint/2010/main" val="793516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DBDDF-0B70-3E5D-E6C7-CFAB6DFCC351}"/>
              </a:ext>
            </a:extLst>
          </p:cNvPr>
          <p:cNvSpPr>
            <a:spLocks noGrp="1"/>
          </p:cNvSpPr>
          <p:nvPr>
            <p:ph type="title"/>
          </p:nvPr>
        </p:nvSpPr>
        <p:spPr/>
        <p:txBody>
          <a:bodyPr/>
          <a:lstStyle/>
          <a:p>
            <a:r>
              <a:rPr lang="en-US" dirty="0"/>
              <a:t>Safety Policy</a:t>
            </a:r>
            <a:endParaRPr lang="en-IN" dirty="0"/>
          </a:p>
        </p:txBody>
      </p:sp>
      <p:sp>
        <p:nvSpPr>
          <p:cNvPr id="3" name="Content Placeholder 2">
            <a:extLst>
              <a:ext uri="{FF2B5EF4-FFF2-40B4-BE49-F238E27FC236}">
                <a16:creationId xmlns:a16="http://schemas.microsoft.com/office/drawing/2014/main" id="{C43C9AB8-0164-5937-A10A-EEC8FC229DA7}"/>
              </a:ext>
            </a:extLst>
          </p:cNvPr>
          <p:cNvSpPr>
            <a:spLocks noGrp="1"/>
          </p:cNvSpPr>
          <p:nvPr>
            <p:ph idx="1"/>
          </p:nvPr>
        </p:nvSpPr>
        <p:spPr/>
        <p:txBody>
          <a:bodyPr>
            <a:normAutofit/>
          </a:bodyPr>
          <a:lstStyle/>
          <a:p>
            <a:r>
              <a:rPr lang="en-US" dirty="0"/>
              <a:t>It may also include details about the following: </a:t>
            </a:r>
          </a:p>
          <a:p>
            <a:pPr lvl="1"/>
            <a:r>
              <a:rPr lang="en-US" dirty="0"/>
              <a:t>Employee training </a:t>
            </a:r>
          </a:p>
          <a:p>
            <a:pPr lvl="1"/>
            <a:r>
              <a:rPr lang="en-US" dirty="0"/>
              <a:t>Use of administrative controls, hazard isolation, locking, warnings, signs and symbols marking hazards, etc. </a:t>
            </a:r>
          </a:p>
          <a:p>
            <a:pPr lvl="1"/>
            <a:r>
              <a:rPr lang="en-US" dirty="0"/>
              <a:t>Use of personal protective equipment (PPE) </a:t>
            </a:r>
          </a:p>
          <a:p>
            <a:pPr lvl="1"/>
            <a:r>
              <a:rPr lang="en-US" dirty="0"/>
              <a:t>Removing hazardous materials or replacing them with less harmful alternatives </a:t>
            </a:r>
          </a:p>
          <a:p>
            <a:pPr lvl="1"/>
            <a:r>
              <a:rPr lang="en-US" dirty="0"/>
              <a:t>Improved lighting and working environment </a:t>
            </a:r>
          </a:p>
          <a:p>
            <a:pPr lvl="1"/>
            <a:r>
              <a:rPr lang="en-US" dirty="0"/>
              <a:t>Prevention of slip, trip, and fall incidents </a:t>
            </a:r>
            <a:endParaRPr lang="en-IN" dirty="0"/>
          </a:p>
        </p:txBody>
      </p:sp>
    </p:spTree>
    <p:extLst>
      <p:ext uri="{BB962C8B-B14F-4D97-AF65-F5344CB8AC3E}">
        <p14:creationId xmlns:p14="http://schemas.microsoft.com/office/powerpoint/2010/main" val="618525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85FA4-2554-5A33-102D-5F17B1B82D04}"/>
              </a:ext>
            </a:extLst>
          </p:cNvPr>
          <p:cNvSpPr>
            <a:spLocks noGrp="1"/>
          </p:cNvSpPr>
          <p:nvPr>
            <p:ph type="title"/>
          </p:nvPr>
        </p:nvSpPr>
        <p:spPr/>
        <p:txBody>
          <a:bodyPr/>
          <a:lstStyle/>
          <a:p>
            <a:r>
              <a:rPr lang="en-IN" dirty="0"/>
              <a:t>Safety Officer</a:t>
            </a:r>
          </a:p>
        </p:txBody>
      </p:sp>
      <p:sp>
        <p:nvSpPr>
          <p:cNvPr id="3" name="Content Placeholder 2">
            <a:extLst>
              <a:ext uri="{FF2B5EF4-FFF2-40B4-BE49-F238E27FC236}">
                <a16:creationId xmlns:a16="http://schemas.microsoft.com/office/drawing/2014/main" id="{45D238C1-3B9E-4242-DC3C-BC117BC5B59E}"/>
              </a:ext>
            </a:extLst>
          </p:cNvPr>
          <p:cNvSpPr>
            <a:spLocks noGrp="1"/>
          </p:cNvSpPr>
          <p:nvPr>
            <p:ph idx="1"/>
          </p:nvPr>
        </p:nvSpPr>
        <p:spPr/>
        <p:txBody>
          <a:bodyPr>
            <a:normAutofit/>
          </a:bodyPr>
          <a:lstStyle/>
          <a:p>
            <a:r>
              <a:rPr lang="en-US" sz="2400" dirty="0"/>
              <a:t>A hundred things happen at once in an organization. And each of these activities needs to take place in a safe environment.</a:t>
            </a:r>
          </a:p>
          <a:p>
            <a:r>
              <a:rPr lang="en-US" sz="2400" dirty="0"/>
              <a:t>So, it’s crucial to have a person in your company who can recognize what could go wrong, act when something goes wrong, and be willing to take ownership of the </a:t>
            </a:r>
            <a:r>
              <a:rPr lang="en-IN" sz="2400" dirty="0"/>
              <a:t>situation.</a:t>
            </a:r>
          </a:p>
          <a:p>
            <a:r>
              <a:rPr lang="en-US" sz="2400" dirty="0"/>
              <a:t>This is where the role of a safety officer comes in.</a:t>
            </a:r>
          </a:p>
          <a:p>
            <a:r>
              <a:rPr lang="en-US" sz="2400" dirty="0"/>
              <a:t>The safety officer is an internal employee who is assigned to prevent accidents, respond to emergencies and evaluate the effectiveness of the company’s safety </a:t>
            </a:r>
            <a:r>
              <a:rPr lang="en-IN" sz="2400" dirty="0"/>
              <a:t>programs.</a:t>
            </a:r>
          </a:p>
          <a:p>
            <a:r>
              <a:rPr lang="en-US" sz="2400" dirty="0"/>
              <a:t>A safety officer identifies safety hazards, investigates them thoroughly, and controls them before someone gets hurt.</a:t>
            </a:r>
            <a:endParaRPr lang="en-IN" sz="2400" dirty="0"/>
          </a:p>
        </p:txBody>
      </p:sp>
    </p:spTree>
    <p:extLst>
      <p:ext uri="{BB962C8B-B14F-4D97-AF65-F5344CB8AC3E}">
        <p14:creationId xmlns:p14="http://schemas.microsoft.com/office/powerpoint/2010/main" val="357295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6D181-E207-6B7D-98EE-104E7FAD5B45}"/>
              </a:ext>
            </a:extLst>
          </p:cNvPr>
          <p:cNvSpPr>
            <a:spLocks noGrp="1"/>
          </p:cNvSpPr>
          <p:nvPr>
            <p:ph type="title"/>
          </p:nvPr>
        </p:nvSpPr>
        <p:spPr/>
        <p:txBody>
          <a:bodyPr/>
          <a:lstStyle/>
          <a:p>
            <a:r>
              <a:rPr lang="en-IN" dirty="0"/>
              <a:t>Safety Officer</a:t>
            </a:r>
          </a:p>
        </p:txBody>
      </p:sp>
      <p:sp>
        <p:nvSpPr>
          <p:cNvPr id="3" name="Content Placeholder 2">
            <a:extLst>
              <a:ext uri="{FF2B5EF4-FFF2-40B4-BE49-F238E27FC236}">
                <a16:creationId xmlns:a16="http://schemas.microsoft.com/office/drawing/2014/main" id="{A01DB627-850E-C8A4-0684-1743A98A9C8A}"/>
              </a:ext>
            </a:extLst>
          </p:cNvPr>
          <p:cNvSpPr>
            <a:spLocks noGrp="1"/>
          </p:cNvSpPr>
          <p:nvPr>
            <p:ph idx="1"/>
          </p:nvPr>
        </p:nvSpPr>
        <p:spPr/>
        <p:txBody>
          <a:bodyPr>
            <a:normAutofit/>
          </a:bodyPr>
          <a:lstStyle/>
          <a:p>
            <a:r>
              <a:rPr lang="en-US" sz="2400" dirty="0"/>
              <a:t>The safety officer is the ‘head’ of the safety department and, in most organizations, reports to the Chief Operations Officer.</a:t>
            </a:r>
          </a:p>
          <a:p>
            <a:r>
              <a:rPr lang="en-US" sz="2400" dirty="0"/>
              <a:t>The safety officer also checks if the safety program is working effectively and efficiently to meet all requirements.</a:t>
            </a:r>
          </a:p>
          <a:p>
            <a:r>
              <a:rPr lang="en-US" sz="2400" dirty="0"/>
              <a:t>The role of a safety officer can vary from company to company, but they all have one thing in common — ensuring the safety of everyone in the workplace.</a:t>
            </a:r>
          </a:p>
          <a:p>
            <a:r>
              <a:rPr lang="en-US" sz="2400" dirty="0"/>
              <a:t>They verify that everyone on the site is following safe work practices and doing </a:t>
            </a:r>
            <a:r>
              <a:rPr lang="en-IN" sz="2400" dirty="0"/>
              <a:t>their jobs safely.</a:t>
            </a:r>
          </a:p>
        </p:txBody>
      </p:sp>
    </p:spTree>
    <p:extLst>
      <p:ext uri="{BB962C8B-B14F-4D97-AF65-F5344CB8AC3E}">
        <p14:creationId xmlns:p14="http://schemas.microsoft.com/office/powerpoint/2010/main" val="605649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C72B7-EB06-03E7-4B08-D1A73F74816A}"/>
              </a:ext>
            </a:extLst>
          </p:cNvPr>
          <p:cNvSpPr>
            <a:spLocks noGrp="1"/>
          </p:cNvSpPr>
          <p:nvPr>
            <p:ph type="title"/>
          </p:nvPr>
        </p:nvSpPr>
        <p:spPr/>
        <p:txBody>
          <a:bodyPr/>
          <a:lstStyle/>
          <a:p>
            <a:r>
              <a:rPr lang="en-US" dirty="0"/>
              <a:t>Qualifications of the safety professional</a:t>
            </a:r>
            <a:endParaRPr lang="en-IN" dirty="0"/>
          </a:p>
        </p:txBody>
      </p:sp>
      <p:sp>
        <p:nvSpPr>
          <p:cNvPr id="3" name="Content Placeholder 2">
            <a:extLst>
              <a:ext uri="{FF2B5EF4-FFF2-40B4-BE49-F238E27FC236}">
                <a16:creationId xmlns:a16="http://schemas.microsoft.com/office/drawing/2014/main" id="{9CAB1B33-3FBE-D6BE-F585-F97E2F38E604}"/>
              </a:ext>
            </a:extLst>
          </p:cNvPr>
          <p:cNvSpPr>
            <a:spLocks noGrp="1"/>
          </p:cNvSpPr>
          <p:nvPr>
            <p:ph idx="1"/>
          </p:nvPr>
        </p:nvSpPr>
        <p:spPr/>
        <p:txBody>
          <a:bodyPr>
            <a:normAutofit/>
          </a:bodyPr>
          <a:lstStyle/>
          <a:p>
            <a:pPr marL="514350" indent="-514350">
              <a:buFont typeface="+mj-lt"/>
              <a:buAutoNum type="arabicPeriod"/>
            </a:pPr>
            <a:r>
              <a:rPr lang="en-US" sz="2400" dirty="0"/>
              <a:t>He should possess a recognized degree in any branch of engineering or technology or physics or chemistry and have sufficient practical </a:t>
            </a:r>
            <a:r>
              <a:rPr lang="en-IN" sz="2400" dirty="0"/>
              <a:t>experience of working</a:t>
            </a:r>
          </a:p>
          <a:p>
            <a:pPr marL="514350" indent="-514350">
              <a:buFont typeface="+mj-lt"/>
              <a:buAutoNum type="arabicPeriod"/>
            </a:pPr>
            <a:r>
              <a:rPr lang="en-US" sz="2400" dirty="0"/>
              <a:t>Possess a degree or diploma in industrial safety recognized by the </a:t>
            </a:r>
            <a:r>
              <a:rPr lang="en-IN" sz="2400" dirty="0"/>
              <a:t>Central Government.</a:t>
            </a:r>
          </a:p>
          <a:p>
            <a:pPr marL="514350" indent="-514350">
              <a:buFont typeface="+mj-lt"/>
              <a:buAutoNum type="arabicPeriod"/>
            </a:pPr>
            <a:r>
              <a:rPr lang="en-US" sz="2400" dirty="0"/>
              <a:t>Has adequate knowledge of the language spoken by majority of the workers in the industry which he has appointed.</a:t>
            </a:r>
            <a:endParaRPr lang="en-IN" sz="2400" dirty="0"/>
          </a:p>
        </p:txBody>
      </p:sp>
    </p:spTree>
    <p:extLst>
      <p:ext uri="{BB962C8B-B14F-4D97-AF65-F5344CB8AC3E}">
        <p14:creationId xmlns:p14="http://schemas.microsoft.com/office/powerpoint/2010/main" val="3219847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AEEF1-58B1-552F-4922-BC1EF21A385D}"/>
              </a:ext>
            </a:extLst>
          </p:cNvPr>
          <p:cNvSpPr>
            <a:spLocks noGrp="1"/>
          </p:cNvSpPr>
          <p:nvPr>
            <p:ph type="title"/>
          </p:nvPr>
        </p:nvSpPr>
        <p:spPr>
          <a:xfrm>
            <a:off x="838200" y="365126"/>
            <a:ext cx="10515600" cy="903838"/>
          </a:xfrm>
        </p:spPr>
        <p:txBody>
          <a:bodyPr/>
          <a:lstStyle/>
          <a:p>
            <a:r>
              <a:rPr lang="en-IN" dirty="0"/>
              <a:t>Duties of safety officer</a:t>
            </a:r>
          </a:p>
        </p:txBody>
      </p:sp>
      <p:sp>
        <p:nvSpPr>
          <p:cNvPr id="3" name="Content Placeholder 2">
            <a:extLst>
              <a:ext uri="{FF2B5EF4-FFF2-40B4-BE49-F238E27FC236}">
                <a16:creationId xmlns:a16="http://schemas.microsoft.com/office/drawing/2014/main" id="{7CE603D9-64F8-BDC8-4AED-418CC1EFF2BB}"/>
              </a:ext>
            </a:extLst>
          </p:cNvPr>
          <p:cNvSpPr>
            <a:spLocks noGrp="1"/>
          </p:cNvSpPr>
          <p:nvPr>
            <p:ph idx="1"/>
          </p:nvPr>
        </p:nvSpPr>
        <p:spPr>
          <a:xfrm>
            <a:off x="838199" y="1418254"/>
            <a:ext cx="10974355" cy="5074622"/>
          </a:xfrm>
        </p:spPr>
        <p:txBody>
          <a:bodyPr>
            <a:normAutofit fontScale="92500" lnSpcReduction="20000"/>
          </a:bodyPr>
          <a:lstStyle/>
          <a:p>
            <a:pPr marL="514350" indent="-514350">
              <a:lnSpc>
                <a:spcPct val="110000"/>
              </a:lnSpc>
              <a:buFont typeface="+mj-lt"/>
              <a:buAutoNum type="arabicPeriod"/>
            </a:pPr>
            <a:r>
              <a:rPr lang="en-US" sz="2400" dirty="0"/>
              <a:t>To advice the concerned departments in planning and organizing measures necessary for the effective control of personal injuries</a:t>
            </a:r>
          </a:p>
          <a:p>
            <a:pPr marL="514350" indent="-514350">
              <a:lnSpc>
                <a:spcPct val="110000"/>
              </a:lnSpc>
              <a:buFont typeface="+mj-lt"/>
              <a:buAutoNum type="arabicPeriod"/>
            </a:pPr>
            <a:r>
              <a:rPr lang="en-US" sz="2400" dirty="0"/>
              <a:t>To advice on safety aspects on all departmental work, and to carry out detailed job safety studies of selected work.</a:t>
            </a:r>
          </a:p>
          <a:p>
            <a:pPr marL="514350" indent="-514350">
              <a:lnSpc>
                <a:spcPct val="110000"/>
              </a:lnSpc>
              <a:buFont typeface="+mj-lt"/>
              <a:buAutoNum type="arabicPeriod"/>
            </a:pPr>
            <a:r>
              <a:rPr lang="en-US" sz="2400" dirty="0"/>
              <a:t>To check and evaluate the effectiveness of the action taken or proposed to be taken </a:t>
            </a:r>
            <a:r>
              <a:rPr lang="en-IN" sz="2400" dirty="0"/>
              <a:t>to prevent personal injuries</a:t>
            </a:r>
          </a:p>
          <a:p>
            <a:pPr marL="514350" indent="-514350">
              <a:lnSpc>
                <a:spcPct val="110000"/>
              </a:lnSpc>
              <a:buFont typeface="+mj-lt"/>
              <a:buAutoNum type="arabicPeriod"/>
            </a:pPr>
            <a:r>
              <a:rPr lang="en-US" sz="2400" dirty="0"/>
              <a:t>To advice purchasing and stores departments in ensuring high quality and availability of personal protective equipment</a:t>
            </a:r>
          </a:p>
          <a:p>
            <a:pPr marL="514350" indent="-514350">
              <a:lnSpc>
                <a:spcPct val="110000"/>
              </a:lnSpc>
              <a:buFont typeface="+mj-lt"/>
              <a:buAutoNum type="arabicPeriod"/>
            </a:pPr>
            <a:r>
              <a:rPr lang="en-US" sz="2400" dirty="0"/>
              <a:t>To carry out safety inspections of industry, in order to observe the physical conditions of work and the work practices and procedures followed by workers and to render advice on measures to be adopted for removing the unsafe physical conditions and preventing unsafe actions by workers.</a:t>
            </a:r>
          </a:p>
          <a:p>
            <a:pPr marL="514350" indent="-514350">
              <a:lnSpc>
                <a:spcPct val="110000"/>
              </a:lnSpc>
              <a:buFont typeface="+mj-lt"/>
              <a:buAutoNum type="arabicPeriod"/>
            </a:pPr>
            <a:r>
              <a:rPr lang="en-US" sz="2400" dirty="0"/>
              <a:t>To investigate the cases of occupational diseases contracted and reportable </a:t>
            </a:r>
            <a:r>
              <a:rPr lang="en-IN" sz="2400" dirty="0"/>
              <a:t>dangerous occurrences</a:t>
            </a:r>
          </a:p>
        </p:txBody>
      </p:sp>
    </p:spTree>
    <p:extLst>
      <p:ext uri="{BB962C8B-B14F-4D97-AF65-F5344CB8AC3E}">
        <p14:creationId xmlns:p14="http://schemas.microsoft.com/office/powerpoint/2010/main" val="131929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D765E-CDA5-2A0F-86F7-E5576D0950B4}"/>
              </a:ext>
            </a:extLst>
          </p:cNvPr>
          <p:cNvSpPr>
            <a:spLocks noGrp="1"/>
          </p:cNvSpPr>
          <p:nvPr>
            <p:ph type="title"/>
          </p:nvPr>
        </p:nvSpPr>
        <p:spPr/>
        <p:txBody>
          <a:bodyPr/>
          <a:lstStyle/>
          <a:p>
            <a:r>
              <a:rPr lang="en-IN" dirty="0"/>
              <a:t>Duties of safety officer</a:t>
            </a:r>
          </a:p>
        </p:txBody>
      </p:sp>
      <p:sp>
        <p:nvSpPr>
          <p:cNvPr id="3" name="Content Placeholder 2">
            <a:extLst>
              <a:ext uri="{FF2B5EF4-FFF2-40B4-BE49-F238E27FC236}">
                <a16:creationId xmlns:a16="http://schemas.microsoft.com/office/drawing/2014/main" id="{B509B172-BCCB-D1E0-CB6F-8EF1458A4DAF}"/>
              </a:ext>
            </a:extLst>
          </p:cNvPr>
          <p:cNvSpPr>
            <a:spLocks noGrp="1"/>
          </p:cNvSpPr>
          <p:nvPr>
            <p:ph idx="1"/>
          </p:nvPr>
        </p:nvSpPr>
        <p:spPr>
          <a:xfrm>
            <a:off x="838200" y="1539551"/>
            <a:ext cx="10515600" cy="5066522"/>
          </a:xfrm>
        </p:spPr>
        <p:txBody>
          <a:bodyPr>
            <a:normAutofit/>
          </a:bodyPr>
          <a:lstStyle/>
          <a:p>
            <a:pPr marL="514350" indent="-514350">
              <a:lnSpc>
                <a:spcPct val="120000"/>
              </a:lnSpc>
              <a:buFont typeface="+mj-lt"/>
              <a:buAutoNum type="arabicPeriod" startAt="7"/>
            </a:pPr>
            <a:r>
              <a:rPr lang="en-US" sz="2400" dirty="0"/>
              <a:t>To advice maintenance of such records as are necessary relating to accidents, dangerous </a:t>
            </a:r>
            <a:r>
              <a:rPr lang="en-IN" sz="2400" dirty="0"/>
              <a:t>occurrences and occupational diseases.</a:t>
            </a:r>
          </a:p>
          <a:p>
            <a:pPr marL="514350" indent="-514350">
              <a:lnSpc>
                <a:spcPct val="120000"/>
              </a:lnSpc>
              <a:buFont typeface="+mj-lt"/>
              <a:buAutoNum type="arabicPeriod" startAt="7"/>
            </a:pPr>
            <a:r>
              <a:rPr lang="en-US" sz="2400" dirty="0"/>
              <a:t>To investigate fatal and other selected accidents</a:t>
            </a:r>
          </a:p>
          <a:p>
            <a:pPr marL="514350" indent="-514350">
              <a:lnSpc>
                <a:spcPct val="120000"/>
              </a:lnSpc>
              <a:buFont typeface="+mj-lt"/>
              <a:buAutoNum type="arabicPeriod" startAt="7"/>
            </a:pPr>
            <a:r>
              <a:rPr lang="en-US" sz="2400" dirty="0"/>
              <a:t>To promote setting up of safety committees and act as advisor and catalyst of such </a:t>
            </a:r>
            <a:r>
              <a:rPr lang="en-IN" sz="2400" dirty="0"/>
              <a:t>committees</a:t>
            </a:r>
          </a:p>
          <a:p>
            <a:pPr marL="514350" indent="-514350">
              <a:lnSpc>
                <a:spcPct val="120000"/>
              </a:lnSpc>
              <a:buFont typeface="+mj-lt"/>
              <a:buAutoNum type="arabicPeriod" startAt="7"/>
            </a:pPr>
            <a:r>
              <a:rPr lang="en-US" sz="2400" dirty="0"/>
              <a:t>To </a:t>
            </a:r>
            <a:r>
              <a:rPr lang="en-US" sz="2400" dirty="0" err="1"/>
              <a:t>organise</a:t>
            </a:r>
            <a:r>
              <a:rPr lang="en-US" sz="2400" dirty="0"/>
              <a:t> in association with the concerned departments, campaigns, competitions, contests and other activities which will develop and maintain the interest of the workers in establishing and maintaining safe conditions of work and procedures</a:t>
            </a:r>
          </a:p>
        </p:txBody>
      </p:sp>
    </p:spTree>
    <p:extLst>
      <p:ext uri="{BB962C8B-B14F-4D97-AF65-F5344CB8AC3E}">
        <p14:creationId xmlns:p14="http://schemas.microsoft.com/office/powerpoint/2010/main" val="2282921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D765E-CDA5-2A0F-86F7-E5576D0950B4}"/>
              </a:ext>
            </a:extLst>
          </p:cNvPr>
          <p:cNvSpPr>
            <a:spLocks noGrp="1"/>
          </p:cNvSpPr>
          <p:nvPr>
            <p:ph type="title"/>
          </p:nvPr>
        </p:nvSpPr>
        <p:spPr/>
        <p:txBody>
          <a:bodyPr/>
          <a:lstStyle/>
          <a:p>
            <a:r>
              <a:rPr lang="en-IN" dirty="0"/>
              <a:t>Duties of safety officer</a:t>
            </a:r>
          </a:p>
        </p:txBody>
      </p:sp>
      <p:sp>
        <p:nvSpPr>
          <p:cNvPr id="3" name="Content Placeholder 2">
            <a:extLst>
              <a:ext uri="{FF2B5EF4-FFF2-40B4-BE49-F238E27FC236}">
                <a16:creationId xmlns:a16="http://schemas.microsoft.com/office/drawing/2014/main" id="{B509B172-BCCB-D1E0-CB6F-8EF1458A4DAF}"/>
              </a:ext>
            </a:extLst>
          </p:cNvPr>
          <p:cNvSpPr>
            <a:spLocks noGrp="1"/>
          </p:cNvSpPr>
          <p:nvPr>
            <p:ph idx="1"/>
          </p:nvPr>
        </p:nvSpPr>
        <p:spPr>
          <a:xfrm>
            <a:off x="838200" y="1539551"/>
            <a:ext cx="10515600" cy="5066522"/>
          </a:xfrm>
        </p:spPr>
        <p:txBody>
          <a:bodyPr>
            <a:normAutofit/>
          </a:bodyPr>
          <a:lstStyle/>
          <a:p>
            <a:pPr marL="514350" indent="-514350">
              <a:lnSpc>
                <a:spcPct val="120000"/>
              </a:lnSpc>
              <a:buFont typeface="+mj-lt"/>
              <a:buAutoNum type="arabicPeriod" startAt="11"/>
            </a:pPr>
            <a:r>
              <a:rPr lang="en-US" sz="2400" dirty="0"/>
              <a:t>To design and conduct either independently or in collaboration with the training department, suitable training and educational </a:t>
            </a:r>
            <a:r>
              <a:rPr lang="en-US" sz="2400" dirty="0" err="1"/>
              <a:t>programmes</a:t>
            </a:r>
            <a:r>
              <a:rPr lang="en-US" sz="2400" dirty="0"/>
              <a:t> for the prevention of accidents to industrial </a:t>
            </a:r>
            <a:r>
              <a:rPr lang="en-IN" sz="2400" dirty="0"/>
              <a:t>workers.</a:t>
            </a:r>
          </a:p>
          <a:p>
            <a:pPr marL="514350" indent="-514350">
              <a:lnSpc>
                <a:spcPct val="120000"/>
              </a:lnSpc>
              <a:buFont typeface="+mj-lt"/>
              <a:buAutoNum type="arabicPeriod" startAt="11"/>
            </a:pPr>
            <a:r>
              <a:rPr lang="en-US" sz="2400" dirty="0"/>
              <a:t>Frame departmental safety rules and are working practices in consultation with the various </a:t>
            </a:r>
            <a:r>
              <a:rPr lang="en-IN" sz="2400" dirty="0"/>
              <a:t>departments or authorities</a:t>
            </a:r>
          </a:p>
          <a:p>
            <a:pPr marL="514350" indent="-514350">
              <a:lnSpc>
                <a:spcPct val="120000"/>
              </a:lnSpc>
              <a:buFont typeface="+mj-lt"/>
              <a:buAutoNum type="arabicPeriod" startAt="11"/>
            </a:pPr>
            <a:r>
              <a:rPr lang="en-US" sz="2400" dirty="0"/>
              <a:t>Supervise and guide in respect of safety precautions to be taken while handling dangerous </a:t>
            </a:r>
            <a:r>
              <a:rPr lang="en-IN" sz="2400" dirty="0"/>
              <a:t>operations</a:t>
            </a:r>
          </a:p>
        </p:txBody>
      </p:sp>
    </p:spTree>
    <p:extLst>
      <p:ext uri="{BB962C8B-B14F-4D97-AF65-F5344CB8AC3E}">
        <p14:creationId xmlns:p14="http://schemas.microsoft.com/office/powerpoint/2010/main" val="2768524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C60FF-8541-F8C9-CD72-F25102B2BAF8}"/>
              </a:ext>
            </a:extLst>
          </p:cNvPr>
          <p:cNvSpPr>
            <a:spLocks noGrp="1"/>
          </p:cNvSpPr>
          <p:nvPr>
            <p:ph type="title"/>
          </p:nvPr>
        </p:nvSpPr>
        <p:spPr/>
        <p:txBody>
          <a:bodyPr/>
          <a:lstStyle/>
          <a:p>
            <a:r>
              <a:rPr lang="en-IN" dirty="0"/>
              <a:t>Safety Committee</a:t>
            </a:r>
          </a:p>
        </p:txBody>
      </p:sp>
      <p:sp>
        <p:nvSpPr>
          <p:cNvPr id="3" name="Content Placeholder 2">
            <a:extLst>
              <a:ext uri="{FF2B5EF4-FFF2-40B4-BE49-F238E27FC236}">
                <a16:creationId xmlns:a16="http://schemas.microsoft.com/office/drawing/2014/main" id="{40BF6C67-BAE1-BF18-E3DD-09316E03E0C9}"/>
              </a:ext>
            </a:extLst>
          </p:cNvPr>
          <p:cNvSpPr>
            <a:spLocks noGrp="1"/>
          </p:cNvSpPr>
          <p:nvPr>
            <p:ph idx="1"/>
          </p:nvPr>
        </p:nvSpPr>
        <p:spPr/>
        <p:txBody>
          <a:bodyPr>
            <a:normAutofit/>
          </a:bodyPr>
          <a:lstStyle/>
          <a:p>
            <a:r>
              <a:rPr lang="en-US" sz="2400" dirty="0"/>
              <a:t>A safety committee is an organization group that operates within a workplace and is composed of members from its various departments, including management, frontline workers, and office staff.</a:t>
            </a:r>
          </a:p>
          <a:p>
            <a:r>
              <a:rPr lang="en-US" sz="2400" dirty="0"/>
              <a:t>Safety committees bring together workers and employers through regularly scheduled meetings where safety issues are addressed. The goal of a safety committee is to create and nurture a culture of safety.</a:t>
            </a:r>
          </a:p>
          <a:p>
            <a:r>
              <a:rPr lang="en-US" sz="2400" dirty="0"/>
              <a:t>The main purpose of a safety committee is to mitigate the risk of workplace injuries </a:t>
            </a:r>
            <a:r>
              <a:rPr lang="en-IN" sz="2400" dirty="0"/>
              <a:t>and illnesses.</a:t>
            </a:r>
          </a:p>
          <a:p>
            <a:r>
              <a:rPr lang="en-US" sz="2400" dirty="0"/>
              <a:t>Its duties also include informing and educating employees about safety issues, setting achievable safety goals for the organization, and fostering a safety culture </a:t>
            </a:r>
            <a:r>
              <a:rPr lang="en-IN" sz="2400" dirty="0"/>
              <a:t>among the workforce</a:t>
            </a:r>
          </a:p>
        </p:txBody>
      </p:sp>
    </p:spTree>
    <p:extLst>
      <p:ext uri="{BB962C8B-B14F-4D97-AF65-F5344CB8AC3E}">
        <p14:creationId xmlns:p14="http://schemas.microsoft.com/office/powerpoint/2010/main" val="865942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A43C-E7D8-B876-D592-191B99C99348}"/>
              </a:ext>
            </a:extLst>
          </p:cNvPr>
          <p:cNvSpPr>
            <a:spLocks noGrp="1"/>
          </p:cNvSpPr>
          <p:nvPr>
            <p:ph type="title"/>
          </p:nvPr>
        </p:nvSpPr>
        <p:spPr/>
        <p:txBody>
          <a:bodyPr/>
          <a:lstStyle/>
          <a:p>
            <a:r>
              <a:rPr lang="en-IN" dirty="0"/>
              <a:t>Safety Committee</a:t>
            </a:r>
          </a:p>
        </p:txBody>
      </p:sp>
      <p:sp>
        <p:nvSpPr>
          <p:cNvPr id="3" name="Content Placeholder 2">
            <a:extLst>
              <a:ext uri="{FF2B5EF4-FFF2-40B4-BE49-F238E27FC236}">
                <a16:creationId xmlns:a16="http://schemas.microsoft.com/office/drawing/2014/main" id="{CE900CD7-6D16-CFA4-794B-C1579C8BCC53}"/>
              </a:ext>
            </a:extLst>
          </p:cNvPr>
          <p:cNvSpPr>
            <a:spLocks noGrp="1"/>
          </p:cNvSpPr>
          <p:nvPr>
            <p:ph idx="1"/>
          </p:nvPr>
        </p:nvSpPr>
        <p:spPr/>
        <p:txBody>
          <a:bodyPr>
            <a:normAutofit/>
          </a:bodyPr>
          <a:lstStyle/>
          <a:p>
            <a:r>
              <a:rPr lang="en-US" sz="2400" dirty="0"/>
              <a:t>Safety committees are typically formal arrangements that hold regular meetings, </a:t>
            </a:r>
            <a:r>
              <a:rPr lang="en-IN" sz="2400" dirty="0"/>
              <a:t>either weekly or monthly.</a:t>
            </a:r>
          </a:p>
          <a:p>
            <a:r>
              <a:rPr lang="en-US" sz="2400" dirty="0"/>
              <a:t>In smaller companies, however, it is common for the safety committee to gather all staff members for a monthly or quarterly safety meeting.</a:t>
            </a:r>
          </a:p>
          <a:p>
            <a:r>
              <a:rPr lang="en-US" sz="2400" dirty="0"/>
              <a:t>An effective safety committee should be large enough to broadly represent the workforce. It should include employees from all levels of the company, from the custodial staff to upper management.</a:t>
            </a:r>
          </a:p>
          <a:p>
            <a:r>
              <a:rPr lang="en-US" sz="2400" dirty="0"/>
              <a:t>Safety committee best practices include making sure that everyone has the opportunity to provide input, post questions, and raise concerns.</a:t>
            </a:r>
            <a:endParaRPr lang="en-IN" sz="2400" dirty="0"/>
          </a:p>
        </p:txBody>
      </p:sp>
    </p:spTree>
    <p:extLst>
      <p:ext uri="{BB962C8B-B14F-4D97-AF65-F5344CB8AC3E}">
        <p14:creationId xmlns:p14="http://schemas.microsoft.com/office/powerpoint/2010/main" val="169773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63A8F-F39A-7B86-4EB7-B59F2D31580E}"/>
              </a:ext>
            </a:extLst>
          </p:cNvPr>
          <p:cNvSpPr>
            <a:spLocks noGrp="1"/>
          </p:cNvSpPr>
          <p:nvPr>
            <p:ph type="title"/>
          </p:nvPr>
        </p:nvSpPr>
        <p:spPr/>
        <p:txBody>
          <a:bodyPr/>
          <a:lstStyle/>
          <a:p>
            <a:r>
              <a:rPr lang="en-IN" dirty="0"/>
              <a:t>Functions of Safety Committee</a:t>
            </a:r>
          </a:p>
        </p:txBody>
      </p:sp>
      <p:sp>
        <p:nvSpPr>
          <p:cNvPr id="3" name="Content Placeholder 2">
            <a:extLst>
              <a:ext uri="{FF2B5EF4-FFF2-40B4-BE49-F238E27FC236}">
                <a16:creationId xmlns:a16="http://schemas.microsoft.com/office/drawing/2014/main" id="{ECDCCFF7-31BF-191F-0213-C146FD1B8F6F}"/>
              </a:ext>
            </a:extLst>
          </p:cNvPr>
          <p:cNvSpPr>
            <a:spLocks noGrp="1"/>
          </p:cNvSpPr>
          <p:nvPr>
            <p:ph idx="1"/>
          </p:nvPr>
        </p:nvSpPr>
        <p:spPr/>
        <p:txBody>
          <a:bodyPr>
            <a:normAutofit lnSpcReduction="10000"/>
          </a:bodyPr>
          <a:lstStyle/>
          <a:p>
            <a:r>
              <a:rPr lang="en-IN" sz="2400" dirty="0"/>
              <a:t>Creating safety policies and developing written safety programs</a:t>
            </a:r>
          </a:p>
          <a:p>
            <a:r>
              <a:rPr lang="en-IN" sz="2400" dirty="0"/>
              <a:t>Promoting safe work practices and enforcing of safety rules</a:t>
            </a:r>
          </a:p>
          <a:p>
            <a:r>
              <a:rPr lang="en-IN" sz="2400" dirty="0"/>
              <a:t>Facilitating safety training</a:t>
            </a:r>
          </a:p>
          <a:p>
            <a:r>
              <a:rPr lang="en-IN" sz="2400" dirty="0"/>
              <a:t>Inspecting the personal protection equipment (PPE) </a:t>
            </a:r>
          </a:p>
          <a:p>
            <a:r>
              <a:rPr lang="en-IN" sz="2400" dirty="0"/>
              <a:t>Performing workplace inspections and measuring safety performance</a:t>
            </a:r>
          </a:p>
          <a:p>
            <a:r>
              <a:rPr lang="en-IN" sz="2400" dirty="0"/>
              <a:t>Carrying out accident investigations</a:t>
            </a:r>
          </a:p>
          <a:p>
            <a:r>
              <a:rPr lang="en-US" sz="2400" dirty="0"/>
              <a:t>Acting as a point of contact between employees and management</a:t>
            </a:r>
          </a:p>
          <a:p>
            <a:r>
              <a:rPr lang="en-US" sz="2400" dirty="0"/>
              <a:t>Reviewing injury and illness records</a:t>
            </a:r>
          </a:p>
          <a:p>
            <a:r>
              <a:rPr lang="en-US" sz="2400" dirty="0"/>
              <a:t>Increasing awareness about workplace safety issues</a:t>
            </a:r>
          </a:p>
          <a:p>
            <a:r>
              <a:rPr lang="en-US" sz="2400" dirty="0"/>
              <a:t>Identifying hazards and recommending appropriate control measures</a:t>
            </a:r>
            <a:endParaRPr lang="en-IN" sz="2400" dirty="0"/>
          </a:p>
        </p:txBody>
      </p:sp>
    </p:spTree>
    <p:extLst>
      <p:ext uri="{BB962C8B-B14F-4D97-AF65-F5344CB8AC3E}">
        <p14:creationId xmlns:p14="http://schemas.microsoft.com/office/powerpoint/2010/main" val="18835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6DCEA3-8F9D-41D8-BD3C-BC178E02E0C7}"/>
              </a:ext>
            </a:extLst>
          </p:cNvPr>
          <p:cNvPicPr>
            <a:picLocks noChangeAspect="1"/>
          </p:cNvPicPr>
          <p:nvPr/>
        </p:nvPicPr>
        <p:blipFill>
          <a:blip r:embed="rId2"/>
          <a:stretch>
            <a:fillRect/>
          </a:stretch>
        </p:blipFill>
        <p:spPr>
          <a:xfrm>
            <a:off x="2761784" y="2572814"/>
            <a:ext cx="6999998" cy="720000"/>
          </a:xfrm>
          <a:prstGeom prst="rect">
            <a:avLst/>
          </a:prstGeom>
        </p:spPr>
      </p:pic>
    </p:spTree>
    <p:extLst>
      <p:ext uri="{BB962C8B-B14F-4D97-AF65-F5344CB8AC3E}">
        <p14:creationId xmlns:p14="http://schemas.microsoft.com/office/powerpoint/2010/main" val="552436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9F4A1E-C0CB-4FAE-B11D-DE57F5D0C093}"/>
              </a:ext>
            </a:extLst>
          </p:cNvPr>
          <p:cNvPicPr>
            <a:picLocks noChangeAspect="1"/>
          </p:cNvPicPr>
          <p:nvPr/>
        </p:nvPicPr>
        <p:blipFill>
          <a:blip r:embed="rId2"/>
          <a:stretch>
            <a:fillRect/>
          </a:stretch>
        </p:blipFill>
        <p:spPr>
          <a:xfrm>
            <a:off x="1195090" y="1646785"/>
            <a:ext cx="9569049" cy="2484000"/>
          </a:xfrm>
          <a:prstGeom prst="rect">
            <a:avLst/>
          </a:prstGeom>
        </p:spPr>
      </p:pic>
    </p:spTree>
    <p:extLst>
      <p:ext uri="{BB962C8B-B14F-4D97-AF65-F5344CB8AC3E}">
        <p14:creationId xmlns:p14="http://schemas.microsoft.com/office/powerpoint/2010/main" val="2180761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93C2F0-D96D-4A43-820F-15FA0CB50DCB}"/>
              </a:ext>
            </a:extLst>
          </p:cNvPr>
          <p:cNvPicPr>
            <a:picLocks noChangeAspect="1"/>
          </p:cNvPicPr>
          <p:nvPr/>
        </p:nvPicPr>
        <p:blipFill>
          <a:blip r:embed="rId2"/>
          <a:stretch>
            <a:fillRect/>
          </a:stretch>
        </p:blipFill>
        <p:spPr>
          <a:xfrm>
            <a:off x="963554" y="1471904"/>
            <a:ext cx="10140933" cy="3816000"/>
          </a:xfrm>
          <a:prstGeom prst="rect">
            <a:avLst/>
          </a:prstGeom>
        </p:spPr>
      </p:pic>
    </p:spTree>
    <p:extLst>
      <p:ext uri="{BB962C8B-B14F-4D97-AF65-F5344CB8AC3E}">
        <p14:creationId xmlns:p14="http://schemas.microsoft.com/office/powerpoint/2010/main" val="3680971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303B59-4B9B-4C33-8B70-9D11EDFAFF42}"/>
              </a:ext>
            </a:extLst>
          </p:cNvPr>
          <p:cNvPicPr>
            <a:picLocks noChangeAspect="1"/>
          </p:cNvPicPr>
          <p:nvPr/>
        </p:nvPicPr>
        <p:blipFill>
          <a:blip r:embed="rId2"/>
          <a:stretch>
            <a:fillRect/>
          </a:stretch>
        </p:blipFill>
        <p:spPr>
          <a:xfrm>
            <a:off x="1067252" y="1206127"/>
            <a:ext cx="10169994" cy="3780000"/>
          </a:xfrm>
          <a:prstGeom prst="rect">
            <a:avLst/>
          </a:prstGeom>
        </p:spPr>
      </p:pic>
    </p:spTree>
    <p:extLst>
      <p:ext uri="{BB962C8B-B14F-4D97-AF65-F5344CB8AC3E}">
        <p14:creationId xmlns:p14="http://schemas.microsoft.com/office/powerpoint/2010/main" val="2536723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D80DDD-DC33-4910-A952-AB51D723447C}"/>
              </a:ext>
            </a:extLst>
          </p:cNvPr>
          <p:cNvPicPr>
            <a:picLocks noChangeAspect="1"/>
          </p:cNvPicPr>
          <p:nvPr/>
        </p:nvPicPr>
        <p:blipFill>
          <a:blip r:embed="rId2"/>
          <a:stretch>
            <a:fillRect/>
          </a:stretch>
        </p:blipFill>
        <p:spPr>
          <a:xfrm>
            <a:off x="1063119" y="1313807"/>
            <a:ext cx="10398888" cy="3852000"/>
          </a:xfrm>
          <a:prstGeom prst="rect">
            <a:avLst/>
          </a:prstGeom>
        </p:spPr>
      </p:pic>
    </p:spTree>
    <p:extLst>
      <p:ext uri="{BB962C8B-B14F-4D97-AF65-F5344CB8AC3E}">
        <p14:creationId xmlns:p14="http://schemas.microsoft.com/office/powerpoint/2010/main" val="2272431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BFFBA6-AA29-41C7-ADF7-F72BD908A77F}"/>
              </a:ext>
            </a:extLst>
          </p:cNvPr>
          <p:cNvPicPr>
            <a:picLocks noChangeAspect="1"/>
          </p:cNvPicPr>
          <p:nvPr/>
        </p:nvPicPr>
        <p:blipFill>
          <a:blip r:embed="rId2"/>
          <a:stretch>
            <a:fillRect/>
          </a:stretch>
        </p:blipFill>
        <p:spPr>
          <a:xfrm>
            <a:off x="1578855" y="584120"/>
            <a:ext cx="9265782" cy="5832000"/>
          </a:xfrm>
          <a:prstGeom prst="rect">
            <a:avLst/>
          </a:prstGeom>
        </p:spPr>
      </p:pic>
    </p:spTree>
    <p:extLst>
      <p:ext uri="{BB962C8B-B14F-4D97-AF65-F5344CB8AC3E}">
        <p14:creationId xmlns:p14="http://schemas.microsoft.com/office/powerpoint/2010/main" val="831858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742477-4F6E-4586-B926-E3814D689438}"/>
              </a:ext>
            </a:extLst>
          </p:cNvPr>
          <p:cNvPicPr>
            <a:picLocks noChangeAspect="1"/>
          </p:cNvPicPr>
          <p:nvPr/>
        </p:nvPicPr>
        <p:blipFill>
          <a:blip r:embed="rId2"/>
          <a:stretch>
            <a:fillRect/>
          </a:stretch>
        </p:blipFill>
        <p:spPr>
          <a:xfrm>
            <a:off x="2083632" y="275785"/>
            <a:ext cx="7959777" cy="6306430"/>
          </a:xfrm>
          <a:prstGeom prst="rect">
            <a:avLst/>
          </a:prstGeom>
        </p:spPr>
      </p:pic>
    </p:spTree>
    <p:extLst>
      <p:ext uri="{BB962C8B-B14F-4D97-AF65-F5344CB8AC3E}">
        <p14:creationId xmlns:p14="http://schemas.microsoft.com/office/powerpoint/2010/main" val="3408614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96CE0-8562-461E-BCE0-C58848855553}"/>
              </a:ext>
            </a:extLst>
          </p:cNvPr>
          <p:cNvSpPr>
            <a:spLocks noGrp="1"/>
          </p:cNvSpPr>
          <p:nvPr>
            <p:ph type="title"/>
          </p:nvPr>
        </p:nvSpPr>
        <p:spPr>
          <a:xfrm>
            <a:off x="294968" y="365125"/>
            <a:ext cx="11759380" cy="1325563"/>
          </a:xfrm>
        </p:spPr>
        <p:txBody>
          <a:bodyPr>
            <a:normAutofit/>
          </a:bodyPr>
          <a:lstStyle/>
          <a:p>
            <a:pPr algn="ctr"/>
            <a:r>
              <a:rPr lang="en-US" b="0" i="0" dirty="0">
                <a:solidFill>
                  <a:srgbClr val="424242"/>
                </a:solidFill>
                <a:effectLst/>
                <a:latin typeface="Times New Roman" panose="02020603050405020304" pitchFamily="18" charset="0"/>
                <a:cs typeface="Times New Roman" panose="02020603050405020304" pitchFamily="18" charset="0"/>
              </a:rPr>
              <a:t>The Importance of Establishing a                    Safety Committee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3E5ECD0-B3EB-40CA-B1CC-2C85B92E7340}"/>
              </a:ext>
            </a:extLst>
          </p:cNvPr>
          <p:cNvSpPr>
            <a:spLocks noGrp="1"/>
          </p:cNvSpPr>
          <p:nvPr>
            <p:ph idx="1"/>
          </p:nvPr>
        </p:nvSpPr>
        <p:spPr/>
        <p:txBody>
          <a:bodyPr>
            <a:normAutofit fontScale="85000" lnSpcReduction="10000"/>
          </a:bodyPr>
          <a:lstStyle/>
          <a:p>
            <a:pPr algn="just" rtl="0">
              <a:lnSpc>
                <a:spcPct val="160000"/>
              </a:lnSpc>
            </a:pPr>
            <a:r>
              <a:rPr lang="en-US" b="0" i="0" dirty="0">
                <a:solidFill>
                  <a:srgbClr val="424242"/>
                </a:solidFill>
                <a:effectLst/>
                <a:latin typeface="Times New Roman" panose="02020603050405020304" pitchFamily="18" charset="0"/>
                <a:cs typeface="Times New Roman" panose="02020603050405020304" pitchFamily="18" charset="0"/>
              </a:rPr>
              <a:t>Safety committees help provide an overall perspective of the safety status of the organization. It serves as a visible body that can be approached for safety or health complaints, suggestions, and other types of feedback.</a:t>
            </a:r>
          </a:p>
          <a:p>
            <a:pPr algn="just" rtl="0">
              <a:lnSpc>
                <a:spcPct val="160000"/>
              </a:lnSpc>
            </a:pPr>
            <a:r>
              <a:rPr lang="en-US" b="0" i="0" dirty="0">
                <a:solidFill>
                  <a:srgbClr val="424242"/>
                </a:solidFill>
                <a:effectLst/>
                <a:latin typeface="Times New Roman" panose="02020603050405020304" pitchFamily="18" charset="0"/>
                <a:cs typeface="Times New Roman" panose="02020603050405020304" pitchFamily="18" charset="0"/>
              </a:rPr>
              <a:t>As the committee solely deals with safety-related issues, it ensures that there are employees focused on and dedicated to coordinating safety-related activities. It also encourages and motivates employees to follow safety standards and signals to them that the organization is taking measures to protect their wellbeing.</a:t>
            </a:r>
          </a:p>
        </p:txBody>
      </p:sp>
    </p:spTree>
    <p:extLst>
      <p:ext uri="{BB962C8B-B14F-4D97-AF65-F5344CB8AC3E}">
        <p14:creationId xmlns:p14="http://schemas.microsoft.com/office/powerpoint/2010/main" val="41089589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1175</Words>
  <Application>Microsoft Office PowerPoint</Application>
  <PresentationFormat>Widescreen</PresentationFormat>
  <Paragraphs>72</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Times New Roman</vt:lpstr>
      <vt:lpstr>Office Theme</vt:lpstr>
      <vt:lpstr>Safety Policy</vt:lpstr>
      <vt:lpstr>Safety Policy</vt:lpstr>
      <vt:lpstr>Safety Officer</vt:lpstr>
      <vt:lpstr>Safety Officer</vt:lpstr>
      <vt:lpstr>Qualifications of the safety professional</vt:lpstr>
      <vt:lpstr>Duties of safety officer</vt:lpstr>
      <vt:lpstr>Duties of safety officer</vt:lpstr>
      <vt:lpstr>Duties of safety officer</vt:lpstr>
      <vt:lpstr>Safety Committee</vt:lpstr>
      <vt:lpstr>Safety Committee</vt:lpstr>
      <vt:lpstr>Functions of Safety Committee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Importance of Establishing a                    Safety Committee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2026-07-22T04:54:53Z</dcterms:created>
  <dcterms:modified xsi:type="dcterms:W3CDTF">2026-07-22T04:56:56Z</dcterms:modified>
</cp:coreProperties>
</file>