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427" r:id="rId2"/>
    <p:sldId id="429" r:id="rId3"/>
    <p:sldId id="430" r:id="rId4"/>
    <p:sldId id="431" r:id="rId5"/>
    <p:sldId id="433" r:id="rId6"/>
    <p:sldId id="432" r:id="rId7"/>
    <p:sldId id="428" r:id="rId8"/>
    <p:sldId id="434" r:id="rId9"/>
    <p:sldId id="435" r:id="rId10"/>
    <p:sldId id="436" r:id="rId11"/>
    <p:sldId id="340" r:id="rId12"/>
    <p:sldId id="322" r:id="rId13"/>
    <p:sldId id="341" r:id="rId14"/>
    <p:sldId id="290" r:id="rId15"/>
    <p:sldId id="342" r:id="rId16"/>
    <p:sldId id="343" r:id="rId17"/>
    <p:sldId id="437" r:id="rId18"/>
    <p:sldId id="449" r:id="rId19"/>
    <p:sldId id="438" r:id="rId20"/>
    <p:sldId id="440" r:id="rId21"/>
    <p:sldId id="336" r:id="rId22"/>
    <p:sldId id="450" r:id="rId23"/>
    <p:sldId id="287" r:id="rId24"/>
    <p:sldId id="330" r:id="rId25"/>
    <p:sldId id="337" r:id="rId26"/>
    <p:sldId id="338" r:id="rId27"/>
    <p:sldId id="339" r:id="rId28"/>
    <p:sldId id="441" r:id="rId29"/>
    <p:sldId id="451" r:id="rId30"/>
    <p:sldId id="281" r:id="rId31"/>
    <p:sldId id="282" r:id="rId32"/>
    <p:sldId id="283" r:id="rId33"/>
    <p:sldId id="284" r:id="rId34"/>
    <p:sldId id="285" r:id="rId35"/>
    <p:sldId id="442" r:id="rId36"/>
    <p:sldId id="294" r:id="rId37"/>
    <p:sldId id="295" r:id="rId38"/>
    <p:sldId id="296" r:id="rId39"/>
    <p:sldId id="297" r:id="rId40"/>
    <p:sldId id="298" r:id="rId41"/>
    <p:sldId id="452" r:id="rId42"/>
    <p:sldId id="444" r:id="rId43"/>
    <p:sldId id="453" r:id="rId44"/>
    <p:sldId id="301" r:id="rId45"/>
    <p:sldId id="303" r:id="rId46"/>
    <p:sldId id="304" r:id="rId47"/>
    <p:sldId id="305" r:id="rId48"/>
    <p:sldId id="445" r:id="rId49"/>
    <p:sldId id="446" r:id="rId50"/>
    <p:sldId id="299" r:id="rId51"/>
    <p:sldId id="300" r:id="rId52"/>
    <p:sldId id="306" r:id="rId53"/>
    <p:sldId id="307" r:id="rId54"/>
    <p:sldId id="344" r:id="rId55"/>
    <p:sldId id="345" r:id="rId56"/>
    <p:sldId id="346" r:id="rId57"/>
    <p:sldId id="347" r:id="rId58"/>
    <p:sldId id="348" r:id="rId59"/>
    <p:sldId id="448" r:id="rId60"/>
    <p:sldId id="447" r:id="rId61"/>
    <p:sldId id="454" r:id="rId62"/>
    <p:sldId id="455"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2CBC0A-631A-4BA6-A365-6C94B300485F}" type="datetimeFigureOut">
              <a:rPr lang="en-IN" smtClean="0"/>
              <a:t>22-07-2026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4EC4F9-64F1-4370-8FE8-18B786CA1A17}" type="slidenum">
              <a:rPr lang="en-IN" smtClean="0"/>
              <a:t>‹#›</a:t>
            </a:fld>
            <a:endParaRPr lang="en-IN"/>
          </a:p>
        </p:txBody>
      </p:sp>
    </p:spTree>
    <p:extLst>
      <p:ext uri="{BB962C8B-B14F-4D97-AF65-F5344CB8AC3E}">
        <p14:creationId xmlns:p14="http://schemas.microsoft.com/office/powerpoint/2010/main" val="1200053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r>
              <a:rPr lang="en-US" dirty="0">
                <a:effectLst/>
              </a:rPr>
              <a:t>Source:  https://www.osha.gov/Publications/osha3079.pdf</a:t>
            </a:r>
          </a:p>
          <a:p>
            <a:endParaRPr lang="en-US" dirty="0">
              <a:effectLst/>
            </a:endParaRPr>
          </a:p>
          <a:p>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“There are two major classes of respirators:</a:t>
            </a:r>
          </a:p>
          <a:p>
            <a:pPr marL="171450" indent="-171450">
              <a:buFont typeface="Arial" panose="020B0604020202020204" pitchFamily="34" charset="0"/>
              <a:buChar char="•"/>
            </a:pP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Air-purifying, which remove contaminants from the air; and</a:t>
            </a:r>
          </a:p>
          <a:p>
            <a:pPr marL="171450" indent="-171450">
              <a:buFont typeface="Arial" panose="020B0604020202020204" pitchFamily="34" charset="0"/>
              <a:buChar char="•"/>
            </a:pP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Atmosphere-supplying, which provide clean, breathable air from an uncontaminated source. As a general rule, atmosphere-supplying respirators are used for more hazardous exposures.”</a:t>
            </a:r>
            <a:endParaRPr lang="en-US" dirty="0">
              <a:effectLst/>
            </a:endParaRPr>
          </a:p>
          <a:p>
            <a:endParaRPr lang="en-US" dirty="0">
              <a:effectLst/>
            </a:endParaRPr>
          </a:p>
          <a:p>
            <a:r>
              <a:rPr lang="en-US" dirty="0">
                <a:effectLst/>
              </a:rPr>
              <a:t>Source:  https://www.osha.gov/dts/shib/respiratory_protection_bulletin_2011.html</a:t>
            </a:r>
          </a:p>
          <a:p>
            <a:endParaRPr lang="en-US" dirty="0">
              <a:effectLst/>
            </a:endParaRPr>
          </a:p>
          <a:p>
            <a:r>
              <a:rPr lang="en-US" dirty="0">
                <a:effectLst/>
              </a:rPr>
              <a:t>“Respirators work by either filtering particles from the air, chemically cleaning (purifying) the air, or supplying clean air from an outside source.</a:t>
            </a:r>
          </a:p>
          <a:p>
            <a:endParaRPr lang="en-US" dirty="0">
              <a:effectLst/>
            </a:endParaRPr>
          </a:p>
          <a:p>
            <a:r>
              <a:rPr lang="en-US" b="1" i="1" dirty="0">
                <a:effectLst/>
              </a:rPr>
              <a:t>Particulate Respirators:</a:t>
            </a:r>
            <a:r>
              <a:rPr lang="en-US" dirty="0">
                <a:effectLst/>
              </a:rPr>
              <a:t> Particulate respirators are the simplest, least expensive, and least protective of the respirator types available. These respirators only protect against particles (e.g., dust). They do not protect against chemicals, gases, or vapors, and are intended only for low hazard levels. The commonly known "N-95" filtering </a:t>
            </a:r>
            <a:r>
              <a:rPr lang="en-US" dirty="0" err="1">
                <a:effectLst/>
              </a:rPr>
              <a:t>facepiece</a:t>
            </a:r>
            <a:r>
              <a:rPr lang="en-US" dirty="0">
                <a:effectLst/>
              </a:rPr>
              <a:t> respirator or "dust mask" is one type of particulate respirator, often used in hospitals to protect against infectious agents. Particulate respirators are "air-purifying respirators" because they clean particles out of the air as you breathe.</a:t>
            </a:r>
          </a:p>
          <a:p>
            <a:endParaRPr lang="en-US" i="1" dirty="0">
              <a:effectLst/>
            </a:endParaRPr>
          </a:p>
          <a:p>
            <a:pPr lvl="1"/>
            <a:r>
              <a:rPr lang="en-US" i="1" dirty="0">
                <a:effectLst/>
              </a:rPr>
              <a:t>Particulate respirators:</a:t>
            </a:r>
            <a:endParaRPr lang="en-US" dirty="0">
              <a:effectLst/>
            </a:endParaRPr>
          </a:p>
          <a:p>
            <a:pPr marL="628650" lvl="1" indent="-171450">
              <a:buFont typeface="Arial" panose="020B0604020202020204" pitchFamily="34" charset="0"/>
              <a:buChar char="•"/>
            </a:pPr>
            <a:r>
              <a:rPr lang="en-US" dirty="0">
                <a:effectLst/>
              </a:rPr>
              <a:t>Filter out dusts, fumes and mists.</a:t>
            </a:r>
          </a:p>
          <a:p>
            <a:pPr marL="628650" lvl="1" indent="-171450">
              <a:buFont typeface="Arial" panose="020B0604020202020204" pitchFamily="34" charset="0"/>
              <a:buChar char="•"/>
            </a:pPr>
            <a:r>
              <a:rPr lang="en-US" dirty="0">
                <a:effectLst/>
              </a:rPr>
              <a:t>Are usually disposable dust masks or respirators with disposable filters.</a:t>
            </a:r>
          </a:p>
          <a:p>
            <a:pPr marL="628650" lvl="1" indent="-171450">
              <a:buFont typeface="Arial" panose="020B0604020202020204" pitchFamily="34" charset="0"/>
              <a:buChar char="•"/>
            </a:pPr>
            <a:r>
              <a:rPr lang="en-US" dirty="0">
                <a:effectLst/>
              </a:rPr>
              <a:t>Must be replaced when they become discolored, damaged, or clogged.</a:t>
            </a:r>
          </a:p>
          <a:p>
            <a:pPr marL="628650" lvl="1" indent="-171450">
              <a:buFont typeface="Arial" panose="020B0604020202020204" pitchFamily="34" charset="0"/>
              <a:buChar char="•"/>
            </a:pPr>
            <a:r>
              <a:rPr lang="en-US" dirty="0">
                <a:effectLst/>
              </a:rPr>
              <a:t>Examples: filtering </a:t>
            </a:r>
            <a:r>
              <a:rPr lang="en-US" dirty="0" err="1">
                <a:effectLst/>
              </a:rPr>
              <a:t>facepiece</a:t>
            </a:r>
            <a:r>
              <a:rPr lang="en-US" dirty="0">
                <a:effectLst/>
              </a:rPr>
              <a:t> or elastomeric respirator.</a:t>
            </a:r>
          </a:p>
          <a:p>
            <a:pPr marL="171450" indent="-171450">
              <a:buFont typeface="Arial" panose="020B0604020202020204" pitchFamily="34" charset="0"/>
              <a:buChar char="•"/>
            </a:pPr>
            <a:endParaRPr lang="en-US" dirty="0">
              <a:effectLst/>
            </a:endParaRPr>
          </a:p>
          <a:p>
            <a:r>
              <a:rPr lang="en-US" b="1" i="1" dirty="0">
                <a:effectLst/>
              </a:rPr>
              <a:t>Chemical Cartridge/Gas Mask Respirator:</a:t>
            </a:r>
            <a:r>
              <a:rPr lang="en-US" dirty="0">
                <a:effectLst/>
              </a:rPr>
              <a:t> Gas masks are also known as "air-purifying respirators" because they filter or clean chemical gases out of the air as you breathe. This respirator includes a </a:t>
            </a:r>
            <a:r>
              <a:rPr lang="en-US" dirty="0" err="1">
                <a:effectLst/>
              </a:rPr>
              <a:t>facepiece</a:t>
            </a:r>
            <a:r>
              <a:rPr lang="en-US" dirty="0">
                <a:effectLst/>
              </a:rPr>
              <a:t> or mask, and a cartridge or canister. Straps secure the </a:t>
            </a:r>
            <a:r>
              <a:rPr lang="en-US" dirty="0" err="1">
                <a:effectLst/>
              </a:rPr>
              <a:t>facepiece</a:t>
            </a:r>
            <a:r>
              <a:rPr lang="en-US" dirty="0">
                <a:effectLst/>
              </a:rPr>
              <a:t> to the head. The cartridge may also have a filter to remove particles.</a:t>
            </a:r>
          </a:p>
          <a:p>
            <a:endParaRPr lang="en-US" dirty="0">
              <a:effectLst/>
            </a:endParaRPr>
          </a:p>
          <a:p>
            <a:r>
              <a:rPr lang="en-US" dirty="0">
                <a:effectLst/>
              </a:rPr>
              <a:t>Gas masks are effective only if used with the correct cartridge or filter (these terms are often used interchangeably) for a particular biological or chemical substance. Selecting the proper filter can be a complicated process. There are cartridges available that protect against more than one hazard, but there is no "all-in-one" cartridge that protects against all substances. It is important to know what hazards you will face in order to be certain you are choosing the right filters/cartridges.</a:t>
            </a:r>
          </a:p>
          <a:p>
            <a:endParaRPr lang="en-US" i="1" dirty="0">
              <a:effectLst/>
            </a:endParaRPr>
          </a:p>
          <a:p>
            <a:pPr lvl="1"/>
            <a:r>
              <a:rPr lang="en-US" i="1" dirty="0">
                <a:effectLst/>
              </a:rPr>
              <a:t>Chemical Cartridge/Gas Mask respirator:</a:t>
            </a:r>
            <a:endParaRPr lang="en-US" dirty="0">
              <a:effectLst/>
            </a:endParaRPr>
          </a:p>
          <a:p>
            <a:pPr marL="628650" lvl="1" indent="-171450">
              <a:buFont typeface="Arial" panose="020B0604020202020204" pitchFamily="34" charset="0"/>
              <a:buChar char="•"/>
            </a:pPr>
            <a:r>
              <a:rPr lang="en-US" dirty="0">
                <a:effectLst/>
              </a:rPr>
              <a:t>Uses replaceable chemical cartridges or canisters to remove the contaminant.</a:t>
            </a:r>
          </a:p>
          <a:p>
            <a:pPr marL="628650" lvl="1" indent="-171450">
              <a:buFont typeface="Arial" panose="020B0604020202020204" pitchFamily="34" charset="0"/>
              <a:buChar char="•"/>
            </a:pPr>
            <a:r>
              <a:rPr lang="en-US" dirty="0">
                <a:effectLst/>
              </a:rPr>
              <a:t>Are color-coded to help you select the right one.</a:t>
            </a:r>
          </a:p>
          <a:p>
            <a:pPr marL="628650" lvl="1" indent="-171450">
              <a:buFont typeface="Arial" panose="020B0604020202020204" pitchFamily="34" charset="0"/>
              <a:buChar char="•"/>
            </a:pPr>
            <a:r>
              <a:rPr lang="en-US" dirty="0">
                <a:effectLst/>
              </a:rPr>
              <a:t>May require more than one cartridge to protect against multiple hazards.</a:t>
            </a:r>
          </a:p>
          <a:p>
            <a:endParaRPr lang="en-US" b="1" i="1" dirty="0">
              <a:effectLst/>
            </a:endParaRPr>
          </a:p>
          <a:p>
            <a:r>
              <a:rPr lang="en-US" b="1" i="1" dirty="0">
                <a:effectLst/>
              </a:rPr>
              <a:t>Powered Air-Purifying Respirator (PAPR):</a:t>
            </a:r>
            <a:r>
              <a:rPr lang="en-US" dirty="0">
                <a:effectLst/>
              </a:rPr>
              <a:t> Powered air-purifying respirators use a fan to draw air through the filter to the user. They are easier to breathe through; however, they need a fully charged battery to work properly. They use the same type of filters/cartridges as other air-purifying respirators. It is important to know what the hazard is, and how much of it is in the air, in order to select the proper filters/cartridges.”</a:t>
            </a:r>
          </a:p>
        </p:txBody>
      </p:sp>
      <p:sp>
        <p:nvSpPr>
          <p:cNvPr id="4" name="Slide Number Placeholder 3"/>
          <p:cNvSpPr>
            <a:spLocks noGrp="1"/>
          </p:cNvSpPr>
          <p:nvPr>
            <p:ph type="sldNum" sz="quarter" idx="10"/>
          </p:nvPr>
        </p:nvSpPr>
        <p:spPr/>
        <p:txBody>
          <a:bodyPr/>
          <a:lstStyle/>
          <a:p>
            <a:fld id="{0F6C6ECD-E119-4B29-A31F-F4F2A203725D}" type="slidenum">
              <a:rPr lang="en-US" smtClean="0"/>
              <a:t>12</a:t>
            </a:fld>
            <a:endParaRPr lang="en-US"/>
          </a:p>
        </p:txBody>
      </p:sp>
    </p:spTree>
    <p:extLst>
      <p:ext uri="{BB962C8B-B14F-4D97-AF65-F5344CB8AC3E}">
        <p14:creationId xmlns:p14="http://schemas.microsoft.com/office/powerpoint/2010/main" val="157177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r>
              <a:rPr lang="en-US" dirty="0">
                <a:effectLst/>
              </a:rPr>
              <a:t>Source:  https://www.osha.gov/Publications/osha3079.pdf</a:t>
            </a:r>
          </a:p>
          <a:p>
            <a:endParaRPr lang="en-US" dirty="0">
              <a:effectLst/>
            </a:endParaRPr>
          </a:p>
          <a:p>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“There are two major classes of respirators:</a:t>
            </a:r>
          </a:p>
          <a:p>
            <a:pPr marL="171450" indent="-171450">
              <a:buFont typeface="Arial" panose="020B0604020202020204" pitchFamily="34" charset="0"/>
              <a:buChar char="•"/>
            </a:pP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Air-purifying, which remove contaminants from the air; and</a:t>
            </a:r>
          </a:p>
          <a:p>
            <a:pPr marL="171450" indent="-171450">
              <a:buFont typeface="Arial" panose="020B0604020202020204" pitchFamily="34" charset="0"/>
              <a:buChar char="•"/>
            </a:pPr>
            <a:r>
              <a:rPr lang="en-US" sz="1200" b="0" i="0" u="none" strike="noStrike"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Atmosphere-supplying, which provide clean, breathable air from an uncontaminated source. As a general rule, atmosphere-supplying respirators are used for more hazardous exposures.”</a:t>
            </a:r>
            <a:endParaRPr lang="en-US" dirty="0">
              <a:effectLst/>
            </a:endParaRPr>
          </a:p>
          <a:p>
            <a:endParaRPr lang="en-US" dirty="0">
              <a:effectLst/>
            </a:endParaRPr>
          </a:p>
          <a:p>
            <a:r>
              <a:rPr lang="en-US" dirty="0">
                <a:effectLst/>
              </a:rPr>
              <a:t>Source:  https://www.osha.gov/dts/shib/respiratory_protection_bulletin_2011.html</a:t>
            </a:r>
          </a:p>
          <a:p>
            <a:endParaRPr lang="en-US" dirty="0">
              <a:effectLst/>
            </a:endParaRPr>
          </a:p>
          <a:p>
            <a:r>
              <a:rPr lang="en-US" dirty="0">
                <a:effectLst/>
              </a:rPr>
              <a:t>“</a:t>
            </a:r>
            <a:r>
              <a:rPr lang="en-US" b="1" i="1" dirty="0">
                <a:effectLst/>
              </a:rPr>
              <a:t>Self-Contained Breathing Apparatus (SCBA)</a:t>
            </a:r>
            <a:r>
              <a:rPr lang="en-US" dirty="0">
                <a:effectLst/>
              </a:rPr>
              <a:t> is the respirator commonly used by firefighters. These use their own air tank to supply clean air, so you don't need to worry about filters. They also protect against higher concentrations of dangerous chemicals. However, they are very heavy (30 pounds or more), and require very special training on how to use and to maintain them. Also, the air tanks typically last an hour or less depending upon their rating and your breathing rate (how hard you are breathing).</a:t>
            </a:r>
          </a:p>
          <a:p>
            <a:endParaRPr lang="en-US" i="1" dirty="0">
              <a:effectLst/>
            </a:endParaRPr>
          </a:p>
          <a:p>
            <a:pPr lvl="1"/>
            <a:r>
              <a:rPr lang="en-US" i="1" dirty="0">
                <a:effectLst/>
              </a:rPr>
              <a:t>Self-Contained Breathing Apparatus:</a:t>
            </a:r>
            <a:endParaRPr lang="en-US" dirty="0">
              <a:effectLst/>
            </a:endParaRPr>
          </a:p>
          <a:p>
            <a:pPr lvl="1"/>
            <a:r>
              <a:rPr lang="en-US" dirty="0">
                <a:effectLst/>
              </a:rPr>
              <a:t>Provide clean air from a portable air tank when the air around you is simply too dangerous to breathe.</a:t>
            </a:r>
          </a:p>
          <a:p>
            <a:pPr lvl="1"/>
            <a:r>
              <a:rPr lang="en-US" dirty="0">
                <a:effectLst/>
              </a:rPr>
              <a:t>All of these respirators (except for the "dust masks" or filtering face pieces) are available in either half-mask or full-face pieces.”</a:t>
            </a:r>
          </a:p>
          <a:p>
            <a:pPr lvl="1"/>
            <a:endParaRPr lang="en-US" dirty="0">
              <a:effectLst/>
            </a:endParaRPr>
          </a:p>
          <a:p>
            <a:pPr lvl="1"/>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Source:  https://www.osha.gov/dte/library/respirators/presentation/index.html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1" i="1" dirty="0"/>
              <a:t>Supplied Air Respirator (SAR)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“An atmosphere-supplying respirator for which the source of breathing air is not designed to be carried by the user.  Also called </a:t>
            </a:r>
            <a:r>
              <a:rPr lang="en-US" altLang="en-US" sz="1200" b="1" dirty="0"/>
              <a:t>airline respirator</a:t>
            </a:r>
            <a:r>
              <a:rPr lang="en-US" altLang="en-US" sz="1200" dirty="0"/>
              <a:t>.”</a:t>
            </a:r>
          </a:p>
          <a:p>
            <a:pPr lvl="0"/>
            <a:endParaRPr lang="en-US" dirty="0">
              <a:effectLst/>
            </a:endParaRPr>
          </a:p>
        </p:txBody>
      </p:sp>
      <p:sp>
        <p:nvSpPr>
          <p:cNvPr id="4" name="Slide Number Placeholder 3"/>
          <p:cNvSpPr>
            <a:spLocks noGrp="1"/>
          </p:cNvSpPr>
          <p:nvPr>
            <p:ph type="sldNum" sz="quarter" idx="10"/>
          </p:nvPr>
        </p:nvSpPr>
        <p:spPr/>
        <p:txBody>
          <a:bodyPr/>
          <a:lstStyle/>
          <a:p>
            <a:fld id="{0F6C6ECD-E119-4B29-A31F-F4F2A203725D}" type="slidenum">
              <a:rPr lang="en-US" smtClean="0"/>
              <a:t>13</a:t>
            </a:fld>
            <a:endParaRPr lang="en-US"/>
          </a:p>
        </p:txBody>
      </p:sp>
    </p:spTree>
    <p:extLst>
      <p:ext uri="{BB962C8B-B14F-4D97-AF65-F5344CB8AC3E}">
        <p14:creationId xmlns:p14="http://schemas.microsoft.com/office/powerpoint/2010/main" val="3279772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r>
              <a:rPr lang="en-US" dirty="0"/>
              <a:t>Source: </a:t>
            </a:r>
            <a:r>
              <a:rPr lang="en-US" b="1" i="1" dirty="0"/>
              <a:t>Respiratory</a:t>
            </a:r>
            <a:r>
              <a:rPr lang="en-US" b="1" i="1" baseline="0" dirty="0"/>
              <a:t> Protection</a:t>
            </a:r>
            <a:r>
              <a:rPr lang="en-US" baseline="0" dirty="0"/>
              <a:t> (2002), OSHA #3079, https://www.osha.gov/Publications/OSHA3079/osha3079.html</a:t>
            </a:r>
          </a:p>
          <a:p>
            <a:endParaRPr lang="en-US" dirty="0"/>
          </a:p>
          <a:p>
            <a:r>
              <a:rPr lang="en-US" dirty="0"/>
              <a:t>“It is important to inspect all respirators for wear and tear before and after each use, giving special attention to rubber or plastic parts that can deteriorate or lose pliability. The </a:t>
            </a:r>
            <a:r>
              <a:rPr lang="en-US" dirty="0" err="1"/>
              <a:t>facepiece</a:t>
            </a:r>
            <a:r>
              <a:rPr lang="en-US" dirty="0"/>
              <a:t>, headband, valves, connecting tube, fittings, and cartridges, canisters or filters must be in good condition. A respirator inspection must include checking the tightness of the connections.</a:t>
            </a:r>
            <a:br>
              <a:rPr lang="en-US" dirty="0"/>
            </a:br>
            <a:br>
              <a:rPr lang="en-US" dirty="0"/>
            </a:br>
            <a:r>
              <a:rPr lang="en-US" dirty="0"/>
              <a:t>Users must inspect SCBAs at least monthly and ensure that air and oxygen cylinders are fully charged according to the manufacturer's instructions. The inspection should include a check of regulator and warning devices to ensure their proper function. Employers must keep records of inspection dates and findings.</a:t>
            </a:r>
            <a:br>
              <a:rPr lang="en-US" dirty="0"/>
            </a:br>
            <a:br>
              <a:rPr lang="en-US" dirty="0"/>
            </a:br>
            <a:r>
              <a:rPr lang="en-US" dirty="0"/>
              <a:t>Users should replace chemical cartridges and gas mask canisters as necessary to provide complete protection, following the manufacturer's recommendations. In addition, they should replace mechanical filters as necessary to avoid high resistance to breathing.</a:t>
            </a:r>
            <a:br>
              <a:rPr lang="en-US" dirty="0"/>
            </a:br>
            <a:br>
              <a:rPr lang="en-US" dirty="0"/>
            </a:br>
            <a:r>
              <a:rPr lang="en-US" dirty="0"/>
              <a:t>Only an experienced person is permitted to make repairs, using parts specifically designed for the respirator. This person must consult the manufacturer's instructions for any repair and no attempt should be made to repair or replace components or make adjustments or repairs beyond the manufacturer's recommendations.</a:t>
            </a:r>
          </a:p>
          <a:p>
            <a:endParaRPr lang="en-US" dirty="0"/>
          </a:p>
          <a:p>
            <a:r>
              <a:rPr lang="en-US" dirty="0"/>
              <a:t>The employer must ensure that respirators are cleaned and disinfected as often as necessary to keep them sanitary. In addition, the employer must ensure that emergency-use respirators are cleaned and disinfected immediately after each use.</a:t>
            </a:r>
            <a:br>
              <a:rPr lang="en-US" dirty="0"/>
            </a:br>
            <a:br>
              <a:rPr lang="en-US" dirty="0"/>
            </a:br>
            <a:r>
              <a:rPr lang="en-US" dirty="0"/>
              <a:t>Respirators should be washed in a detergent solution and then disinfected by immersing them in a sanitizing solution. Cleaner-sanitizers that effectively clean the respirator and contain a bactericidal agent are available commercially. The bactericidal agent frequently used is a quaternary ammonium compound. Strong cleaning and sanitizing agents and many solvents can damage rubber or plastic respirator parts. Use these materials with caution or after consultation with the respirator manufacturer.”</a:t>
            </a:r>
            <a:br>
              <a:rPr lang="en-US" dirty="0"/>
            </a:b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3ECC418A-57C6-4B2F-979F-B2F731CD8869}" type="slidenum">
              <a:rPr lang="en-US" smtClean="0"/>
              <a:pPr/>
              <a:t>15</a:t>
            </a:fld>
            <a:endParaRPr lang="en-US"/>
          </a:p>
        </p:txBody>
      </p:sp>
    </p:spTree>
    <p:extLst>
      <p:ext uri="{BB962C8B-B14F-4D97-AF65-F5344CB8AC3E}">
        <p14:creationId xmlns:p14="http://schemas.microsoft.com/office/powerpoint/2010/main" val="762718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Source: </a:t>
            </a:r>
            <a:r>
              <a:rPr lang="en-US" b="1" i="1" dirty="0"/>
              <a:t>Respiratory</a:t>
            </a:r>
            <a:r>
              <a:rPr lang="en-US" b="1" i="1" baseline="0" dirty="0"/>
              <a:t> Protection</a:t>
            </a:r>
            <a:r>
              <a:rPr lang="en-US" baseline="0" dirty="0"/>
              <a:t> (2002), OSHA #3079, https://www.osha.gov/Publications/OSHA3079/osha3079.html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“Users must store respirators in a way that protects them against dust, sunlight, heat, extreme cold, excessive moisture, and damaging chemicals. When packed or stored, each respirator should be positioned to retain its natural configuration. </a:t>
            </a:r>
            <a:r>
              <a:rPr lang="en-US" dirty="0" err="1"/>
              <a:t>Facepieces</a:t>
            </a:r>
            <a:r>
              <a:rPr lang="en-US" dirty="0"/>
              <a:t> and exhalation valves should rest in a normal position to prevent the rubber or plastic from deforming.”</a:t>
            </a:r>
          </a:p>
        </p:txBody>
      </p:sp>
      <p:sp>
        <p:nvSpPr>
          <p:cNvPr id="4" name="Slide Number Placeholder 3"/>
          <p:cNvSpPr>
            <a:spLocks noGrp="1"/>
          </p:cNvSpPr>
          <p:nvPr>
            <p:ph type="sldNum" sz="quarter" idx="10"/>
          </p:nvPr>
        </p:nvSpPr>
        <p:spPr/>
        <p:txBody>
          <a:bodyPr/>
          <a:lstStyle/>
          <a:p>
            <a:fld id="{3ECC418A-57C6-4B2F-979F-B2F731CD8869}" type="slidenum">
              <a:rPr lang="en-US" smtClean="0"/>
              <a:pPr/>
              <a:t>16</a:t>
            </a:fld>
            <a:endParaRPr lang="en-US"/>
          </a:p>
        </p:txBody>
      </p:sp>
    </p:spTree>
    <p:extLst>
      <p:ext uri="{BB962C8B-B14F-4D97-AF65-F5344CB8AC3E}">
        <p14:creationId xmlns:p14="http://schemas.microsoft.com/office/powerpoint/2010/main" val="804936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Safety goggles are used as primary protection to shield the eyes from heat hazards. Goggles form a protective seal around the eyes, preventing objects or liquids from entering under or around the goggles. This is especially important when working with or around molten metals that may splash.</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employees are exposed to high temperatures, additional protection beyond that offered by primary protectors may be required. Use safety goggles in combination with a heat-reflective face shield for severe temperatures exposure. Consider specific lens, frame, and ventilation options when selecting safety goggles.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Ventilated goggles allow air circulation while providing protection against airborne particles, dust, liquids, or light.</a:t>
            </a:r>
          </a:p>
          <a:p>
            <a:endParaRPr lang="en-US" dirty="0"/>
          </a:p>
        </p:txBody>
      </p:sp>
      <p:sp>
        <p:nvSpPr>
          <p:cNvPr id="4" name="Slide Number Placeholder 3"/>
          <p:cNvSpPr>
            <a:spLocks noGrp="1"/>
          </p:cNvSpPr>
          <p:nvPr>
            <p:ph type="sldNum" sz="quarter" idx="10"/>
          </p:nvPr>
        </p:nvSpPr>
        <p:spPr/>
        <p:txBody>
          <a:bodyPr/>
          <a:lstStyle/>
          <a:p>
            <a:fld id="{0F6C6ECD-E119-4B29-A31F-F4F2A203725D}" type="slidenum">
              <a:rPr lang="en-US" smtClean="0"/>
              <a:t>21</a:t>
            </a:fld>
            <a:endParaRPr lang="en-US"/>
          </a:p>
        </p:txBody>
      </p:sp>
    </p:spTree>
    <p:extLst>
      <p:ext uri="{BB962C8B-B14F-4D97-AF65-F5344CB8AC3E}">
        <p14:creationId xmlns:p14="http://schemas.microsoft.com/office/powerpoint/2010/main" val="4092712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0F6C6ECD-E119-4B29-A31F-F4F2A203725D}" type="slidenum">
              <a:rPr lang="en-US" smtClean="0"/>
              <a:t>23</a:t>
            </a:fld>
            <a:endParaRPr lang="en-US"/>
          </a:p>
        </p:txBody>
      </p:sp>
    </p:spTree>
    <p:extLst>
      <p:ext uri="{BB962C8B-B14F-4D97-AF65-F5344CB8AC3E}">
        <p14:creationId xmlns:p14="http://schemas.microsoft.com/office/powerpoint/2010/main" val="1475948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pPr defTabSz="888980">
              <a:defRPr/>
            </a:pPr>
            <a:r>
              <a:rPr lang="en-US" b="1" dirty="0"/>
              <a:t>https://www.osha.gov/Publications/osha3151.html </a:t>
            </a:r>
          </a:p>
          <a:p>
            <a:pPr defTabSz="888980">
              <a:defRPr/>
            </a:pPr>
            <a:r>
              <a:rPr lang="en-US" b="0" i="0" dirty="0">
                <a:solidFill>
                  <a:srgbClr val="202124"/>
                </a:solidFill>
                <a:effectLst/>
                <a:latin typeface="Google Sans"/>
              </a:rPr>
              <a:t>OPIM is a medical abbreviation that stands for “</a:t>
            </a:r>
            <a:r>
              <a:rPr lang="en-US" b="0" i="0" dirty="0">
                <a:solidFill>
                  <a:srgbClr val="040C28"/>
                </a:solidFill>
                <a:effectLst/>
                <a:latin typeface="Google Sans"/>
              </a:rPr>
              <a:t>Other Potentially Infectious Materials</a:t>
            </a:r>
            <a:r>
              <a:rPr lang="en-US" b="0" i="0" dirty="0">
                <a:solidFill>
                  <a:srgbClr val="202124"/>
                </a:solidFill>
                <a:effectLst/>
                <a:latin typeface="Google Sans"/>
              </a:rPr>
              <a:t>.”</a:t>
            </a:r>
            <a:endParaRPr lang="en-US" b="1" dirty="0"/>
          </a:p>
          <a:p>
            <a:endParaRPr lang="en-US" dirty="0"/>
          </a:p>
          <a:p>
            <a:pPr defTabSz="888980">
              <a:defRPr/>
            </a:pPr>
            <a:r>
              <a:rPr lang="en-US" dirty="0"/>
              <a:t>“Employees can be exposed to a large number of hazards that pose danger to their eyes and face. OSHA requires employers to ensure that employees have appropriate eye or face protection if they are exposed to eye or face hazards from flying particles, molten metal, liquid chemicals, acids or caustic liquids, chemical gases or vapors, potentially infected material or potentially harmful light radiation.”</a:t>
            </a:r>
            <a:br>
              <a:rPr lang="en-US" dirty="0"/>
            </a:br>
            <a:r>
              <a:rPr lang="en-US" dirty="0"/>
              <a:t>(OSHA Publication</a:t>
            </a:r>
            <a:r>
              <a:rPr lang="en-US" baseline="0" dirty="0"/>
              <a:t> 3151-12R, </a:t>
            </a:r>
            <a:r>
              <a:rPr lang="en-US" dirty="0"/>
              <a:t>2003)</a:t>
            </a:r>
          </a:p>
          <a:p>
            <a:pPr defTabSz="888980">
              <a:defRPr/>
            </a:pPr>
            <a:endParaRPr lang="en-US" dirty="0"/>
          </a:p>
          <a:p>
            <a:pPr defTabSz="888980">
              <a:defRPr/>
            </a:pPr>
            <a:r>
              <a:rPr lang="en-US" dirty="0"/>
              <a:t>Examples:</a:t>
            </a:r>
          </a:p>
          <a:p>
            <a:pPr marL="171450" indent="-171450">
              <a:buFont typeface="Arial" panose="020B0604020202020204" pitchFamily="34" charset="0"/>
              <a:buChar char="•"/>
            </a:pPr>
            <a:r>
              <a:rPr lang="en-US" sz="1200" dirty="0"/>
              <a:t>Acids and other caustic liquid chemicals that might splash</a:t>
            </a:r>
          </a:p>
          <a:p>
            <a:pPr marL="171450" indent="-171450">
              <a:buFont typeface="Arial" panose="020B0604020202020204" pitchFamily="34" charset="0"/>
              <a:buChar char="•"/>
            </a:pPr>
            <a:r>
              <a:rPr lang="en-US" sz="1200" dirty="0"/>
              <a:t>Blood and other potentially infectious materials that might splash, spray</a:t>
            </a:r>
          </a:p>
          <a:p>
            <a:pPr marL="171450" indent="-171450">
              <a:buFont typeface="Arial" panose="020B0604020202020204" pitchFamily="34" charset="0"/>
              <a:buChar char="•"/>
            </a:pPr>
            <a:r>
              <a:rPr lang="en-US" sz="1200" dirty="0"/>
              <a:t>Intense light such as that created by welding and lasers</a:t>
            </a:r>
          </a:p>
          <a:p>
            <a:pPr marL="171450" indent="-171450">
              <a:buFont typeface="Arial" panose="020B0604020202020204" pitchFamily="34" charset="0"/>
              <a:buChar char="•"/>
            </a:pPr>
            <a:r>
              <a:rPr lang="en-US" sz="1200" dirty="0"/>
              <a:t>Dust and other flying particles, such as sawdust or metal shavings </a:t>
            </a:r>
          </a:p>
          <a:p>
            <a:pPr marL="171450" indent="-171450">
              <a:buFont typeface="Arial" panose="020B0604020202020204" pitchFamily="34" charset="0"/>
              <a:buChar char="•"/>
            </a:pPr>
            <a:r>
              <a:rPr lang="en-US" sz="1200" dirty="0"/>
              <a:t>Molten metal that might splash</a:t>
            </a:r>
          </a:p>
          <a:p>
            <a:br>
              <a:rPr lang="en-US" dirty="0"/>
            </a:br>
            <a:r>
              <a:rPr lang="en-US" b="1" dirty="0"/>
              <a:t>1910.133 (b)</a:t>
            </a:r>
            <a:r>
              <a:rPr lang="en-US" b="1" baseline="0" dirty="0"/>
              <a:t> Criteria for protective eye and face protection</a:t>
            </a:r>
            <a:endParaRPr lang="en-US" dirty="0"/>
          </a:p>
          <a:p>
            <a:r>
              <a:rPr lang="en-US" dirty="0"/>
              <a:t>Eye and face protection equipment required by this Part shall meet the requirements specified in American National Standards Institute, and devices must comply with any of the following : Z87.1-2003, ANSI Z87.1-1998 (R-1998), ANSI Z87.1-1989</a:t>
            </a:r>
          </a:p>
          <a:p>
            <a:r>
              <a:rPr lang="en-US" dirty="0"/>
              <a:t>Practice for Occupational and Educational Eye and Face Protection. Incorporated by reference in 1910.6</a:t>
            </a:r>
          </a:p>
          <a:p>
            <a:endParaRPr lang="en-US" dirty="0"/>
          </a:p>
        </p:txBody>
      </p:sp>
      <p:sp>
        <p:nvSpPr>
          <p:cNvPr id="4" name="Slide Number Placeholder 3"/>
          <p:cNvSpPr>
            <a:spLocks noGrp="1"/>
          </p:cNvSpPr>
          <p:nvPr>
            <p:ph type="sldNum" sz="quarter" idx="10"/>
          </p:nvPr>
        </p:nvSpPr>
        <p:spPr/>
        <p:txBody>
          <a:bodyPr/>
          <a:lstStyle/>
          <a:p>
            <a:fld id="{0F6C6ECD-E119-4B29-A31F-F4F2A203725D}" type="slidenum">
              <a:rPr lang="en-US" smtClean="0"/>
              <a:t>24</a:t>
            </a:fld>
            <a:endParaRPr lang="en-US"/>
          </a:p>
        </p:txBody>
      </p:sp>
    </p:spTree>
    <p:extLst>
      <p:ext uri="{BB962C8B-B14F-4D97-AF65-F5344CB8AC3E}">
        <p14:creationId xmlns:p14="http://schemas.microsoft.com/office/powerpoint/2010/main" val="3732852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469900"/>
            <a:ext cx="5618163" cy="3160713"/>
          </a:xfrm>
        </p:spPr>
      </p:sp>
      <p:sp>
        <p:nvSpPr>
          <p:cNvPr id="3" name="Notes Placeholder 2"/>
          <p:cNvSpPr>
            <a:spLocks noGrp="1"/>
          </p:cNvSpPr>
          <p:nvPr>
            <p:ph type="body" idx="1"/>
          </p:nvPr>
        </p:nvSpPr>
        <p:spPr/>
        <p:txBody>
          <a:bodyPr/>
          <a:lstStyle/>
          <a:p>
            <a:r>
              <a:rPr lang="en-US" b="1" dirty="0"/>
              <a:t>https://www.osha.gov/SLTC/etools/eyeandface/ppe/impact.html#faceshields</a:t>
            </a:r>
          </a:p>
          <a:p>
            <a:endParaRPr lang="en-US" dirty="0"/>
          </a:p>
          <a:p>
            <a:r>
              <a:rPr lang="en-US" dirty="0">
                <a:effectLst/>
              </a:rPr>
              <a:t>“Face shields are intended to protect the entire face or portions of it from impact hazards such as flying fragments, objects, large chips, and particles. When worn alone, face shields </a:t>
            </a:r>
            <a:r>
              <a:rPr lang="en-US" i="1" dirty="0">
                <a:effectLst/>
              </a:rPr>
              <a:t>do not</a:t>
            </a:r>
            <a:r>
              <a:rPr lang="en-US" dirty="0">
                <a:effectLst/>
              </a:rPr>
              <a:t> protect employees from impact hazards. Use face shields in combination with safety spectacles or goggles, even in the absence of dust or potential splashes, for additional protection beyond that offered by spectacles or goggles alone.”</a:t>
            </a:r>
            <a:br>
              <a:rPr lang="en-US" dirty="0">
                <a:effectLst/>
              </a:rPr>
            </a:br>
            <a:r>
              <a:rPr lang="en-US" dirty="0">
                <a:effectLst/>
              </a:rPr>
              <a:t>(OSHA Eye</a:t>
            </a:r>
            <a:r>
              <a:rPr lang="en-US" baseline="0" dirty="0">
                <a:effectLst/>
              </a:rPr>
              <a:t> and Face Protection </a:t>
            </a:r>
            <a:r>
              <a:rPr lang="en-US" baseline="0" dirty="0" err="1">
                <a:effectLst/>
              </a:rPr>
              <a:t>eTool</a:t>
            </a:r>
            <a:r>
              <a:rPr lang="en-US" baseline="0" dirty="0">
                <a:effectLst/>
              </a:rPr>
              <a:t>, 2002)</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F5D18354-FAF5-4E98-B57F-F6182A7992A0}" type="slidenum">
              <a:rPr lang="en-US" smtClean="0"/>
              <a:t>25</a:t>
            </a:fld>
            <a:endParaRPr lang="en-US"/>
          </a:p>
        </p:txBody>
      </p:sp>
    </p:spTree>
    <p:extLst>
      <p:ext uri="{BB962C8B-B14F-4D97-AF65-F5344CB8AC3E}">
        <p14:creationId xmlns:p14="http://schemas.microsoft.com/office/powerpoint/2010/main" val="1068803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pPr defTabSz="888980">
              <a:defRPr/>
            </a:pPr>
            <a:r>
              <a:rPr lang="en-US" b="1" dirty="0"/>
              <a:t>https://www.osha.gov/Publications/osha3151.html </a:t>
            </a:r>
          </a:p>
          <a:p>
            <a:endParaRPr lang="en-US" dirty="0"/>
          </a:p>
          <a:p>
            <a:pPr defTabSz="888980">
              <a:defRPr/>
            </a:pPr>
            <a:r>
              <a:rPr lang="en-US" dirty="0"/>
              <a:t>“Constructed of vulcanized fiber or fiberglass and fitted with a filtered lens, welding shields protect eyes from burns caused by infrared or intense radiant light; they also protect both the eyes and face from flying sparks, metal spatter, and slag chips produced during welding, brazing, soldering and cutting operations. OSHA requires filter lenses to have a shade number appropriate to protect against the specific hazards of the work being performed in order to protect against harmful light radiation.” </a:t>
            </a:r>
            <a:br>
              <a:rPr lang="en-US" dirty="0"/>
            </a:br>
            <a:r>
              <a:rPr lang="en-US" dirty="0"/>
              <a:t>(OSHA Publication</a:t>
            </a:r>
            <a:r>
              <a:rPr lang="en-US" baseline="0" dirty="0"/>
              <a:t> 3151-12R, </a:t>
            </a:r>
            <a:r>
              <a:rPr lang="en-US" dirty="0"/>
              <a:t>2003)</a:t>
            </a:r>
          </a:p>
          <a:p>
            <a:endParaRPr lang="en-US" dirty="0"/>
          </a:p>
          <a:p>
            <a:endParaRPr lang="en-US" dirty="0"/>
          </a:p>
        </p:txBody>
      </p:sp>
      <p:sp>
        <p:nvSpPr>
          <p:cNvPr id="4" name="Slide Number Placeholder 3"/>
          <p:cNvSpPr>
            <a:spLocks noGrp="1"/>
          </p:cNvSpPr>
          <p:nvPr>
            <p:ph type="sldNum" sz="quarter" idx="10"/>
          </p:nvPr>
        </p:nvSpPr>
        <p:spPr/>
        <p:txBody>
          <a:bodyPr/>
          <a:lstStyle/>
          <a:p>
            <a:fld id="{0F6C6ECD-E119-4B29-A31F-F4F2A203725D}" type="slidenum">
              <a:rPr lang="en-US" smtClean="0"/>
              <a:t>26</a:t>
            </a:fld>
            <a:endParaRPr lang="en-US"/>
          </a:p>
        </p:txBody>
      </p:sp>
    </p:spTree>
    <p:extLst>
      <p:ext uri="{BB962C8B-B14F-4D97-AF65-F5344CB8AC3E}">
        <p14:creationId xmlns:p14="http://schemas.microsoft.com/office/powerpoint/2010/main" val="2225094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r>
              <a:rPr lang="en-US" dirty="0"/>
              <a:t>“Wearing a safety helmet or hard hat is one of the easiest ways to protect an employee's head from injury. Hard hats can protect employees from impact and penetration hazards as well as from electrical shock and burn hazards.</a:t>
            </a:r>
            <a:br>
              <a:rPr lang="en-US" dirty="0"/>
            </a:br>
            <a:br>
              <a:rPr lang="en-US" dirty="0"/>
            </a:br>
            <a:r>
              <a:rPr lang="en-US" dirty="0"/>
              <a:t>Employers must ensure that their employees wear head protection if any of the following apply: </a:t>
            </a:r>
          </a:p>
          <a:p>
            <a:pPr marL="166684" indent="-166684">
              <a:buFont typeface="Arial" panose="020B0604020202020204" pitchFamily="34" charset="0"/>
              <a:buChar char="•"/>
            </a:pPr>
            <a:r>
              <a:rPr lang="en-US" dirty="0"/>
              <a:t>Objects might fall from above and strike them on the head; </a:t>
            </a:r>
          </a:p>
          <a:p>
            <a:pPr marL="166684" indent="-166684">
              <a:buFont typeface="Arial" panose="020B0604020202020204" pitchFamily="34" charset="0"/>
              <a:buChar char="•"/>
            </a:pPr>
            <a:r>
              <a:rPr lang="en-US" dirty="0"/>
              <a:t>They might bump their heads against fixed objects, such as exposed pipes or beams; or </a:t>
            </a:r>
          </a:p>
          <a:p>
            <a:pPr marL="166684" indent="-166684">
              <a:buFont typeface="Arial" panose="020B0604020202020204" pitchFamily="34" charset="0"/>
              <a:buChar char="•"/>
            </a:pPr>
            <a:r>
              <a:rPr lang="en-US" dirty="0"/>
              <a:t>There is a possibility of accidental head contact with electrical hazards.”  </a:t>
            </a:r>
            <a:br>
              <a:rPr lang="en-US" dirty="0"/>
            </a:br>
            <a:r>
              <a:rPr lang="en-US" dirty="0"/>
              <a:t>(OSHA Publication</a:t>
            </a:r>
            <a:r>
              <a:rPr lang="en-US" baseline="0" dirty="0"/>
              <a:t> 3151-12R, </a:t>
            </a:r>
            <a:r>
              <a:rPr lang="en-US" dirty="0"/>
              <a:t>2003)</a:t>
            </a:r>
          </a:p>
          <a:p>
            <a:endParaRPr lang="en-US" dirty="0"/>
          </a:p>
        </p:txBody>
      </p:sp>
      <p:sp>
        <p:nvSpPr>
          <p:cNvPr id="4" name="Slide Number Placeholder 3"/>
          <p:cNvSpPr>
            <a:spLocks noGrp="1"/>
          </p:cNvSpPr>
          <p:nvPr>
            <p:ph type="sldNum" sz="quarter" idx="10"/>
          </p:nvPr>
        </p:nvSpPr>
        <p:spPr/>
        <p:txBody>
          <a:bodyPr/>
          <a:lstStyle/>
          <a:p>
            <a:fld id="{0F6C6ECD-E119-4B29-A31F-F4F2A203725D}" type="slidenum">
              <a:rPr lang="en-US" smtClean="0"/>
              <a:t>30</a:t>
            </a:fld>
            <a:endParaRPr lang="en-US"/>
          </a:p>
        </p:txBody>
      </p:sp>
    </p:spTree>
    <p:extLst>
      <p:ext uri="{BB962C8B-B14F-4D97-AF65-F5344CB8AC3E}">
        <p14:creationId xmlns:p14="http://schemas.microsoft.com/office/powerpoint/2010/main" val="1901915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pPr marL="0" indent="0">
              <a:buFontTx/>
              <a:buNone/>
            </a:pPr>
            <a:r>
              <a:rPr lang="en-US" dirty="0"/>
              <a:t>“Protecting employees from potential head injuries is a key element of any safety program. A head injury can impair an employee for life or it can be fatal.” </a:t>
            </a:r>
            <a:br>
              <a:rPr lang="en-US" dirty="0"/>
            </a:br>
            <a:r>
              <a:rPr lang="en-US" dirty="0"/>
              <a:t>(OSHA Publication</a:t>
            </a:r>
            <a:r>
              <a:rPr lang="en-US" baseline="0" dirty="0"/>
              <a:t> 3151-12R, </a:t>
            </a:r>
            <a:r>
              <a:rPr lang="en-US" dirty="0"/>
              <a:t>2003)</a:t>
            </a:r>
          </a:p>
          <a:p>
            <a:endParaRPr lang="en-US" sz="1200" b="0" dirty="0">
              <a:solidFill>
                <a:srgbClr val="000000"/>
              </a:solidFill>
              <a:latin typeface="Times New Roman" panose="02020603050405020304" pitchFamily="18" charset="0"/>
            </a:endParaRPr>
          </a:p>
          <a:p>
            <a:r>
              <a:rPr lang="en-US" sz="1200" b="0" dirty="0">
                <a:solidFill>
                  <a:srgbClr val="000000"/>
                </a:solidFill>
                <a:latin typeface="Times New Roman" panose="02020603050405020304" pitchFamily="18" charset="0"/>
              </a:rPr>
              <a:t>Your head is a very delicate part of your body. In and around your head are: </a:t>
            </a:r>
          </a:p>
          <a:p>
            <a:endParaRPr lang="en-US" sz="1200" b="0" dirty="0">
              <a:solidFill>
                <a:srgbClr val="000000"/>
              </a:solidFill>
              <a:latin typeface="Times New Roman" panose="02020603050405020304" pitchFamily="18" charset="0"/>
            </a:endParaRPr>
          </a:p>
          <a:p>
            <a:pPr marL="171450" indent="-171450">
              <a:buFont typeface="Arial" panose="020B0604020202020204" pitchFamily="34" charset="0"/>
              <a:buChar char="•"/>
            </a:pPr>
            <a:r>
              <a:rPr lang="en-US" sz="1200" b="0" dirty="0">
                <a:solidFill>
                  <a:srgbClr val="000000"/>
                </a:solidFill>
                <a:latin typeface="Times New Roman" panose="02020603050405020304" pitchFamily="18" charset="0"/>
              </a:rPr>
              <a:t>Your eyes, with which you see; </a:t>
            </a:r>
          </a:p>
          <a:p>
            <a:pPr marL="171450" indent="-171450">
              <a:buFont typeface="Arial" panose="020B0604020202020204" pitchFamily="34" charset="0"/>
              <a:buChar char="•"/>
            </a:pPr>
            <a:r>
              <a:rPr lang="en-US" sz="1200" b="0" dirty="0">
                <a:solidFill>
                  <a:srgbClr val="000000"/>
                </a:solidFill>
                <a:latin typeface="Times New Roman" panose="02020603050405020304" pitchFamily="18" charset="0"/>
              </a:rPr>
              <a:t>Your ears, with which you hear;  </a:t>
            </a:r>
          </a:p>
          <a:p>
            <a:pPr marL="171450" indent="-171450">
              <a:buFont typeface="Arial" panose="020B0604020202020204" pitchFamily="34" charset="0"/>
              <a:buChar char="•"/>
            </a:pPr>
            <a:r>
              <a:rPr lang="en-US" sz="1200" b="0" dirty="0">
                <a:solidFill>
                  <a:srgbClr val="000000"/>
                </a:solidFill>
                <a:latin typeface="Times New Roman" panose="02020603050405020304" pitchFamily="18" charset="0"/>
              </a:rPr>
              <a:t>Your nose, with which you smell; </a:t>
            </a:r>
          </a:p>
          <a:p>
            <a:pPr marL="171450" indent="-171450">
              <a:buFont typeface="Arial" panose="020B0604020202020204" pitchFamily="34" charset="0"/>
              <a:buChar char="•"/>
            </a:pPr>
            <a:r>
              <a:rPr lang="en-US" sz="1200" b="0" dirty="0">
                <a:solidFill>
                  <a:srgbClr val="000000"/>
                </a:solidFill>
                <a:latin typeface="Times New Roman" panose="02020603050405020304" pitchFamily="18" charset="0"/>
              </a:rPr>
              <a:t>Your mouth, with which you eat and speak; and  </a:t>
            </a:r>
          </a:p>
          <a:p>
            <a:pPr marL="171450" indent="-171450">
              <a:buFont typeface="Arial" panose="020B0604020202020204" pitchFamily="34" charset="0"/>
              <a:buChar char="•"/>
            </a:pPr>
            <a:r>
              <a:rPr lang="en-US" sz="1200" b="0" dirty="0">
                <a:solidFill>
                  <a:srgbClr val="000000"/>
                </a:solidFill>
                <a:latin typeface="Times New Roman" panose="02020603050405020304" pitchFamily="18" charset="0"/>
              </a:rPr>
              <a:t>Your brain, with which you think.</a:t>
            </a:r>
          </a:p>
          <a:p>
            <a:pPr marL="171450" indent="-171450">
              <a:buFont typeface="Arial" panose="020B0604020202020204" pitchFamily="34" charset="0"/>
              <a:buChar char="•"/>
            </a:pPr>
            <a:endParaRPr lang="en-US" sz="1200" b="0" dirty="0">
              <a:solidFill>
                <a:srgbClr val="000000"/>
              </a:solidFill>
              <a:latin typeface="Times New Roman" panose="02020603050405020304" pitchFamily="18" charset="0"/>
            </a:endParaRPr>
          </a:p>
          <a:p>
            <a:r>
              <a:rPr lang="en-US" sz="1200" b="0" dirty="0">
                <a:solidFill>
                  <a:srgbClr val="000000"/>
                </a:solidFill>
                <a:latin typeface="Times New Roman" panose="02020603050405020304" pitchFamily="18" charset="0"/>
              </a:rPr>
              <a:t>Injuries to the head are very serious. For this reason, head protection and safety are very important.</a:t>
            </a:r>
          </a:p>
          <a:p>
            <a:endParaRPr lang="en-US" b="0" dirty="0"/>
          </a:p>
        </p:txBody>
      </p:sp>
      <p:sp>
        <p:nvSpPr>
          <p:cNvPr id="4" name="Slide Number Placeholder 3"/>
          <p:cNvSpPr>
            <a:spLocks noGrp="1"/>
          </p:cNvSpPr>
          <p:nvPr>
            <p:ph type="sldNum" sz="quarter" idx="10"/>
          </p:nvPr>
        </p:nvSpPr>
        <p:spPr/>
        <p:txBody>
          <a:bodyPr/>
          <a:lstStyle/>
          <a:p>
            <a:fld id="{3ECC418A-57C6-4B2F-979F-B2F731CD8869}" type="slidenum">
              <a:rPr lang="en-US" smtClean="0"/>
              <a:pPr/>
              <a:t>31</a:t>
            </a:fld>
            <a:endParaRPr lang="en-US"/>
          </a:p>
        </p:txBody>
      </p:sp>
    </p:spTree>
    <p:extLst>
      <p:ext uri="{BB962C8B-B14F-4D97-AF65-F5344CB8AC3E}">
        <p14:creationId xmlns:p14="http://schemas.microsoft.com/office/powerpoint/2010/main" val="1923159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04D92CFB-F75D-4938-A694-1A673B55DB5A}" type="slidenum">
              <a:rPr lang="en-US" smtClean="0">
                <a:latin typeface="Times New Roman" panose="02020603050405020304" pitchFamily="18" charset="0"/>
              </a:rPr>
              <a:pPr/>
              <a:t>32</a:t>
            </a:fld>
            <a:endParaRPr lang="en-US">
              <a:latin typeface="Times New Roman" panose="02020603050405020304" pitchFamily="18" charset="0"/>
            </a:endParaRPr>
          </a:p>
        </p:txBody>
      </p:sp>
      <p:sp>
        <p:nvSpPr>
          <p:cNvPr id="35843" name="Rectangle 2"/>
          <p:cNvSpPr>
            <a:spLocks noGrp="1" noRot="1" noChangeAspect="1" noChangeArrowheads="1" noTextEdit="1"/>
          </p:cNvSpPr>
          <p:nvPr>
            <p:ph type="sldImg"/>
          </p:nvPr>
        </p:nvSpPr>
        <p:spPr>
          <a:xfrm>
            <a:off x="1249363" y="484188"/>
            <a:ext cx="5251450" cy="2954337"/>
          </a:xfrm>
          <a:ln cap="flat"/>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888980">
              <a:defRPr/>
            </a:pPr>
            <a:r>
              <a:rPr lang="en-US" b="1" dirty="0"/>
              <a:t>https://www.osha.gov/Publications/osha3151.html </a:t>
            </a:r>
          </a:p>
          <a:p>
            <a:endParaRPr lang="en-US" dirty="0"/>
          </a:p>
          <a:p>
            <a:r>
              <a:rPr lang="en-US" dirty="0"/>
              <a:t>“There are many types of hard hats available in the marketplace today. In addition to selecting protective headgear that meets ANSI standard requirements, employers should ensure that employees wear hard hats that provide appropriate protection against potential workplace hazards. It is important for employers to understand all potential hazards when making this selection, including electrical hazards. This can be done through a comprehensive hazard analysis and an awareness of the different types of protective headgear available.”</a:t>
            </a:r>
          </a:p>
          <a:p>
            <a:pPr defTabSz="888980">
              <a:defRPr/>
            </a:pPr>
            <a:r>
              <a:rPr lang="en-US" dirty="0"/>
              <a:t>(OSHA Publication</a:t>
            </a:r>
            <a:r>
              <a:rPr lang="en-US" baseline="0" dirty="0"/>
              <a:t> 3151-12R, </a:t>
            </a:r>
            <a:r>
              <a:rPr lang="en-US" dirty="0"/>
              <a:t>2003)</a:t>
            </a:r>
          </a:p>
          <a:p>
            <a:pPr defTabSz="888980">
              <a:defRPr/>
            </a:pPr>
            <a:endParaRPr lang="en-US" dirty="0"/>
          </a:p>
          <a:p>
            <a:pPr defTabSz="888980">
              <a:defRPr/>
            </a:pPr>
            <a:r>
              <a:rPr lang="en-US" dirty="0"/>
              <a:t>Class</a:t>
            </a:r>
            <a:r>
              <a:rPr lang="en-US" baseline="0" dirty="0"/>
              <a:t> G hard hats are intended for general service use, such as building construction, shipbuilding, lumbering, and manufacturing. Class G hard hats provide good impact protection, but limited voltage protection (proof-tested at 2,200 volts).</a:t>
            </a:r>
            <a:endParaRPr lang="en-US" dirty="0"/>
          </a:p>
          <a:p>
            <a:br>
              <a:rPr lang="en-US" dirty="0"/>
            </a:br>
            <a:endParaRPr lang="en-US" dirty="0"/>
          </a:p>
          <a:p>
            <a:endParaRPr lang="es-PR" dirty="0"/>
          </a:p>
        </p:txBody>
      </p:sp>
    </p:spTree>
    <p:extLst>
      <p:ext uri="{BB962C8B-B14F-4D97-AF65-F5344CB8AC3E}">
        <p14:creationId xmlns:p14="http://schemas.microsoft.com/office/powerpoint/2010/main" val="389385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Class E hard hats are designed for electrical/utility work. They</a:t>
            </a:r>
            <a:r>
              <a:rPr lang="en-US" baseline="0" dirty="0"/>
              <a:t> protect against falling objects and provide protection against conductors with higher voltage levels (proof-tested at 20,000 volts).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F6C6ECD-E119-4B29-A31F-F4F2A203725D}" type="slidenum">
              <a:rPr lang="en-US" smtClean="0"/>
              <a:t>33</a:t>
            </a:fld>
            <a:endParaRPr lang="en-US"/>
          </a:p>
        </p:txBody>
      </p:sp>
    </p:spTree>
    <p:extLst>
      <p:ext uri="{BB962C8B-B14F-4D97-AF65-F5344CB8AC3E}">
        <p14:creationId xmlns:p14="http://schemas.microsoft.com/office/powerpoint/2010/main" val="140499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For impact and penetration only. Usually made of aluminum, so it should not be used near areas with electrical hazards.</a:t>
            </a:r>
            <a:r>
              <a:rPr lang="en-US" dirty="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Class C</a:t>
            </a:r>
            <a:r>
              <a:rPr lang="en-US" baseline="0" dirty="0"/>
              <a:t> hard hats provide limited protection, mostly from bumps against fixed objects. Class C hard hats do not provide any protection against electrical hazards.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s-PR" dirty="0">
              <a:latin typeface="Arial" panose="020B0604020202020204" pitchFamily="34" charset="0"/>
            </a:endParaRPr>
          </a:p>
          <a:p>
            <a:endParaRPr lang="en-US" dirty="0"/>
          </a:p>
          <a:p>
            <a:endParaRPr lang="en-US" dirty="0"/>
          </a:p>
        </p:txBody>
      </p:sp>
      <p:sp>
        <p:nvSpPr>
          <p:cNvPr id="4" name="Slide Number Placeholder 3"/>
          <p:cNvSpPr>
            <a:spLocks noGrp="1"/>
          </p:cNvSpPr>
          <p:nvPr>
            <p:ph type="sldNum" sz="quarter" idx="10"/>
          </p:nvPr>
        </p:nvSpPr>
        <p:spPr/>
        <p:txBody>
          <a:bodyPr/>
          <a:lstStyle/>
          <a:p>
            <a:fld id="{0F6C6ECD-E119-4B29-A31F-F4F2A203725D}" type="slidenum">
              <a:rPr lang="en-US" smtClean="0"/>
              <a:t>34</a:t>
            </a:fld>
            <a:endParaRPr lang="en-US"/>
          </a:p>
        </p:txBody>
      </p:sp>
    </p:spTree>
    <p:extLst>
      <p:ext uri="{BB962C8B-B14F-4D97-AF65-F5344CB8AC3E}">
        <p14:creationId xmlns:p14="http://schemas.microsoft.com/office/powerpoint/2010/main" val="422749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469900"/>
            <a:ext cx="5618163" cy="3160713"/>
          </a:xfrm>
        </p:spPr>
      </p:sp>
      <p:sp>
        <p:nvSpPr>
          <p:cNvPr id="3" name="Notes Placeholder 2"/>
          <p:cNvSpPr>
            <a:spLocks noGrp="1"/>
          </p:cNvSpPr>
          <p:nvPr>
            <p:ph type="body" idx="1"/>
          </p:nvPr>
        </p:nvSpPr>
        <p:spPr/>
        <p:txBody>
          <a:bodyPr/>
          <a:lstStyle/>
          <a:p>
            <a:r>
              <a:rPr lang="en-US" b="1" dirty="0"/>
              <a:t>https://www.osha.gov/dts/osta/otm/noise/index.html </a:t>
            </a:r>
          </a:p>
          <a:p>
            <a:br>
              <a:rPr lang="en-US" dirty="0"/>
            </a:br>
            <a:r>
              <a:rPr lang="en-US" dirty="0"/>
              <a:t>“Noise, or unwanted sound, is one of the most common health problems in American workplaces. The National Institute for Occupational Safety and Health (NIOSH) estimates that 30 million workers in the U.S. are exposed to hazardous noise. Exposure to high levels of noise may cause hearing loss, create physical and psychological stress, reduce productivity, interfere with communication, and contribute to accidents and injuries by making it difficult to hear warning signals.</a:t>
            </a:r>
          </a:p>
          <a:p>
            <a:endParaRPr lang="en-US" dirty="0"/>
          </a:p>
          <a:p>
            <a:r>
              <a:rPr lang="en-US" dirty="0"/>
              <a:t>OSHA requires employers to determine if workers are exposed to excessive noise in the workplace. If so, the employers must implement feasible engineering or administrative controls to eliminate or reduce hazardous levels of noise. Where controls are not sufficient, employers must implement an effective hearing conservation program.” </a:t>
            </a:r>
            <a:br>
              <a:rPr lang="en-US" dirty="0"/>
            </a:br>
            <a:r>
              <a:rPr lang="en-US" dirty="0"/>
              <a:t>(OSHA Noise</a:t>
            </a:r>
            <a:r>
              <a:rPr lang="en-US" baseline="0" dirty="0"/>
              <a:t> and Hearing Conservation </a:t>
            </a:r>
            <a:r>
              <a:rPr lang="en-US" baseline="0" dirty="0" err="1"/>
              <a:t>eTool</a:t>
            </a:r>
            <a:r>
              <a:rPr lang="en-US" baseline="0" dirty="0"/>
              <a:t>, 2005)</a:t>
            </a: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F5D18354-FAF5-4E98-B57F-F6182A7992A0}" type="slidenum">
              <a:rPr lang="en-US" smtClean="0"/>
              <a:t>37</a:t>
            </a:fld>
            <a:endParaRPr lang="en-US"/>
          </a:p>
        </p:txBody>
      </p:sp>
    </p:spTree>
    <p:extLst>
      <p:ext uri="{BB962C8B-B14F-4D97-AF65-F5344CB8AC3E}">
        <p14:creationId xmlns:p14="http://schemas.microsoft.com/office/powerpoint/2010/main" val="845702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r>
              <a:rPr lang="en-US" dirty="0"/>
              <a:t>29 CFR 1910.95(b)(2)</a:t>
            </a:r>
          </a:p>
          <a:p>
            <a:endParaRPr lang="en-US" dirty="0"/>
          </a:p>
          <a:p>
            <a:r>
              <a:rPr lang="en-US" dirty="0">
                <a:effectLst/>
              </a:rPr>
              <a:t>“If the variations in noise level involve maxima at intervals of 1 second or less, it is to be considered continuous. </a:t>
            </a:r>
          </a:p>
          <a:p>
            <a:endParaRPr lang="en-US" dirty="0">
              <a:effectLst/>
            </a:endParaRPr>
          </a:p>
          <a:p>
            <a:r>
              <a:rPr lang="en-US" dirty="0">
                <a:effectLst/>
              </a:rPr>
              <a:t>Footnote(1) When the daily noise exposure is composed of two or more periods of noise exposure of different levels, their combined effect should be considered, rather than the individual effect of each. If the sum of the following fractions: C(1)/T(1) + C(2)/T(2) C(n)/T(n) exceeds unity, then, the mixed exposure should be considered to exceed the limit value. Cn indicates the total time of exposure at a specified noise level, and </a:t>
            </a:r>
            <a:r>
              <a:rPr lang="en-US" dirty="0" err="1">
                <a:effectLst/>
              </a:rPr>
              <a:t>Tn</a:t>
            </a:r>
            <a:r>
              <a:rPr lang="en-US" dirty="0">
                <a:effectLst/>
              </a:rPr>
              <a:t> indicates the total time of exposure permitted at that level. Exposure to impulsive or impact noise should not exceed 140 dB peak sound pressure level.” </a:t>
            </a:r>
            <a:endParaRPr lang="en-US" dirty="0"/>
          </a:p>
        </p:txBody>
      </p:sp>
      <p:sp>
        <p:nvSpPr>
          <p:cNvPr id="4" name="Slide Number Placeholder 3"/>
          <p:cNvSpPr>
            <a:spLocks noGrp="1"/>
          </p:cNvSpPr>
          <p:nvPr>
            <p:ph type="sldNum" sz="quarter" idx="10"/>
          </p:nvPr>
        </p:nvSpPr>
        <p:spPr/>
        <p:txBody>
          <a:bodyPr/>
          <a:lstStyle/>
          <a:p>
            <a:fld id="{3ECC418A-57C6-4B2F-979F-B2F731CD8869}" type="slidenum">
              <a:rPr lang="en-US" smtClean="0"/>
              <a:pPr/>
              <a:t>38</a:t>
            </a:fld>
            <a:endParaRPr lang="en-US"/>
          </a:p>
        </p:txBody>
      </p:sp>
    </p:spTree>
    <p:extLst>
      <p:ext uri="{BB962C8B-B14F-4D97-AF65-F5344CB8AC3E}">
        <p14:creationId xmlns:p14="http://schemas.microsoft.com/office/powerpoint/2010/main" val="1389308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469900"/>
            <a:ext cx="5618163" cy="3160713"/>
          </a:xfrm>
        </p:spPr>
      </p:sp>
      <p:sp>
        <p:nvSpPr>
          <p:cNvPr id="3" name="Notes Placeholder 2"/>
          <p:cNvSpPr>
            <a:spLocks noGrp="1"/>
          </p:cNvSpPr>
          <p:nvPr>
            <p:ph type="body" idx="1"/>
          </p:nvPr>
        </p:nvSpPr>
        <p:spPr/>
        <p:txBody>
          <a:bodyPr/>
          <a:lstStyle/>
          <a:p>
            <a:r>
              <a:rPr lang="en-US" b="1" dirty="0"/>
              <a:t>https://www.osha.gov/dts/osta/otm/noise/index.html </a:t>
            </a:r>
          </a:p>
          <a:p>
            <a:br>
              <a:rPr lang="en-US" dirty="0"/>
            </a:br>
            <a:r>
              <a:rPr lang="en-US" dirty="0"/>
              <a:t>“Hearing protection devices (HPDs) are considered the last option to control exposures to noise. HPDs are generally used during the necessary time it takes to implement engineering or administrative controls, or when such controls are not feasible.” </a:t>
            </a:r>
            <a:br>
              <a:rPr lang="en-US" dirty="0"/>
            </a:br>
            <a:r>
              <a:rPr lang="en-US" dirty="0"/>
              <a:t>(OSHA Noise</a:t>
            </a:r>
            <a:r>
              <a:rPr lang="en-US" baseline="0" dirty="0"/>
              <a:t> and Hearing Conservation </a:t>
            </a:r>
            <a:r>
              <a:rPr lang="en-US" baseline="0" dirty="0" err="1"/>
              <a:t>eTool</a:t>
            </a:r>
            <a:r>
              <a:rPr lang="en-US" baseline="0" dirty="0"/>
              <a:t>, 2005)</a:t>
            </a:r>
          </a:p>
          <a:p>
            <a:endParaRPr lang="en-US" baseline="0" dirty="0"/>
          </a:p>
          <a:p>
            <a:r>
              <a:rPr lang="en-US" baseline="0" dirty="0"/>
              <a:t>This slide shows some examples of hearing protection devices.</a:t>
            </a:r>
          </a:p>
          <a:p>
            <a:endParaRPr lang="en-US" baseline="0" dirty="0"/>
          </a:p>
          <a:p>
            <a:r>
              <a:rPr lang="en-US" baseline="0" dirty="0"/>
              <a:t>https://www.osha.gov/dts/osta/otm/new_noise/appendixe.pdf </a:t>
            </a:r>
            <a:br>
              <a:rPr lang="en-US" dirty="0"/>
            </a:br>
            <a:endParaRPr lang="en-US" baseline="0" dirty="0"/>
          </a:p>
          <a:p>
            <a:r>
              <a:rPr lang="en-US" baseline="0" dirty="0"/>
              <a:t>The Noise Reduction Rating of hearing protectors is required labeling on the hearing protector package; manufacturers must identify the noise reduction capability of the product through “laboratory-derived numerical estimate of the attenuation achieved by the protector” (OSHA </a:t>
            </a:r>
            <a:r>
              <a:rPr lang="en-US" baseline="0" dirty="0" err="1"/>
              <a:t>n.d.</a:t>
            </a:r>
            <a:r>
              <a:rPr lang="en-US" baseline="0" dirty="0"/>
              <a:t>). </a:t>
            </a:r>
            <a:br>
              <a:rPr lang="en-US" baseline="0" dirty="0"/>
            </a:br>
            <a:endParaRPr lang="en-US" dirty="0"/>
          </a:p>
          <a:p>
            <a:endParaRPr lang="en-US" dirty="0"/>
          </a:p>
        </p:txBody>
      </p:sp>
      <p:sp>
        <p:nvSpPr>
          <p:cNvPr id="4" name="Slide Number Placeholder 3"/>
          <p:cNvSpPr>
            <a:spLocks noGrp="1"/>
          </p:cNvSpPr>
          <p:nvPr>
            <p:ph type="sldNum" sz="quarter" idx="10"/>
          </p:nvPr>
        </p:nvSpPr>
        <p:spPr/>
        <p:txBody>
          <a:bodyPr/>
          <a:lstStyle/>
          <a:p>
            <a:fld id="{F5D18354-FAF5-4E98-B57F-F6182A7992A0}" type="slidenum">
              <a:rPr lang="en-US" smtClean="0"/>
              <a:t>39</a:t>
            </a:fld>
            <a:endParaRPr lang="en-US"/>
          </a:p>
        </p:txBody>
      </p:sp>
    </p:spTree>
    <p:extLst>
      <p:ext uri="{BB962C8B-B14F-4D97-AF65-F5344CB8AC3E}">
        <p14:creationId xmlns:p14="http://schemas.microsoft.com/office/powerpoint/2010/main" val="4240107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r>
              <a:rPr lang="en-US" dirty="0"/>
              <a:t>http://www-esh.fnal.gov/CourseHandout_Mat/earplug.pdf </a:t>
            </a:r>
          </a:p>
        </p:txBody>
      </p:sp>
      <p:sp>
        <p:nvSpPr>
          <p:cNvPr id="4" name="Slide Number Placeholder 3"/>
          <p:cNvSpPr>
            <a:spLocks noGrp="1"/>
          </p:cNvSpPr>
          <p:nvPr>
            <p:ph type="sldNum" sz="quarter" idx="10"/>
          </p:nvPr>
        </p:nvSpPr>
        <p:spPr/>
        <p:txBody>
          <a:bodyPr/>
          <a:lstStyle/>
          <a:p>
            <a:fld id="{3ECC418A-57C6-4B2F-979F-B2F731CD8869}" type="slidenum">
              <a:rPr lang="en-US" smtClean="0"/>
              <a:pPr/>
              <a:t>40</a:t>
            </a:fld>
            <a:endParaRPr lang="en-US"/>
          </a:p>
        </p:txBody>
      </p:sp>
    </p:spTree>
    <p:extLst>
      <p:ext uri="{BB962C8B-B14F-4D97-AF65-F5344CB8AC3E}">
        <p14:creationId xmlns:p14="http://schemas.microsoft.com/office/powerpoint/2010/main" val="417787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484188"/>
            <a:ext cx="5251450" cy="2954337"/>
          </a:xfrm>
        </p:spPr>
      </p:sp>
      <p:sp>
        <p:nvSpPr>
          <p:cNvPr id="3" name="Notes Placeholder 2"/>
          <p:cNvSpPr>
            <a:spLocks noGrp="1"/>
          </p:cNvSpPr>
          <p:nvPr>
            <p:ph type="body" idx="1"/>
          </p:nvPr>
        </p:nvSpPr>
        <p:spPr/>
        <p:txBody>
          <a:bodyPr/>
          <a:lstStyle/>
          <a:p>
            <a:pPr defTabSz="888980">
              <a:defRPr/>
            </a:pPr>
            <a:r>
              <a:rPr lang="en-US" dirty="0"/>
              <a:t>Employees who face possible foot or leg injuries from falling or rolling objects or from crushing or penetrating materials should</a:t>
            </a:r>
            <a:r>
              <a:rPr lang="en-US" baseline="0" dirty="0"/>
              <a:t> </a:t>
            </a:r>
            <a:r>
              <a:rPr lang="en-US" dirty="0"/>
              <a:t>wear protective footwear. Also, employees whose work involves exposure to hot substances or corrosive or poisonous materials must have protective gear to cover exposed body parts, including legs and feet….</a:t>
            </a:r>
          </a:p>
          <a:p>
            <a:endParaRPr lang="en-US" dirty="0"/>
          </a:p>
          <a:p>
            <a:r>
              <a:rPr lang="en-US" dirty="0"/>
              <a:t>Examples of situations in which an employee should wear foot and/or leg protection include: </a:t>
            </a:r>
          </a:p>
          <a:p>
            <a:pPr marL="166684" indent="-166684">
              <a:buFont typeface="Arial" panose="020B0604020202020204" pitchFamily="34" charset="0"/>
              <a:buChar char="•"/>
            </a:pPr>
            <a:r>
              <a:rPr lang="en-US" dirty="0"/>
              <a:t>When heavy objects such as barrels or tools might roll onto or fall on the employee's feet;</a:t>
            </a:r>
          </a:p>
          <a:p>
            <a:pPr marL="166684" indent="-166684">
              <a:buFont typeface="Arial" panose="020B0604020202020204" pitchFamily="34" charset="0"/>
              <a:buChar char="•"/>
            </a:pPr>
            <a:r>
              <a:rPr lang="en-US" dirty="0"/>
              <a:t>Working with sharp objects such as nails or spikes that could pierce the soles or uppers of ordinary shoes;</a:t>
            </a:r>
          </a:p>
          <a:p>
            <a:pPr marL="166684" indent="-166684">
              <a:buFont typeface="Arial" panose="020B0604020202020204" pitchFamily="34" charset="0"/>
              <a:buChar char="•"/>
            </a:pPr>
            <a:r>
              <a:rPr lang="en-US" dirty="0"/>
              <a:t>Exposure to molten metal that might splash on feet or legs;</a:t>
            </a:r>
          </a:p>
          <a:p>
            <a:pPr marL="166684" indent="-166684">
              <a:buFont typeface="Arial" panose="020B0604020202020204" pitchFamily="34" charset="0"/>
              <a:buChar char="•"/>
            </a:pPr>
            <a:r>
              <a:rPr lang="en-US" dirty="0"/>
              <a:t>Working on or around hot, wet, or slippery surfaces; and </a:t>
            </a:r>
          </a:p>
          <a:p>
            <a:pPr marL="166684" indent="-166684">
              <a:buFont typeface="Arial" panose="020B0604020202020204" pitchFamily="34" charset="0"/>
              <a:buChar char="•"/>
            </a:pPr>
            <a:r>
              <a:rPr lang="en-US" dirty="0"/>
              <a:t>Working when electrical hazards are present.”</a:t>
            </a:r>
            <a:br>
              <a:rPr lang="en-US" dirty="0"/>
            </a:br>
            <a:r>
              <a:rPr lang="en-US" dirty="0"/>
              <a:t>(OSHA Publication</a:t>
            </a:r>
            <a:r>
              <a:rPr lang="en-US" baseline="0" dirty="0"/>
              <a:t> 3151-12R, </a:t>
            </a:r>
            <a:r>
              <a:rPr lang="en-US" dirty="0"/>
              <a:t>2003)</a:t>
            </a:r>
          </a:p>
        </p:txBody>
      </p:sp>
      <p:sp>
        <p:nvSpPr>
          <p:cNvPr id="4" name="Slide Number Placeholder 3"/>
          <p:cNvSpPr>
            <a:spLocks noGrp="1"/>
          </p:cNvSpPr>
          <p:nvPr>
            <p:ph type="sldNum" sz="quarter" idx="10"/>
          </p:nvPr>
        </p:nvSpPr>
        <p:spPr/>
        <p:txBody>
          <a:bodyPr/>
          <a:lstStyle/>
          <a:p>
            <a:fld id="{0F6C6ECD-E119-4B29-A31F-F4F2A203725D}" type="slidenum">
              <a:rPr lang="en-US" smtClean="0"/>
              <a:t>44</a:t>
            </a:fld>
            <a:endParaRPr lang="en-US"/>
          </a:p>
        </p:txBody>
      </p:sp>
    </p:spTree>
    <p:extLst>
      <p:ext uri="{BB962C8B-B14F-4D97-AF65-F5344CB8AC3E}">
        <p14:creationId xmlns:p14="http://schemas.microsoft.com/office/powerpoint/2010/main" val="4239651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582A5812-BE21-4A95-8928-85C5BB60E3A2}" type="slidenum">
              <a:rPr lang="en-US" smtClean="0">
                <a:latin typeface="Times New Roman" panose="02020603050405020304" pitchFamily="18" charset="0"/>
              </a:rPr>
              <a:pPr/>
              <a:t>45</a:t>
            </a:fld>
            <a:endParaRPr lang="en-US">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xfrm>
            <a:off x="1249363" y="484188"/>
            <a:ext cx="5251450" cy="2954337"/>
          </a:xfrm>
          <a:ln cap="flat"/>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914400" lvl="0" indent="-342900" algn="l">
              <a:spcBef>
                <a:spcPct val="0"/>
              </a:spcBef>
              <a:buClrTx/>
              <a:buFont typeface="Arial" panose="020B0604020202020204" pitchFamily="34" charset="0"/>
              <a:buChar char="•"/>
            </a:pPr>
            <a:r>
              <a:rPr lang="en-US" sz="2500" b="1" dirty="0">
                <a:latin typeface="Tahoma" panose="020B0604030504040204" pitchFamily="34" charset="0"/>
                <a:ea typeface="Tahoma" panose="020B0604030504040204" pitchFamily="34" charset="0"/>
                <a:cs typeface="Tahoma" panose="020B0604030504040204" pitchFamily="34" charset="0"/>
              </a:rPr>
              <a:t>IMPACTS</a:t>
            </a:r>
            <a:r>
              <a:rPr lang="en-US" sz="2500" dirty="0">
                <a:latin typeface="Tahoma" panose="020B0604030504040204" pitchFamily="34" charset="0"/>
                <a:ea typeface="Tahoma" panose="020B0604030504040204" pitchFamily="34" charset="0"/>
                <a:cs typeface="Tahoma" panose="020B0604030504040204" pitchFamily="34" charset="0"/>
              </a:rPr>
              <a:t> – loading or handling materials such as packages, equipment or heavy objects that could fall</a:t>
            </a:r>
          </a:p>
          <a:p>
            <a:pPr marL="914400" lvl="0" indent="-342900" algn="l">
              <a:spcBef>
                <a:spcPct val="0"/>
              </a:spcBef>
              <a:buClrTx/>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COMPRESSIONS</a:t>
            </a:r>
            <a:r>
              <a:rPr lang="en-US" sz="2400" dirty="0">
                <a:latin typeface="Tahoma" panose="020B0604030504040204" pitchFamily="34" charset="0"/>
                <a:ea typeface="Tahoma" panose="020B0604030504040204" pitchFamily="34" charset="0"/>
                <a:cs typeface="Tahoma" panose="020B0604030504040204" pitchFamily="34" charset="0"/>
              </a:rPr>
              <a:t> – activities involving vehicles (manual material handling carts)</a:t>
            </a:r>
          </a:p>
          <a:p>
            <a:pPr marL="914400" lvl="0" indent="-342900" algn="l">
              <a:spcBef>
                <a:spcPct val="0"/>
              </a:spcBef>
              <a:buClrTx/>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CUTS/PUNCTURES</a:t>
            </a:r>
            <a:r>
              <a:rPr lang="en-US" sz="2400" dirty="0">
                <a:latin typeface="Tahoma" panose="020B0604030504040204" pitchFamily="34" charset="0"/>
                <a:ea typeface="Tahoma" panose="020B0604030504040204" pitchFamily="34" charset="0"/>
                <a:cs typeface="Tahoma" panose="020B0604030504040204" pitchFamily="34" charset="0"/>
              </a:rPr>
              <a:t> – sharp objects such as nails, wire, tacks, staples, screws, scrap metal</a:t>
            </a:r>
          </a:p>
          <a:p>
            <a:pPr marL="914400" lvl="0" indent="-342900" algn="l">
              <a:spcBef>
                <a:spcPct val="0"/>
              </a:spcBef>
              <a:buClrTx/>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CHEMICALS</a:t>
            </a:r>
            <a:r>
              <a:rPr lang="en-US" sz="2400" dirty="0">
                <a:latin typeface="Tahoma" panose="020B0604030504040204" pitchFamily="34" charset="0"/>
                <a:ea typeface="Tahoma" panose="020B0604030504040204" pitchFamily="34" charset="0"/>
                <a:cs typeface="Tahoma" panose="020B0604030504040204" pitchFamily="34" charset="0"/>
              </a:rPr>
              <a:t> – verify with your supervisor and/or the SDS (Safety Data Sheet) for adequate protection</a:t>
            </a:r>
          </a:p>
          <a:p>
            <a:pPr marL="914400" lvl="0" indent="-342900" algn="l">
              <a:spcBef>
                <a:spcPct val="0"/>
              </a:spcBef>
              <a:buClrTx/>
              <a:buFont typeface="Arial" panose="020B0604020202020204" pitchFamily="34" charset="0"/>
              <a:buChar char="•"/>
            </a:pPr>
            <a:r>
              <a:rPr lang="en-US" sz="2400" b="1" dirty="0">
                <a:latin typeface="Tahoma" panose="020B0604030504040204" pitchFamily="34" charset="0"/>
                <a:ea typeface="Tahoma" panose="020B0604030504040204" pitchFamily="34" charset="0"/>
                <a:cs typeface="Tahoma" panose="020B0604030504040204" pitchFamily="34" charset="0"/>
              </a:rPr>
              <a:t>TEMPERATURES</a:t>
            </a:r>
            <a:r>
              <a:rPr lang="en-US" sz="2400" baseline="0" dirty="0">
                <a:latin typeface="Tahoma" panose="020B0604030504040204" pitchFamily="34" charset="0"/>
                <a:ea typeface="Tahoma" panose="020B0604030504040204" pitchFamily="34" charset="0"/>
                <a:cs typeface="Tahoma" panose="020B0604030504040204" pitchFamily="34" charset="0"/>
              </a:rPr>
              <a:t> – extreme hot or cold work surfaces and/or materials</a:t>
            </a:r>
            <a:endParaRPr lang="en-US" sz="2400" dirty="0">
              <a:latin typeface="Tahoma" panose="020B0604030504040204" pitchFamily="34" charset="0"/>
              <a:ea typeface="Tahoma" panose="020B0604030504040204" pitchFamily="34" charset="0"/>
              <a:cs typeface="Tahoma" panose="020B0604030504040204" pitchFamily="34" charset="0"/>
            </a:endParaRPr>
          </a:p>
          <a:p>
            <a:pPr marL="171450" indent="-171450" algn="l">
              <a:buFont typeface="Arial" panose="020B0604020202020204" pitchFamily="34" charset="0"/>
              <a:buChar char="•"/>
            </a:pPr>
            <a:endParaRPr lang="es-PR" dirty="0"/>
          </a:p>
        </p:txBody>
      </p:sp>
    </p:spTree>
    <p:extLst>
      <p:ext uri="{BB962C8B-B14F-4D97-AF65-F5344CB8AC3E}">
        <p14:creationId xmlns:p14="http://schemas.microsoft.com/office/powerpoint/2010/main" val="2394981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469900"/>
            <a:ext cx="5618163" cy="3160713"/>
          </a:xfrm>
        </p:spPr>
      </p:sp>
      <p:sp>
        <p:nvSpPr>
          <p:cNvPr id="3" name="Notes Placeholder 2"/>
          <p:cNvSpPr>
            <a:spLocks noGrp="1"/>
          </p:cNvSpPr>
          <p:nvPr>
            <p:ph type="body" idx="1"/>
          </p:nvPr>
        </p:nvSpPr>
        <p:spPr/>
        <p:txBody>
          <a:bodyPr/>
          <a:lstStyle/>
          <a:p>
            <a:pPr defTabSz="888980">
              <a:defRPr/>
            </a:pPr>
            <a:r>
              <a:rPr lang="en-US" b="1" dirty="0"/>
              <a:t>https://www.osha.gov/Publications/osha3151.html </a:t>
            </a:r>
          </a:p>
          <a:p>
            <a:endParaRPr lang="en-US" dirty="0"/>
          </a:p>
          <a:p>
            <a:r>
              <a:rPr lang="en-US" b="0" dirty="0"/>
              <a:t>“Safety shoes </a:t>
            </a:r>
            <a:r>
              <a:rPr lang="en-US" dirty="0"/>
              <a:t>have impact-resistant toes and heat-resistant soles that protect the feet against hot work surfaces common in roofing, paving and hot metal industries. The metal insoles of some safety shoes protect against puncture wounds. Safety shoes may also be designed to be electrically conductive to prevent the buildup of static electricity in areas with the potential for explosive atmospheres or nonconductive to protect workers from workplace electrical hazards.”</a:t>
            </a:r>
          </a:p>
          <a:p>
            <a:endParaRPr lang="en-US" dirty="0"/>
          </a:p>
          <a:p>
            <a:r>
              <a:rPr lang="en-US" b="0" dirty="0"/>
              <a:t>“Metatarsal guards </a:t>
            </a:r>
            <a:r>
              <a:rPr lang="en-US" dirty="0"/>
              <a:t>protect the instep area from impact and compression. Made of aluminum, steel, fiber or plastic, these guards may be strapped to the outside of shoes.”</a:t>
            </a:r>
          </a:p>
          <a:p>
            <a:endParaRPr lang="en-US" dirty="0"/>
          </a:p>
          <a:p>
            <a:r>
              <a:rPr lang="en-US" b="0" dirty="0"/>
              <a:t>“Electrically conductive shoes </a:t>
            </a:r>
            <a:r>
              <a:rPr lang="en-US" dirty="0"/>
              <a:t>provide protection against the buildup of static electricity…. Employees exposed to electrical hazards must never wear conductive shoes.”</a:t>
            </a:r>
          </a:p>
          <a:p>
            <a:endParaRPr lang="en-US" dirty="0"/>
          </a:p>
          <a:p>
            <a:r>
              <a:rPr lang="en-US" b="0" dirty="0"/>
              <a:t>“Electrical hazard, safety-toe shoes </a:t>
            </a:r>
            <a:r>
              <a:rPr lang="en-US" dirty="0"/>
              <a:t>are nonconductive and will prevent the wearers' feet from completing an electrical circuit to the ground. These shoes can protect against open circuits of up to 600 volts in dry conditions and should be used in conjunction with other insulating equipment and additional precautions to reduce the risk of a worker becoming a path for hazardous electrical energy. The insulating protection of electrical hazard, safety-toe shoes may be compromised if the shoes become wet, the soles are worn through, metal particles become embedded in the sole or heel, or workers touch conductive, grounded items. Note: Nonconductive footwear must not be used in explosive or hazardous locations.”</a:t>
            </a:r>
          </a:p>
          <a:p>
            <a:endParaRPr lang="en-US" dirty="0"/>
          </a:p>
          <a:p>
            <a:pPr defTabSz="888980">
              <a:defRPr/>
            </a:pPr>
            <a:r>
              <a:rPr lang="en-US" dirty="0"/>
              <a:t>(OSHA Publication</a:t>
            </a:r>
            <a:r>
              <a:rPr lang="en-US" baseline="0" dirty="0"/>
              <a:t> 3151-12R, </a:t>
            </a:r>
            <a:r>
              <a:rPr lang="en-US" dirty="0"/>
              <a:t>2003)</a:t>
            </a:r>
          </a:p>
        </p:txBody>
      </p:sp>
      <p:sp>
        <p:nvSpPr>
          <p:cNvPr id="4" name="Slide Number Placeholder 3"/>
          <p:cNvSpPr>
            <a:spLocks noGrp="1"/>
          </p:cNvSpPr>
          <p:nvPr>
            <p:ph type="sldNum" sz="quarter" idx="10"/>
          </p:nvPr>
        </p:nvSpPr>
        <p:spPr/>
        <p:txBody>
          <a:bodyPr/>
          <a:lstStyle/>
          <a:p>
            <a:fld id="{F5D18354-FAF5-4E98-B57F-F6182A7992A0}" type="slidenum">
              <a:rPr lang="en-US" smtClean="0"/>
              <a:t>46</a:t>
            </a:fld>
            <a:endParaRPr lang="en-US"/>
          </a:p>
        </p:txBody>
      </p:sp>
    </p:spTree>
    <p:extLst>
      <p:ext uri="{BB962C8B-B14F-4D97-AF65-F5344CB8AC3E}">
        <p14:creationId xmlns:p14="http://schemas.microsoft.com/office/powerpoint/2010/main" val="37874397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982C0328-2323-4DFD-82C2-BA2E01D90CAC}" type="slidenum">
              <a:rPr lang="en-US" smtClean="0">
                <a:latin typeface="Times New Roman" panose="02020603050405020304" pitchFamily="18" charset="0"/>
              </a:rPr>
              <a:pPr/>
              <a:t>47</a:t>
            </a:fld>
            <a:endParaRPr lang="en-US">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xfrm>
            <a:off x="1249363" y="484188"/>
            <a:ext cx="5251450" cy="2954337"/>
          </a:xfrm>
          <a:ln cap="flat"/>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PR"/>
          </a:p>
        </p:txBody>
      </p:sp>
    </p:spTree>
    <p:extLst>
      <p:ext uri="{BB962C8B-B14F-4D97-AF65-F5344CB8AC3E}">
        <p14:creationId xmlns:p14="http://schemas.microsoft.com/office/powerpoint/2010/main" val="31680460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7F99BDFB-03A4-4ACB-87F0-D71AA00EA9A5}" type="slidenum">
              <a:rPr lang="en-US" smtClean="0">
                <a:latin typeface="Times New Roman" panose="02020603050405020304" pitchFamily="18" charset="0"/>
              </a:rPr>
              <a:pPr/>
              <a:t>50</a:t>
            </a:fld>
            <a:endParaRPr lang="en-US">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xfrm>
            <a:off x="1249363" y="484188"/>
            <a:ext cx="5251450" cy="2954337"/>
          </a:xfrm>
          <a:ln cap="flat"/>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ahoma" panose="020B0604030504040204" pitchFamily="34" charset="0"/>
                <a:ea typeface="Tahoma" panose="020B0604030504040204" pitchFamily="34" charset="0"/>
                <a:cs typeface="Tahoma" panose="020B0604030504040204" pitchFamily="34" charset="0"/>
              </a:rPr>
              <a:t>The employer select and require employees the proper use of hand protection when exposed to hazards.</a:t>
            </a:r>
            <a:endParaRPr lang="es-PR" dirty="0"/>
          </a:p>
          <a:p>
            <a:endParaRPr lang="es-PR" dirty="0"/>
          </a:p>
        </p:txBody>
      </p:sp>
    </p:spTree>
    <p:extLst>
      <p:ext uri="{BB962C8B-B14F-4D97-AF65-F5344CB8AC3E}">
        <p14:creationId xmlns:p14="http://schemas.microsoft.com/office/powerpoint/2010/main" val="1605512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469900"/>
            <a:ext cx="5618163" cy="3160713"/>
          </a:xfrm>
        </p:spPr>
      </p:sp>
      <p:sp>
        <p:nvSpPr>
          <p:cNvPr id="3" name="Notes Placeholder 2"/>
          <p:cNvSpPr>
            <a:spLocks noGrp="1"/>
          </p:cNvSpPr>
          <p:nvPr>
            <p:ph type="body" idx="1"/>
          </p:nvPr>
        </p:nvSpPr>
        <p:spPr/>
        <p:txBody>
          <a:bodyPr/>
          <a:lstStyle/>
          <a:p>
            <a:pPr defTabSz="888980">
              <a:defRPr/>
            </a:pPr>
            <a:r>
              <a:rPr lang="en-US" b="1" dirty="0"/>
              <a:t>https://www.osha.gov/Publications/osha3151.html </a:t>
            </a:r>
          </a:p>
          <a:p>
            <a:endParaRPr lang="en-US" dirty="0"/>
          </a:p>
          <a:p>
            <a:r>
              <a:rPr lang="en-US" dirty="0"/>
              <a:t>“There are many types of gloves available today to protect against a wide variety of hazards. The nature of the hazard and the operation involved will affect the selection of gloves. The variety of potential occupational hand injuries makes selecting the right pair of gloves challenging. It is essential that employees use gloves specifically designed for the hazards and tasks found in their workplace because gloves designed for one function may not protect against a different function even though they may appear to be an appropriate protective device.</a:t>
            </a:r>
            <a:br>
              <a:rPr lang="en-US" dirty="0"/>
            </a:br>
            <a:br>
              <a:rPr lang="en-US" dirty="0"/>
            </a:br>
            <a:r>
              <a:rPr lang="en-US" dirty="0"/>
              <a:t>The following are examples of some factors that may influence the selection of protective gloves for a workplace. </a:t>
            </a:r>
          </a:p>
          <a:p>
            <a:pPr marL="171450" indent="-171450">
              <a:buFont typeface="Arial" panose="020B0604020202020204" pitchFamily="34" charset="0"/>
              <a:buChar char="•"/>
            </a:pPr>
            <a:r>
              <a:rPr lang="en-US" dirty="0"/>
              <a:t>Type of chemicals handled. </a:t>
            </a:r>
          </a:p>
          <a:p>
            <a:pPr marL="166684" indent="-166684">
              <a:buFont typeface="Arial" panose="020B0604020202020204" pitchFamily="34" charset="0"/>
              <a:buChar char="•"/>
            </a:pPr>
            <a:r>
              <a:rPr lang="en-US" dirty="0"/>
              <a:t>Nature of contact (total immersion, splash, etc.). </a:t>
            </a:r>
          </a:p>
          <a:p>
            <a:pPr marL="166684" indent="-166684">
              <a:buFont typeface="Arial" panose="020B0604020202020204" pitchFamily="34" charset="0"/>
              <a:buChar char="•"/>
            </a:pPr>
            <a:r>
              <a:rPr lang="en-US" dirty="0"/>
              <a:t>Duration of contact. </a:t>
            </a:r>
          </a:p>
          <a:p>
            <a:pPr marL="166684" indent="-166684">
              <a:buFont typeface="Arial" panose="020B0604020202020204" pitchFamily="34" charset="0"/>
              <a:buChar char="•"/>
            </a:pPr>
            <a:r>
              <a:rPr lang="en-US" dirty="0"/>
              <a:t>Area requiring protection (hand only, forearm, arm). </a:t>
            </a:r>
          </a:p>
          <a:p>
            <a:pPr marL="166684" indent="-166684">
              <a:buFont typeface="Arial" panose="020B0604020202020204" pitchFamily="34" charset="0"/>
              <a:buChar char="•"/>
            </a:pPr>
            <a:r>
              <a:rPr lang="en-US" dirty="0"/>
              <a:t>Grip requirements (dry, wet, oily). </a:t>
            </a:r>
          </a:p>
          <a:p>
            <a:pPr marL="166684" indent="-166684">
              <a:buFont typeface="Arial" panose="020B0604020202020204" pitchFamily="34" charset="0"/>
              <a:buChar char="•"/>
            </a:pPr>
            <a:r>
              <a:rPr lang="en-US" dirty="0"/>
              <a:t>Thermal protection. </a:t>
            </a:r>
          </a:p>
          <a:p>
            <a:pPr marL="166684" indent="-166684">
              <a:buFont typeface="Arial" panose="020B0604020202020204" pitchFamily="34" charset="0"/>
              <a:buChar char="•"/>
            </a:pPr>
            <a:r>
              <a:rPr lang="en-US" dirty="0"/>
              <a:t>Size and comfort. </a:t>
            </a:r>
          </a:p>
          <a:p>
            <a:pPr marL="166684" indent="-166684">
              <a:buFont typeface="Arial" panose="020B0604020202020204" pitchFamily="34" charset="0"/>
              <a:buChar char="•"/>
            </a:pPr>
            <a:r>
              <a:rPr lang="en-US" dirty="0"/>
              <a:t>Abrasion/resistance requirements. </a:t>
            </a:r>
          </a:p>
          <a:p>
            <a:pPr marL="0" indent="0">
              <a:buFontTx/>
              <a:buNone/>
            </a:pPr>
            <a:endParaRPr lang="en-US" dirty="0"/>
          </a:p>
          <a:p>
            <a:pPr marL="0" indent="0">
              <a:buFontTx/>
              <a:buNone/>
            </a:pPr>
            <a:r>
              <a:rPr lang="en-US" dirty="0"/>
              <a:t>Gloves made from a wide variety of materials are designed for many types of workplace hazards. In general, gloves fall into four groups: </a:t>
            </a:r>
          </a:p>
          <a:p>
            <a:pPr marL="166684" indent="-166684">
              <a:buFont typeface="Arial" panose="020B0604020202020204" pitchFamily="34" charset="0"/>
              <a:buChar char="•"/>
            </a:pPr>
            <a:r>
              <a:rPr lang="en-US" dirty="0"/>
              <a:t>Gloves made of leather, canvas or metal mesh; </a:t>
            </a:r>
          </a:p>
          <a:p>
            <a:pPr marL="166684" indent="-166684">
              <a:buFont typeface="Arial" panose="020B0604020202020204" pitchFamily="34" charset="0"/>
              <a:buChar char="•"/>
            </a:pPr>
            <a:r>
              <a:rPr lang="en-US" dirty="0"/>
              <a:t>Fabric and coated fabric gloves; </a:t>
            </a:r>
          </a:p>
          <a:p>
            <a:pPr marL="166684" indent="-166684">
              <a:buFont typeface="Arial" panose="020B0604020202020204" pitchFamily="34" charset="0"/>
              <a:buChar char="•"/>
            </a:pPr>
            <a:r>
              <a:rPr lang="en-US" dirty="0"/>
              <a:t>Chemical- and liquid-resistant gloves; </a:t>
            </a:r>
          </a:p>
          <a:p>
            <a:pPr marL="166684" indent="-166684">
              <a:buFont typeface="Arial" panose="020B0604020202020204" pitchFamily="34" charset="0"/>
              <a:buChar char="•"/>
            </a:pPr>
            <a:r>
              <a:rPr lang="en-US" dirty="0"/>
              <a:t>Insulating rubber gloves”</a:t>
            </a:r>
            <a:br>
              <a:rPr lang="en-US" dirty="0"/>
            </a:br>
            <a:r>
              <a:rPr lang="en-US" dirty="0"/>
              <a:t>(OSHA Publication</a:t>
            </a:r>
            <a:r>
              <a:rPr lang="en-US" baseline="0" dirty="0"/>
              <a:t> 3151-12R, </a:t>
            </a:r>
            <a:r>
              <a:rPr lang="en-US" dirty="0"/>
              <a:t>2003)</a:t>
            </a:r>
          </a:p>
        </p:txBody>
      </p:sp>
      <p:sp>
        <p:nvSpPr>
          <p:cNvPr id="4" name="Slide Number Placeholder 3"/>
          <p:cNvSpPr>
            <a:spLocks noGrp="1"/>
          </p:cNvSpPr>
          <p:nvPr>
            <p:ph type="sldNum" sz="quarter" idx="10"/>
          </p:nvPr>
        </p:nvSpPr>
        <p:spPr/>
        <p:txBody>
          <a:bodyPr/>
          <a:lstStyle/>
          <a:p>
            <a:fld id="{F5D18354-FAF5-4E98-B57F-F6182A7992A0}" type="slidenum">
              <a:rPr lang="en-US" smtClean="0"/>
              <a:t>51</a:t>
            </a:fld>
            <a:endParaRPr lang="en-US"/>
          </a:p>
        </p:txBody>
      </p:sp>
    </p:spTree>
    <p:extLst>
      <p:ext uri="{BB962C8B-B14F-4D97-AF65-F5344CB8AC3E}">
        <p14:creationId xmlns:p14="http://schemas.microsoft.com/office/powerpoint/2010/main" val="1149389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DF3F684A-70FA-4E2A-9D99-843FADD29484}" type="slidenum">
              <a:rPr lang="en-US" smtClean="0">
                <a:latin typeface="Times New Roman" panose="02020603050405020304" pitchFamily="18" charset="0"/>
              </a:rPr>
              <a:pPr/>
              <a:t>53</a:t>
            </a:fld>
            <a:endParaRPr lang="en-US">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xfrm>
            <a:off x="484188" y="741363"/>
            <a:ext cx="6046787" cy="3402012"/>
          </a:xfrm>
          <a:ln cap="flat">
            <a:solidFill>
              <a:schemeClr val="tx1"/>
            </a:solidFill>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055" tIns="47028" rIns="94055" bIns="47028"/>
          <a:lstStyle/>
          <a:p>
            <a:r>
              <a:rPr lang="es-PR" dirty="0" err="1"/>
              <a:t>Source</a:t>
            </a:r>
            <a:r>
              <a:rPr lang="es-PR" dirty="0"/>
              <a:t>: </a:t>
            </a:r>
            <a:r>
              <a:rPr lang="es-PR" b="1" i="1" dirty="0"/>
              <a:t>Personal</a:t>
            </a:r>
            <a:r>
              <a:rPr lang="es-PR" b="1" i="1" baseline="0" dirty="0"/>
              <a:t> </a:t>
            </a:r>
            <a:r>
              <a:rPr lang="es-PR" b="1" i="1" baseline="0" dirty="0" err="1"/>
              <a:t>Protective</a:t>
            </a:r>
            <a:r>
              <a:rPr lang="es-PR" b="1" i="1" baseline="0" dirty="0"/>
              <a:t> </a:t>
            </a:r>
            <a:r>
              <a:rPr lang="es-PR" b="1" i="1" baseline="0" dirty="0" err="1"/>
              <a:t>Equipment</a:t>
            </a:r>
            <a:r>
              <a:rPr lang="es-PR" b="1" i="1" baseline="0" dirty="0"/>
              <a:t> </a:t>
            </a:r>
            <a:r>
              <a:rPr lang="es-PR" baseline="0" dirty="0"/>
              <a:t>(2003), OSHA #3151-12R, https://www.osha.gov/Publications/osha3151.html#bodyprotection</a:t>
            </a:r>
            <a:endParaRPr lang="es-PR" dirty="0"/>
          </a:p>
          <a:p>
            <a:endParaRPr lang="es-PR" dirty="0"/>
          </a:p>
          <a:p>
            <a:r>
              <a:rPr lang="en-US" dirty="0">
                <a:effectLst/>
              </a:rPr>
              <a:t>“Employees who face possible bodily injury of any kind that cannot be eliminated through engineering, work practice or administrative controls, must wear appropriate body protection while performing their jobs. In addition to cuts and radiation, the following are examples of workplace hazards that could cause bodily injury:</a:t>
            </a:r>
          </a:p>
          <a:p>
            <a:pPr marL="171450" indent="-171450">
              <a:buFont typeface="Arial" panose="020B0604020202020204" pitchFamily="34" charset="0"/>
              <a:buChar char="•"/>
            </a:pPr>
            <a:r>
              <a:rPr lang="en-US" dirty="0">
                <a:effectLst/>
              </a:rPr>
              <a:t>Temperature extremes;</a:t>
            </a:r>
          </a:p>
          <a:p>
            <a:pPr marL="171450" indent="-171450">
              <a:buFont typeface="Arial" panose="020B0604020202020204" pitchFamily="34" charset="0"/>
              <a:buChar char="•"/>
            </a:pPr>
            <a:r>
              <a:rPr lang="en-US" dirty="0">
                <a:effectLst/>
              </a:rPr>
              <a:t>Hot splashes from molten metals and other hot liquids;</a:t>
            </a:r>
          </a:p>
          <a:p>
            <a:pPr marL="171450" indent="-171450">
              <a:buFont typeface="Arial" panose="020B0604020202020204" pitchFamily="34" charset="0"/>
              <a:buChar char="•"/>
            </a:pPr>
            <a:r>
              <a:rPr lang="en-US" dirty="0">
                <a:effectLst/>
              </a:rPr>
              <a:t>Potential impacts from tools, machinery and materials;</a:t>
            </a:r>
          </a:p>
          <a:p>
            <a:pPr marL="171450" indent="-171450">
              <a:buFont typeface="Arial" panose="020B0604020202020204" pitchFamily="34" charset="0"/>
              <a:buChar char="•"/>
            </a:pPr>
            <a:r>
              <a:rPr lang="en-US" dirty="0">
                <a:effectLst/>
              </a:rPr>
              <a:t>Hazardous chemicals.</a:t>
            </a:r>
          </a:p>
          <a:p>
            <a:endParaRPr lang="en-US" dirty="0">
              <a:effectLst/>
            </a:endParaRPr>
          </a:p>
          <a:p>
            <a:r>
              <a:rPr lang="en-US" dirty="0">
                <a:effectLst/>
              </a:rPr>
              <a:t>There are many varieties of protective clothing available for specific hazards. Employers are required to ensure that their employees wear personal protective equipment only for the parts of the body exposed to possible injury. Examples of body protection include laboratory coats, coveralls, vests, jackets, aprons, surgical gowns and full body suits.”</a:t>
            </a:r>
          </a:p>
          <a:p>
            <a:endParaRPr lang="es-PR" dirty="0"/>
          </a:p>
        </p:txBody>
      </p:sp>
    </p:spTree>
    <p:extLst>
      <p:ext uri="{BB962C8B-B14F-4D97-AF65-F5344CB8AC3E}">
        <p14:creationId xmlns:p14="http://schemas.microsoft.com/office/powerpoint/2010/main" val="23635496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DF3F684A-70FA-4E2A-9D99-843FADD29484}" type="slidenum">
              <a:rPr lang="en-US" smtClean="0">
                <a:latin typeface="Times New Roman" panose="02020603050405020304" pitchFamily="18" charset="0"/>
              </a:rPr>
              <a:pPr/>
              <a:t>54</a:t>
            </a:fld>
            <a:endParaRPr lang="en-US">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xfrm>
            <a:off x="484188" y="741363"/>
            <a:ext cx="6046787" cy="3402012"/>
          </a:xfrm>
          <a:ln cap="flat">
            <a:solidFill>
              <a:schemeClr val="tx1"/>
            </a:solidFill>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055" tIns="47028" rIns="94055" bIns="47028"/>
          <a:lstStyle/>
          <a:p>
            <a:r>
              <a:rPr lang="es-PR" dirty="0" err="1"/>
              <a:t>Source</a:t>
            </a:r>
            <a:r>
              <a:rPr lang="es-PR" dirty="0"/>
              <a:t>: </a:t>
            </a:r>
            <a:r>
              <a:rPr lang="es-PR" b="1" i="1" dirty="0"/>
              <a:t>Personal</a:t>
            </a:r>
            <a:r>
              <a:rPr lang="es-PR" b="1" i="1" baseline="0" dirty="0"/>
              <a:t> </a:t>
            </a:r>
            <a:r>
              <a:rPr lang="es-PR" b="1" i="1" baseline="0" dirty="0" err="1"/>
              <a:t>Protective</a:t>
            </a:r>
            <a:r>
              <a:rPr lang="es-PR" b="1" i="1" baseline="0" dirty="0"/>
              <a:t> </a:t>
            </a:r>
            <a:r>
              <a:rPr lang="es-PR" b="1" i="1" baseline="0" dirty="0" err="1"/>
              <a:t>Equipment</a:t>
            </a:r>
            <a:r>
              <a:rPr lang="es-PR" b="1" i="1" baseline="0" dirty="0"/>
              <a:t> </a:t>
            </a:r>
            <a:r>
              <a:rPr lang="es-PR" baseline="0" dirty="0"/>
              <a:t>(2003), OSHA #3151-12R, https://www.osha.gov/Publications/osha3151.html#bodyprotection</a:t>
            </a:r>
            <a:endParaRPr lang="es-PR" dirty="0"/>
          </a:p>
          <a:p>
            <a:endParaRPr lang="es-PR" dirty="0"/>
          </a:p>
          <a:p>
            <a:r>
              <a:rPr lang="en-US" dirty="0">
                <a:effectLst/>
              </a:rPr>
              <a:t>“Protective clothing comes in a variety of materials, each effective against particular hazards, such as:</a:t>
            </a:r>
          </a:p>
          <a:p>
            <a:pPr marL="171450" indent="-171450">
              <a:buFont typeface="Arial" panose="020B0604020202020204" pitchFamily="34" charset="0"/>
              <a:buChar char="•"/>
            </a:pPr>
            <a:r>
              <a:rPr lang="en-US" b="1" dirty="0">
                <a:effectLst/>
              </a:rPr>
              <a:t>Paper-like fiber</a:t>
            </a:r>
            <a:r>
              <a:rPr lang="en-US" dirty="0">
                <a:effectLst/>
              </a:rPr>
              <a:t> used for disposable suits provide protection against dust and splashes.</a:t>
            </a:r>
          </a:p>
          <a:p>
            <a:pPr marL="171450" indent="-171450">
              <a:buFont typeface="Arial" panose="020B0604020202020204" pitchFamily="34" charset="0"/>
              <a:buChar char="•"/>
            </a:pPr>
            <a:r>
              <a:rPr lang="en-US" b="1" dirty="0">
                <a:effectLst/>
              </a:rPr>
              <a:t>Treated wool and cotton</a:t>
            </a:r>
            <a:r>
              <a:rPr lang="en-US" dirty="0">
                <a:effectLst/>
              </a:rPr>
              <a:t> adapts well to changing temperatures, is comfortable, and fire-resistant and protects against dust, abrasions and rough and irritating surfaces.</a:t>
            </a:r>
          </a:p>
          <a:p>
            <a:pPr marL="171450" indent="-171450">
              <a:buFont typeface="Arial" panose="020B0604020202020204" pitchFamily="34" charset="0"/>
              <a:buChar char="•"/>
            </a:pPr>
            <a:r>
              <a:rPr lang="en-US" b="1" dirty="0">
                <a:effectLst/>
              </a:rPr>
              <a:t>Duck</a:t>
            </a:r>
            <a:r>
              <a:rPr lang="en-US" dirty="0">
                <a:effectLst/>
              </a:rPr>
              <a:t> is a closely woven cotton fabric that protects against cuts and bruises when handling heavy, sharp or rough materials.</a:t>
            </a:r>
          </a:p>
          <a:p>
            <a:pPr marL="171450" indent="-171450">
              <a:buFont typeface="Arial" panose="020B0604020202020204" pitchFamily="34" charset="0"/>
              <a:buChar char="•"/>
            </a:pPr>
            <a:r>
              <a:rPr lang="en-US" b="1" dirty="0">
                <a:effectLst/>
              </a:rPr>
              <a:t>Leather</a:t>
            </a:r>
            <a:r>
              <a:rPr lang="en-US" dirty="0">
                <a:effectLst/>
              </a:rPr>
              <a:t> is often used to protect against dry heat and flames.</a:t>
            </a:r>
          </a:p>
          <a:p>
            <a:pPr marL="171450" indent="-171450">
              <a:buFont typeface="Arial" panose="020B0604020202020204" pitchFamily="34" charset="0"/>
              <a:buChar char="•"/>
            </a:pPr>
            <a:r>
              <a:rPr lang="en-US" b="1" dirty="0">
                <a:effectLst/>
              </a:rPr>
              <a:t>Rubber, rubberized fabrics, neoprene and plastics</a:t>
            </a:r>
            <a:r>
              <a:rPr lang="en-US" dirty="0">
                <a:effectLst/>
              </a:rPr>
              <a:t> protect against certain chemicals and physical hazards. When chemical or physical hazards are present, check with the clothing manufacturer to ensure that the material selected will provide protection against the specific hazard.”</a:t>
            </a:r>
          </a:p>
        </p:txBody>
      </p:sp>
    </p:spTree>
    <p:extLst>
      <p:ext uri="{BB962C8B-B14F-4D97-AF65-F5344CB8AC3E}">
        <p14:creationId xmlns:p14="http://schemas.microsoft.com/office/powerpoint/2010/main" val="4180522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EE4E123B-2FA7-487A-BB73-771FF0A6DABD}" type="slidenum">
              <a:rPr lang="en-US" smtClean="0">
                <a:latin typeface="Times New Roman" panose="02020603050405020304" pitchFamily="18" charset="0"/>
              </a:rPr>
              <a:pPr/>
              <a:t>55</a:t>
            </a:fld>
            <a:endParaRPr lang="en-US">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xfrm>
            <a:off x="1249363" y="484188"/>
            <a:ext cx="5251450" cy="2954337"/>
          </a:xfrm>
          <a:ln cap="flat"/>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ahoma" panose="020B0604030504040204" pitchFamily="34" charset="0"/>
                <a:ea typeface="Tahoma" panose="020B0604030504040204" pitchFamily="34" charset="0"/>
                <a:cs typeface="Tahoma" panose="020B0604030504040204" pitchFamily="34" charset="0"/>
              </a:rPr>
              <a:t>See OSHA Technical Manual, section VIII, Cap 1 for protective clothing required</a:t>
            </a:r>
            <a:r>
              <a:rPr lang="en-US" sz="1200" baseline="0" dirty="0">
                <a:latin typeface="Tahoma" panose="020B0604030504040204" pitchFamily="34" charset="0"/>
                <a:ea typeface="Tahoma" panose="020B0604030504040204" pitchFamily="34" charset="0"/>
                <a:cs typeface="Tahoma" panose="020B0604030504040204" pitchFamily="34" charset="0"/>
              </a:rPr>
              <a:t> for HAZWOPER activities.</a:t>
            </a:r>
            <a:endParaRPr lang="es-PR" dirty="0"/>
          </a:p>
          <a:p>
            <a:endParaRPr lang="en-US" sz="1200" dirty="0">
              <a:latin typeface="Tahoma" panose="020B0604030504040204" pitchFamily="34" charset="0"/>
              <a:ea typeface="Tahoma" panose="020B0604030504040204" pitchFamily="34" charset="0"/>
              <a:cs typeface="Tahoma" panose="020B0604030504040204" pitchFamily="34" charset="0"/>
            </a:endParaRP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sz="1200" dirty="0">
                <a:latin typeface="Tahoma" panose="020B0604030504040204" pitchFamily="34" charset="0"/>
                <a:ea typeface="Tahoma" panose="020B0604030504040204" pitchFamily="34" charset="0"/>
                <a:cs typeface="Tahoma" panose="020B0604030504040204" pitchFamily="34" charset="0"/>
              </a:rPr>
              <a:t>Source: </a:t>
            </a:r>
            <a:r>
              <a:rPr lang="en-US" sz="1200" b="1" dirty="0">
                <a:latin typeface="Tahoma" panose="020B0604030504040204" pitchFamily="34" charset="0"/>
                <a:ea typeface="Tahoma" panose="020B0604030504040204" pitchFamily="34" charset="0"/>
                <a:cs typeface="Tahoma" panose="020B0604030504040204" pitchFamily="34" charset="0"/>
              </a:rPr>
              <a:t>Personal Protective Equipment</a:t>
            </a:r>
            <a:r>
              <a:rPr lang="en-US" sz="1200" b="1" baseline="0" dirty="0">
                <a:latin typeface="Tahoma" panose="020B0604030504040204" pitchFamily="34" charset="0"/>
                <a:ea typeface="Tahoma" panose="020B0604030504040204" pitchFamily="34" charset="0"/>
                <a:cs typeface="Tahoma" panose="020B0604030504040204" pitchFamily="34" charset="0"/>
              </a:rPr>
              <a:t> </a:t>
            </a:r>
            <a:r>
              <a:rPr lang="en-US" sz="1200" baseline="0" dirty="0">
                <a:latin typeface="Tahoma" panose="020B0604030504040204" pitchFamily="34" charset="0"/>
                <a:ea typeface="Tahoma" panose="020B0604030504040204" pitchFamily="34" charset="0"/>
                <a:cs typeface="Tahoma" panose="020B0604030504040204" pitchFamily="34" charset="0"/>
              </a:rPr>
              <a:t>(</a:t>
            </a:r>
            <a:r>
              <a:rPr lang="en-US" sz="1200" baseline="0" dirty="0" err="1">
                <a:latin typeface="Tahoma" panose="020B0604030504040204" pitchFamily="34" charset="0"/>
                <a:ea typeface="Tahoma" panose="020B0604030504040204" pitchFamily="34" charset="0"/>
                <a:cs typeface="Tahoma" panose="020B0604030504040204" pitchFamily="34" charset="0"/>
              </a:rPr>
              <a:t>n.d.</a:t>
            </a:r>
            <a:r>
              <a:rPr lang="en-US" sz="1200" baseline="0" dirty="0">
                <a:latin typeface="Tahoma" panose="020B0604030504040204" pitchFamily="34" charset="0"/>
                <a:ea typeface="Tahoma" panose="020B0604030504040204" pitchFamily="34" charset="0"/>
                <a:cs typeface="Tahoma" panose="020B0604030504040204" pitchFamily="34" charset="0"/>
              </a:rPr>
              <a:t>), Environmental Protection Agency, </a:t>
            </a:r>
          </a:p>
          <a:p>
            <a:r>
              <a:rPr lang="en-US" sz="1200" baseline="0" dirty="0">
                <a:latin typeface="Tahoma" panose="020B0604030504040204" pitchFamily="34" charset="0"/>
                <a:ea typeface="Tahoma" panose="020B0604030504040204" pitchFamily="34" charset="0"/>
                <a:cs typeface="Tahoma" panose="020B0604030504040204" pitchFamily="34" charset="0"/>
              </a:rPr>
              <a:t>https://www.epa.gov/emergency-response/personal-protective-equipment</a:t>
            </a:r>
          </a:p>
          <a:p>
            <a:endParaRPr lang="en-US" sz="1200" baseline="0" dirty="0">
              <a:latin typeface="Tahoma" panose="020B0604030504040204" pitchFamily="34" charset="0"/>
              <a:ea typeface="Tahoma" panose="020B0604030504040204" pitchFamily="34" charset="0"/>
              <a:cs typeface="Tahoma" panose="020B0604030504040204" pitchFamily="34" charset="0"/>
            </a:endParaRPr>
          </a:p>
          <a:p>
            <a:r>
              <a:rPr lang="en-US" dirty="0"/>
              <a:t>“Vapors, gases, and particulates from hazardous substance response activities place response personnel at risk. For this reason, response personnel must wear appropriate personal protective clothing and equipment whenever they are near the site. The more that is known about the hazards at a release site, the easier it becomes to select personal protective equipment. There are four levels of personal protective equipment…</a:t>
            </a:r>
          </a:p>
          <a:p>
            <a:r>
              <a:rPr lang="en-US" dirty="0"/>
              <a:t>While these [the following] are general guidelines for typical equipment to be used in certain circumstances, other combinations of protective equipment may be more appropriate, depending upon specific site characteristics.”</a:t>
            </a:r>
            <a:endParaRPr lang="en-US" sz="1200" dirty="0">
              <a:latin typeface="Tahoma" panose="020B0604030504040204" pitchFamily="34" charset="0"/>
              <a:ea typeface="Tahoma" panose="020B0604030504040204" pitchFamily="34" charset="0"/>
              <a:cs typeface="Tahoma" panose="020B0604030504040204" pitchFamily="34" charset="0"/>
            </a:endParaRP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b="1" dirty="0"/>
              <a:t>“Level A protection</a:t>
            </a:r>
            <a:r>
              <a:rPr lang="en-US" dirty="0"/>
              <a:t> is required when the greatest potential for exposure to hazards exists, and when the greatest level of skin, respiratory, and eye protection is required. Examples of Level A clothing and equipment include:</a:t>
            </a:r>
          </a:p>
          <a:p>
            <a:pPr marL="171450" indent="-171450">
              <a:buFont typeface="Arial" panose="020B0604020202020204" pitchFamily="34" charset="0"/>
              <a:buChar char="•"/>
            </a:pPr>
            <a:r>
              <a:rPr lang="en-US" dirty="0">
                <a:effectLst/>
              </a:rPr>
              <a:t>positive pressure, full face-piece self contained breathing apparatus (SCBA) or positive pressure supplied air respirator with escape SCBA;</a:t>
            </a:r>
          </a:p>
          <a:p>
            <a:pPr marL="171450" indent="-171450">
              <a:buFont typeface="Arial" panose="020B0604020202020204" pitchFamily="34" charset="0"/>
              <a:buChar char="•"/>
            </a:pPr>
            <a:r>
              <a:rPr lang="en-US" dirty="0">
                <a:effectLst/>
              </a:rPr>
              <a:t>totally encapsulated chemical- and vapor-protective suit;</a:t>
            </a:r>
          </a:p>
          <a:p>
            <a:pPr marL="171450" indent="-171450">
              <a:buFont typeface="Arial" panose="020B0604020202020204" pitchFamily="34" charset="0"/>
              <a:buChar char="•"/>
            </a:pPr>
            <a:r>
              <a:rPr lang="en-US" dirty="0">
                <a:effectLst/>
              </a:rPr>
              <a:t>inner and outer chemical-resistant gloves; and</a:t>
            </a:r>
          </a:p>
          <a:p>
            <a:pPr marL="171450" indent="-171450">
              <a:buFont typeface="Arial" panose="020B0604020202020204" pitchFamily="34" charset="0"/>
              <a:buChar char="•"/>
            </a:pPr>
            <a:r>
              <a:rPr lang="en-US" dirty="0">
                <a:effectLst/>
              </a:rPr>
              <a:t>disposable protective suit, gloves, and boots.”</a:t>
            </a:r>
          </a:p>
          <a:p>
            <a:endParaRPr lang="en-US" sz="1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082381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EE4E123B-2FA7-487A-BB73-771FF0A6DABD}" type="slidenum">
              <a:rPr lang="en-US" smtClean="0">
                <a:latin typeface="Times New Roman" panose="02020603050405020304" pitchFamily="18" charset="0"/>
              </a:rPr>
              <a:pPr/>
              <a:t>56</a:t>
            </a:fld>
            <a:endParaRPr lang="en-US">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xfrm>
            <a:off x="1249363" y="484188"/>
            <a:ext cx="5251450" cy="2954337"/>
          </a:xfrm>
          <a:ln cap="flat"/>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Source: </a:t>
            </a:r>
            <a:r>
              <a:rPr lang="en-US" sz="1200" b="1" dirty="0">
                <a:latin typeface="Tahoma" panose="020B0604030504040204" pitchFamily="34" charset="0"/>
                <a:ea typeface="Tahoma" panose="020B0604030504040204" pitchFamily="34" charset="0"/>
                <a:cs typeface="Tahoma" panose="020B0604030504040204" pitchFamily="34" charset="0"/>
              </a:rPr>
              <a:t>Personal Protective Equipment</a:t>
            </a:r>
            <a:r>
              <a:rPr lang="en-US" sz="1200" b="1" baseline="0" dirty="0">
                <a:latin typeface="Tahoma" panose="020B0604030504040204" pitchFamily="34" charset="0"/>
                <a:ea typeface="Tahoma" panose="020B0604030504040204" pitchFamily="34" charset="0"/>
                <a:cs typeface="Tahoma" panose="020B0604030504040204" pitchFamily="34" charset="0"/>
              </a:rPr>
              <a:t> </a:t>
            </a:r>
            <a:r>
              <a:rPr lang="en-US" sz="1200" baseline="0" dirty="0">
                <a:latin typeface="Tahoma" panose="020B0604030504040204" pitchFamily="34" charset="0"/>
                <a:ea typeface="Tahoma" panose="020B0604030504040204" pitchFamily="34" charset="0"/>
                <a:cs typeface="Tahoma" panose="020B0604030504040204" pitchFamily="34" charset="0"/>
              </a:rPr>
              <a:t>(</a:t>
            </a:r>
            <a:r>
              <a:rPr lang="en-US" sz="1200" baseline="0" dirty="0" err="1">
                <a:latin typeface="Tahoma" panose="020B0604030504040204" pitchFamily="34" charset="0"/>
                <a:ea typeface="Tahoma" panose="020B0604030504040204" pitchFamily="34" charset="0"/>
                <a:cs typeface="Tahoma" panose="020B0604030504040204" pitchFamily="34" charset="0"/>
              </a:rPr>
              <a:t>n.d.</a:t>
            </a:r>
            <a:r>
              <a:rPr lang="en-US" sz="1200" baseline="0" dirty="0">
                <a:latin typeface="Tahoma" panose="020B0604030504040204" pitchFamily="34" charset="0"/>
                <a:ea typeface="Tahoma" panose="020B0604030504040204" pitchFamily="34" charset="0"/>
                <a:cs typeface="Tahoma" panose="020B0604030504040204" pitchFamily="34" charset="0"/>
              </a:rPr>
              <a:t>), Environmental Protection Agency, </a:t>
            </a:r>
          </a:p>
          <a:p>
            <a:r>
              <a:rPr lang="en-US" sz="1200" baseline="0" dirty="0">
                <a:latin typeface="Tahoma" panose="020B0604030504040204" pitchFamily="34" charset="0"/>
                <a:ea typeface="Tahoma" panose="020B0604030504040204" pitchFamily="34" charset="0"/>
                <a:cs typeface="Tahoma" panose="020B0604030504040204" pitchFamily="34" charset="0"/>
              </a:rPr>
              <a:t>https://www.epa.gov/emergency-response/personal-protective-equipment</a:t>
            </a:r>
            <a:endParaRPr lang="en-US" sz="1200" dirty="0">
              <a:latin typeface="Tahoma" panose="020B0604030504040204" pitchFamily="34" charset="0"/>
              <a:ea typeface="Tahoma" panose="020B0604030504040204" pitchFamily="34" charset="0"/>
              <a:cs typeface="Tahoma" panose="020B0604030504040204" pitchFamily="34" charset="0"/>
            </a:endParaRP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b="1" dirty="0"/>
              <a:t>“Level B protection</a:t>
            </a:r>
            <a:r>
              <a:rPr lang="en-US" dirty="0"/>
              <a:t> is required under circumstances requiring the highest level of respiratory protection, with lesser level of skin protection. At most abandoned outdoor hazardous waste sites, ambient atmospheric vapors or gas levels have not approached sufficiently high concentrations to warrant level A protection. Examples of Level B protection include:</a:t>
            </a:r>
          </a:p>
          <a:p>
            <a:pPr marL="171450" indent="-171450">
              <a:buFont typeface="Arial" panose="020B0604020202020204" pitchFamily="34" charset="0"/>
              <a:buChar char="•"/>
            </a:pPr>
            <a:r>
              <a:rPr lang="en-US" dirty="0">
                <a:effectLst/>
              </a:rPr>
              <a:t>positive pressure, full face-piece self contained breathing apparatus (SCBA) or positive pressure supplied air respirator with escape SCBA; </a:t>
            </a:r>
          </a:p>
          <a:p>
            <a:pPr marL="171450" indent="-171450">
              <a:buFont typeface="Arial" panose="020B0604020202020204" pitchFamily="34" charset="0"/>
              <a:buChar char="•"/>
            </a:pPr>
            <a:r>
              <a:rPr lang="en-US" dirty="0">
                <a:effectLst/>
              </a:rPr>
              <a:t>inner and outer chemical-resistant gloves;</a:t>
            </a:r>
          </a:p>
          <a:p>
            <a:pPr marL="171450" indent="-171450">
              <a:buFont typeface="Arial" panose="020B0604020202020204" pitchFamily="34" charset="0"/>
              <a:buChar char="•"/>
            </a:pPr>
            <a:r>
              <a:rPr lang="en-US" dirty="0">
                <a:effectLst/>
              </a:rPr>
              <a:t>face shield;</a:t>
            </a:r>
          </a:p>
          <a:p>
            <a:pPr marL="171450" indent="-171450">
              <a:buFont typeface="Arial" panose="020B0604020202020204" pitchFamily="34" charset="0"/>
              <a:buChar char="•"/>
            </a:pPr>
            <a:r>
              <a:rPr lang="en-US" dirty="0">
                <a:effectLst/>
              </a:rPr>
              <a:t>hooded chemical resistant clothing;</a:t>
            </a:r>
          </a:p>
          <a:p>
            <a:pPr marL="171450" indent="-171450">
              <a:buFont typeface="Arial" panose="020B0604020202020204" pitchFamily="34" charset="0"/>
              <a:buChar char="•"/>
            </a:pPr>
            <a:r>
              <a:rPr lang="en-US" dirty="0">
                <a:effectLst/>
              </a:rPr>
              <a:t>coveralls; and</a:t>
            </a:r>
          </a:p>
          <a:p>
            <a:pPr marL="171450" indent="-171450">
              <a:buFont typeface="Arial" panose="020B0604020202020204" pitchFamily="34" charset="0"/>
              <a:buChar char="•"/>
            </a:pPr>
            <a:r>
              <a:rPr lang="en-US" dirty="0">
                <a:effectLst/>
              </a:rPr>
              <a:t>outer chemical-resistant boots.”</a:t>
            </a:r>
          </a:p>
          <a:p>
            <a:endParaRPr lang="en-US" sz="1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127862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EE4E123B-2FA7-487A-BB73-771FF0A6DABD}" type="slidenum">
              <a:rPr lang="en-US" smtClean="0">
                <a:latin typeface="Times New Roman" panose="02020603050405020304" pitchFamily="18" charset="0"/>
              </a:rPr>
              <a:pPr/>
              <a:t>57</a:t>
            </a:fld>
            <a:endParaRPr lang="en-US">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xfrm>
            <a:off x="1249363" y="484188"/>
            <a:ext cx="5251450" cy="2954337"/>
          </a:xfrm>
          <a:ln cap="flat"/>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Source: </a:t>
            </a:r>
            <a:r>
              <a:rPr lang="en-US" sz="1200" b="1" dirty="0">
                <a:latin typeface="Tahoma" panose="020B0604030504040204" pitchFamily="34" charset="0"/>
                <a:ea typeface="Tahoma" panose="020B0604030504040204" pitchFamily="34" charset="0"/>
                <a:cs typeface="Tahoma" panose="020B0604030504040204" pitchFamily="34" charset="0"/>
              </a:rPr>
              <a:t>Personal Protective Equipment</a:t>
            </a:r>
            <a:r>
              <a:rPr lang="en-US" sz="1200" b="1" baseline="0" dirty="0">
                <a:latin typeface="Tahoma" panose="020B0604030504040204" pitchFamily="34" charset="0"/>
                <a:ea typeface="Tahoma" panose="020B0604030504040204" pitchFamily="34" charset="0"/>
                <a:cs typeface="Tahoma" panose="020B0604030504040204" pitchFamily="34" charset="0"/>
              </a:rPr>
              <a:t> </a:t>
            </a:r>
            <a:r>
              <a:rPr lang="en-US" sz="1200" baseline="0" dirty="0">
                <a:latin typeface="Tahoma" panose="020B0604030504040204" pitchFamily="34" charset="0"/>
                <a:ea typeface="Tahoma" panose="020B0604030504040204" pitchFamily="34" charset="0"/>
                <a:cs typeface="Tahoma" panose="020B0604030504040204" pitchFamily="34" charset="0"/>
              </a:rPr>
              <a:t>(</a:t>
            </a:r>
            <a:r>
              <a:rPr lang="en-US" sz="1200" baseline="0" dirty="0" err="1">
                <a:latin typeface="Tahoma" panose="020B0604030504040204" pitchFamily="34" charset="0"/>
                <a:ea typeface="Tahoma" panose="020B0604030504040204" pitchFamily="34" charset="0"/>
                <a:cs typeface="Tahoma" panose="020B0604030504040204" pitchFamily="34" charset="0"/>
              </a:rPr>
              <a:t>n.d.</a:t>
            </a:r>
            <a:r>
              <a:rPr lang="en-US" sz="1200" baseline="0" dirty="0">
                <a:latin typeface="Tahoma" panose="020B0604030504040204" pitchFamily="34" charset="0"/>
                <a:ea typeface="Tahoma" panose="020B0604030504040204" pitchFamily="34" charset="0"/>
                <a:cs typeface="Tahoma" panose="020B0604030504040204" pitchFamily="34" charset="0"/>
              </a:rPr>
              <a:t>), Environmental Protection Agency, </a:t>
            </a:r>
          </a:p>
          <a:p>
            <a:r>
              <a:rPr lang="en-US" sz="1200" baseline="0" dirty="0">
                <a:latin typeface="Tahoma" panose="020B0604030504040204" pitchFamily="34" charset="0"/>
                <a:ea typeface="Tahoma" panose="020B0604030504040204" pitchFamily="34" charset="0"/>
                <a:cs typeface="Tahoma" panose="020B0604030504040204" pitchFamily="34" charset="0"/>
              </a:rPr>
              <a:t>https://www.epa.gov/emergency-response/personal-protective-equipment</a:t>
            </a:r>
            <a:endParaRPr lang="en-US" sz="1200" dirty="0">
              <a:latin typeface="Tahoma" panose="020B0604030504040204" pitchFamily="34" charset="0"/>
              <a:ea typeface="Tahoma" panose="020B0604030504040204" pitchFamily="34" charset="0"/>
              <a:cs typeface="Tahoma" panose="020B0604030504040204" pitchFamily="34" charset="0"/>
            </a:endParaRP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b="1" dirty="0"/>
              <a:t>“Level C protection</a:t>
            </a:r>
            <a:r>
              <a:rPr lang="en-US" dirty="0"/>
              <a:t> is required when the concentration and type of airborne substances is known and the criteria for using air purifying respirators is met. Typical Level C equipment includes:</a:t>
            </a:r>
          </a:p>
          <a:p>
            <a:pPr marL="171450" indent="-171450">
              <a:buFont typeface="Arial" panose="020B0604020202020204" pitchFamily="34" charset="0"/>
              <a:buChar char="•"/>
            </a:pPr>
            <a:r>
              <a:rPr lang="en-US" dirty="0">
                <a:effectLst/>
              </a:rPr>
              <a:t>full-face air purifying respirators;</a:t>
            </a:r>
          </a:p>
          <a:p>
            <a:pPr marL="171450" indent="-171450">
              <a:buFont typeface="Arial" panose="020B0604020202020204" pitchFamily="34" charset="0"/>
              <a:buChar char="•"/>
            </a:pPr>
            <a:r>
              <a:rPr lang="en-US" dirty="0">
                <a:effectLst/>
              </a:rPr>
              <a:t>inner and outer chemical-resistant gloves;</a:t>
            </a:r>
          </a:p>
          <a:p>
            <a:pPr marL="171450" indent="-171450">
              <a:buFont typeface="Arial" panose="020B0604020202020204" pitchFamily="34" charset="0"/>
              <a:buChar char="•"/>
            </a:pPr>
            <a:r>
              <a:rPr lang="en-US" dirty="0">
                <a:effectLst/>
              </a:rPr>
              <a:t>hard hat;</a:t>
            </a:r>
          </a:p>
          <a:p>
            <a:pPr marL="171450" indent="-171450">
              <a:buFont typeface="Arial" panose="020B0604020202020204" pitchFamily="34" charset="0"/>
              <a:buChar char="•"/>
            </a:pPr>
            <a:r>
              <a:rPr lang="en-US" dirty="0">
                <a:effectLst/>
              </a:rPr>
              <a:t>escape mask; and</a:t>
            </a:r>
          </a:p>
          <a:p>
            <a:pPr marL="171450" indent="-171450">
              <a:buFont typeface="Arial" panose="020B0604020202020204" pitchFamily="34" charset="0"/>
              <a:buChar char="•"/>
            </a:pPr>
            <a:r>
              <a:rPr lang="en-US" dirty="0">
                <a:effectLst/>
              </a:rPr>
              <a:t>disposable chemical-resistant outer boots.”</a:t>
            </a:r>
          </a:p>
          <a:p>
            <a:endParaRPr lang="en-US" dirty="0">
              <a:effectLst/>
            </a:endParaRPr>
          </a:p>
          <a:p>
            <a:endParaRPr lang="en-US" sz="1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39463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Arial" panose="020B0604020202020204" pitchFamily="34" charset="0"/>
              </a:defRPr>
            </a:lvl1pPr>
            <a:lvl2pPr marL="742950" indent="-285750" defTabSz="930275">
              <a:defRPr>
                <a:solidFill>
                  <a:schemeClr val="tx1"/>
                </a:solidFill>
                <a:latin typeface="Arial" panose="020B0604020202020204" pitchFamily="34" charset="0"/>
              </a:defRPr>
            </a:lvl2pPr>
            <a:lvl3pPr marL="1143000" indent="-228600" defTabSz="930275">
              <a:defRPr>
                <a:solidFill>
                  <a:schemeClr val="tx1"/>
                </a:solidFill>
                <a:latin typeface="Arial" panose="020B0604020202020204" pitchFamily="34" charset="0"/>
              </a:defRPr>
            </a:lvl3pPr>
            <a:lvl4pPr marL="1600200" indent="-228600" defTabSz="930275">
              <a:defRPr>
                <a:solidFill>
                  <a:schemeClr val="tx1"/>
                </a:solidFill>
                <a:latin typeface="Arial" panose="020B0604020202020204" pitchFamily="34" charset="0"/>
              </a:defRPr>
            </a:lvl4pPr>
            <a:lvl5pPr marL="2057400" indent="-228600" defTabSz="930275">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fld id="{EE4E123B-2FA7-487A-BB73-771FF0A6DABD}" type="slidenum">
              <a:rPr lang="en-US" smtClean="0">
                <a:latin typeface="Times New Roman" panose="02020603050405020304" pitchFamily="18" charset="0"/>
              </a:rPr>
              <a:pPr/>
              <a:t>58</a:t>
            </a:fld>
            <a:endParaRPr lang="en-US">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xfrm>
            <a:off x="1249363" y="484188"/>
            <a:ext cx="5251450" cy="2954337"/>
          </a:xfrm>
          <a:ln cap="flat"/>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Source: </a:t>
            </a:r>
            <a:r>
              <a:rPr lang="en-US" sz="1200" b="1" dirty="0">
                <a:latin typeface="Tahoma" panose="020B0604030504040204" pitchFamily="34" charset="0"/>
                <a:ea typeface="Tahoma" panose="020B0604030504040204" pitchFamily="34" charset="0"/>
                <a:cs typeface="Tahoma" panose="020B0604030504040204" pitchFamily="34" charset="0"/>
              </a:rPr>
              <a:t>Personal Protective Equipment</a:t>
            </a:r>
            <a:r>
              <a:rPr lang="en-US" sz="1200" b="1" baseline="0" dirty="0">
                <a:latin typeface="Tahoma" panose="020B0604030504040204" pitchFamily="34" charset="0"/>
                <a:ea typeface="Tahoma" panose="020B0604030504040204" pitchFamily="34" charset="0"/>
                <a:cs typeface="Tahoma" panose="020B0604030504040204" pitchFamily="34" charset="0"/>
              </a:rPr>
              <a:t> </a:t>
            </a:r>
            <a:r>
              <a:rPr lang="en-US" sz="1200" baseline="0" dirty="0">
                <a:latin typeface="Tahoma" panose="020B0604030504040204" pitchFamily="34" charset="0"/>
                <a:ea typeface="Tahoma" panose="020B0604030504040204" pitchFamily="34" charset="0"/>
                <a:cs typeface="Tahoma" panose="020B0604030504040204" pitchFamily="34" charset="0"/>
              </a:rPr>
              <a:t>(</a:t>
            </a:r>
            <a:r>
              <a:rPr lang="en-US" sz="1200" baseline="0" dirty="0" err="1">
                <a:latin typeface="Tahoma" panose="020B0604030504040204" pitchFamily="34" charset="0"/>
                <a:ea typeface="Tahoma" panose="020B0604030504040204" pitchFamily="34" charset="0"/>
                <a:cs typeface="Tahoma" panose="020B0604030504040204" pitchFamily="34" charset="0"/>
              </a:rPr>
              <a:t>n.d.</a:t>
            </a:r>
            <a:r>
              <a:rPr lang="en-US" sz="1200" baseline="0" dirty="0">
                <a:latin typeface="Tahoma" panose="020B0604030504040204" pitchFamily="34" charset="0"/>
                <a:ea typeface="Tahoma" panose="020B0604030504040204" pitchFamily="34" charset="0"/>
                <a:cs typeface="Tahoma" panose="020B0604030504040204" pitchFamily="34" charset="0"/>
              </a:rPr>
              <a:t>), Environmental Protection Agency, </a:t>
            </a:r>
          </a:p>
          <a:p>
            <a:r>
              <a:rPr lang="en-US" sz="1200" baseline="0" dirty="0">
                <a:latin typeface="Tahoma" panose="020B0604030504040204" pitchFamily="34" charset="0"/>
                <a:ea typeface="Tahoma" panose="020B0604030504040204" pitchFamily="34" charset="0"/>
                <a:cs typeface="Tahoma" panose="020B0604030504040204" pitchFamily="34" charset="0"/>
              </a:rPr>
              <a:t>https://www.epa.gov/emergency-response/personal-protective-equipment</a:t>
            </a:r>
            <a:endParaRPr lang="en-US" sz="1200" dirty="0">
              <a:latin typeface="Tahoma" panose="020B0604030504040204" pitchFamily="34" charset="0"/>
              <a:ea typeface="Tahoma" panose="020B0604030504040204" pitchFamily="34" charset="0"/>
              <a:cs typeface="Tahoma" panose="020B0604030504040204" pitchFamily="34" charset="0"/>
            </a:endParaRPr>
          </a:p>
          <a:p>
            <a:endParaRPr lang="en-US" sz="1200" dirty="0">
              <a:latin typeface="Tahoma" panose="020B0604030504040204" pitchFamily="34" charset="0"/>
              <a:ea typeface="Tahoma" panose="020B0604030504040204" pitchFamily="34" charset="0"/>
              <a:cs typeface="Tahoma" panose="020B0604030504040204" pitchFamily="34" charset="0"/>
            </a:endParaRPr>
          </a:p>
          <a:p>
            <a:r>
              <a:rPr lang="en-US" b="1" dirty="0"/>
              <a:t>“Level D protection</a:t>
            </a:r>
            <a:r>
              <a:rPr lang="en-US" dirty="0"/>
              <a:t> is the minimum protection required. Level D protection may be sufficient when no contaminants are present or work operations preclude splashes, immersion, or the potential for unexpected inhalation or contact with hazardous levels of chemicals. Appropriate Level D protective equipment may include:</a:t>
            </a:r>
          </a:p>
          <a:p>
            <a:pPr marL="171450" indent="-171450">
              <a:buFont typeface="Arial" panose="020B0604020202020204" pitchFamily="34" charset="0"/>
              <a:buChar char="•"/>
            </a:pPr>
            <a:r>
              <a:rPr lang="en-US" dirty="0"/>
              <a:t>gloves;</a:t>
            </a:r>
          </a:p>
          <a:p>
            <a:pPr marL="171450" indent="-171450">
              <a:buFont typeface="Arial" panose="020B0604020202020204" pitchFamily="34" charset="0"/>
              <a:buChar char="•"/>
            </a:pPr>
            <a:r>
              <a:rPr lang="en-US" dirty="0"/>
              <a:t>coveralls;</a:t>
            </a:r>
          </a:p>
          <a:p>
            <a:pPr marL="171450" indent="-171450">
              <a:buFont typeface="Arial" panose="020B0604020202020204" pitchFamily="34" charset="0"/>
              <a:buChar char="•"/>
            </a:pPr>
            <a:r>
              <a:rPr lang="en-US" dirty="0"/>
              <a:t>safety glasses;</a:t>
            </a:r>
          </a:p>
          <a:p>
            <a:pPr marL="171450" indent="-171450">
              <a:buFont typeface="Arial" panose="020B0604020202020204" pitchFamily="34" charset="0"/>
              <a:buChar char="•"/>
            </a:pPr>
            <a:r>
              <a:rPr lang="en-US" dirty="0"/>
              <a:t>face shield; and</a:t>
            </a:r>
          </a:p>
          <a:p>
            <a:pPr marL="171450" indent="-171450">
              <a:buFont typeface="Arial" panose="020B0604020202020204" pitchFamily="34" charset="0"/>
              <a:buChar char="•"/>
            </a:pPr>
            <a:r>
              <a:rPr lang="en-US" dirty="0"/>
              <a:t>chemical-resistant, steel-toe boots or shoes.</a:t>
            </a:r>
            <a:r>
              <a:rPr lang="en-US" dirty="0">
                <a:effectLst/>
              </a:rPr>
              <a:t>”</a:t>
            </a:r>
          </a:p>
          <a:p>
            <a:endParaRPr lang="en-US" sz="1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30984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6AF11-12DE-4FAC-BFB1-07734380A6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C299B18-0639-49C9-AEB6-C996DD9F6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1693D5-1EF1-4CF6-B7EF-4922E0724C75}"/>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5" name="Footer Placeholder 4">
            <a:extLst>
              <a:ext uri="{FF2B5EF4-FFF2-40B4-BE49-F238E27FC236}">
                <a16:creationId xmlns:a16="http://schemas.microsoft.com/office/drawing/2014/main" id="{34EA3731-9629-4B48-B4B8-BE1AD3A66F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117211-8C65-427C-911C-0BD01912DCF6}"/>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504528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196CC-8024-482A-AF26-40727FE0B8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31C6B4-34AD-4DC1-BB98-DEBD41BB7A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86A528-ACAF-4557-B5C2-1BCDEBB3BD4C}"/>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5" name="Footer Placeholder 4">
            <a:extLst>
              <a:ext uri="{FF2B5EF4-FFF2-40B4-BE49-F238E27FC236}">
                <a16:creationId xmlns:a16="http://schemas.microsoft.com/office/drawing/2014/main" id="{2B565BA2-AA8B-409D-BAED-FBA69F1549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08827E-332C-4879-AA47-3F5B506D4B3A}"/>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31700247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203E-66E5-4B51-B32E-686B61DD04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7E784E-EAFC-49CF-9D86-570984EE88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7024BB-8097-4F9E-A448-0B7AE7B8BE8C}"/>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5" name="Footer Placeholder 4">
            <a:extLst>
              <a:ext uri="{FF2B5EF4-FFF2-40B4-BE49-F238E27FC236}">
                <a16:creationId xmlns:a16="http://schemas.microsoft.com/office/drawing/2014/main" id="{4A7046D4-FAEB-47D0-AA91-F7F5714811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107EFD-09D5-4651-B51B-0F78383161FB}"/>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15871252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7B1CD-2A80-4A29-8D49-286A66F301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BAD608-C93C-4CAE-91BC-D2B93BFF83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E818E1-17C4-4764-A7C3-1D734A81FE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9FE0C7-A9A3-4D94-B998-5401B497EF71}"/>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6" name="Footer Placeholder 5">
            <a:extLst>
              <a:ext uri="{FF2B5EF4-FFF2-40B4-BE49-F238E27FC236}">
                <a16:creationId xmlns:a16="http://schemas.microsoft.com/office/drawing/2014/main" id="{0CAD3F24-6E95-407C-85EF-0CBBE0FAAD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2464D1-0D30-468D-833C-AE945EE38490}"/>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20492906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8CFE3-6DA5-4E45-B147-C2DD07FC0E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C46E07-2B2F-4A7D-8D1E-40C75A31FE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F18063-A0C4-4558-B8BC-7981B013EE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86F560-8076-4657-A527-5F40F19654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A2FE57-7245-459D-8E57-485F001679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929ED7-43AB-4411-B106-2B43AD508EE8}"/>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8" name="Footer Placeholder 7">
            <a:extLst>
              <a:ext uri="{FF2B5EF4-FFF2-40B4-BE49-F238E27FC236}">
                <a16:creationId xmlns:a16="http://schemas.microsoft.com/office/drawing/2014/main" id="{0FA439E5-4309-45F3-B354-8D663461CBF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F9486C-F213-4072-BE24-B9EBC1B259BF}"/>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402389606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BAC2D-BA40-4AB0-AD3B-9D66652173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890215-C343-404A-AA67-00C04A51E555}"/>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4" name="Footer Placeholder 3">
            <a:extLst>
              <a:ext uri="{FF2B5EF4-FFF2-40B4-BE49-F238E27FC236}">
                <a16:creationId xmlns:a16="http://schemas.microsoft.com/office/drawing/2014/main" id="{2FE95453-6B24-4713-AE60-848EC7046B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1CAC868-065C-414D-9782-4B8301F578D6}"/>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33711899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2FB4BF-FFD1-4EE9-96BD-378A2173DE00}"/>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3" name="Footer Placeholder 2">
            <a:extLst>
              <a:ext uri="{FF2B5EF4-FFF2-40B4-BE49-F238E27FC236}">
                <a16:creationId xmlns:a16="http://schemas.microsoft.com/office/drawing/2014/main" id="{35A7C903-AECB-4626-8112-EBBDE5808C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390186-6EED-44EC-8623-B044B59422CD}"/>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28115244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CD4E-73AE-463A-A57B-03984B3EFA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E3821D-5ACC-46C4-8307-148790AEDC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5CAFA8-A5D7-4139-A3A4-971372675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41A42B-E4A6-4496-A7BE-4E0640881545}"/>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6" name="Footer Placeholder 5">
            <a:extLst>
              <a:ext uri="{FF2B5EF4-FFF2-40B4-BE49-F238E27FC236}">
                <a16:creationId xmlns:a16="http://schemas.microsoft.com/office/drawing/2014/main" id="{B51FD872-92B8-4D10-B5AB-093C5F9558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0AF4DF-28ED-4079-9103-AAD844DCB419}"/>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37862043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177DD-DAAD-449F-85F8-CE24174111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7A44E2-59D1-49AF-843E-0CD5243E55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7A80D1-C953-4158-877D-D094C716CC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E569E1-E8DE-4DAF-B5BE-F238259F9C04}"/>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6" name="Footer Placeholder 5">
            <a:extLst>
              <a:ext uri="{FF2B5EF4-FFF2-40B4-BE49-F238E27FC236}">
                <a16:creationId xmlns:a16="http://schemas.microsoft.com/office/drawing/2014/main" id="{122FB45D-EDA0-41F7-8DBE-F04C51E238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3D06E6-998F-4508-95CA-4354A0F5754E}"/>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24667256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6EFC-EB22-445D-B5CE-670A44BFF2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B97132-953B-4BEB-8BD5-44956077F2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E39BAD-9CC6-4F36-9824-09017CBAFF6C}"/>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5" name="Footer Placeholder 4">
            <a:extLst>
              <a:ext uri="{FF2B5EF4-FFF2-40B4-BE49-F238E27FC236}">
                <a16:creationId xmlns:a16="http://schemas.microsoft.com/office/drawing/2014/main" id="{09D75F60-3EE0-4813-BC13-DB81EDBD89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5A953A-5424-4F41-BD94-A57AFA3E5230}"/>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23137570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53818F-D0C7-46A5-92C1-1D0EA7AE7E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0AC2DF-C228-4C2D-8226-B826AC2126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DC5B6C-A995-42B4-BD01-9EA52723BC79}"/>
              </a:ext>
            </a:extLst>
          </p:cNvPr>
          <p:cNvSpPr>
            <a:spLocks noGrp="1"/>
          </p:cNvSpPr>
          <p:nvPr>
            <p:ph type="dt" sz="half" idx="10"/>
          </p:nvPr>
        </p:nvSpPr>
        <p:spPr/>
        <p:txBody>
          <a:bodyPr/>
          <a:lstStyle/>
          <a:p>
            <a:fld id="{5113A12C-A36A-4E20-80C0-36EB51EFAA54}" type="datetimeFigureOut">
              <a:rPr lang="en-IN" smtClean="0"/>
              <a:t>22-07-2026</a:t>
            </a:fld>
            <a:endParaRPr lang="en-IN"/>
          </a:p>
        </p:txBody>
      </p:sp>
      <p:sp>
        <p:nvSpPr>
          <p:cNvPr id="5" name="Footer Placeholder 4">
            <a:extLst>
              <a:ext uri="{FF2B5EF4-FFF2-40B4-BE49-F238E27FC236}">
                <a16:creationId xmlns:a16="http://schemas.microsoft.com/office/drawing/2014/main" id="{49BE154E-5A77-4AB9-ABF4-D4EDB18D57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ADFAE7-DD52-452C-943D-56FCF5E379FA}"/>
              </a:ext>
            </a:extLst>
          </p:cNvPr>
          <p:cNvSpPr>
            <a:spLocks noGrp="1"/>
          </p:cNvSpPr>
          <p:nvPr>
            <p:ph type="sldNum" sz="quarter" idx="12"/>
          </p:nvPr>
        </p:nvSpPr>
        <p:spPr/>
        <p:txBody>
          <a:bodyPr/>
          <a:lstStyle/>
          <a:p>
            <a:fld id="{7CCEEDE8-0398-449A-AB6B-72E08A82D1CA}" type="slidenum">
              <a:rPr lang="en-IN" smtClean="0"/>
              <a:t>‹#›</a:t>
            </a:fld>
            <a:endParaRPr lang="en-IN"/>
          </a:p>
        </p:txBody>
      </p:sp>
    </p:spTree>
    <p:extLst>
      <p:ext uri="{BB962C8B-B14F-4D97-AF65-F5344CB8AC3E}">
        <p14:creationId xmlns:p14="http://schemas.microsoft.com/office/powerpoint/2010/main" val="8078941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45B073-1BA2-4D4F-AA44-C87766EA2F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64F299-936D-43E5-864E-F02585A6FA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342A7-5E12-43FE-B0FA-30E1E543CC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13A12C-A36A-4E20-80C0-36EB51EFAA54}" type="datetimeFigureOut">
              <a:rPr lang="en-IN" smtClean="0"/>
              <a:t>22-07-2026</a:t>
            </a:fld>
            <a:endParaRPr lang="en-IN"/>
          </a:p>
        </p:txBody>
      </p:sp>
      <p:sp>
        <p:nvSpPr>
          <p:cNvPr id="5" name="Footer Placeholder 4">
            <a:extLst>
              <a:ext uri="{FF2B5EF4-FFF2-40B4-BE49-F238E27FC236}">
                <a16:creationId xmlns:a16="http://schemas.microsoft.com/office/drawing/2014/main" id="{6854B3C3-DF5A-4803-B0FD-435FD51CD1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44E873-38A7-48C4-985F-9376097A4D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CEEDE8-0398-449A-AB6B-72E08A82D1CA}" type="slidenum">
              <a:rPr lang="en-IN" smtClean="0"/>
              <a:t>‹#›</a:t>
            </a:fld>
            <a:endParaRPr lang="en-IN"/>
          </a:p>
        </p:txBody>
      </p:sp>
    </p:spTree>
    <p:extLst>
      <p:ext uri="{BB962C8B-B14F-4D97-AF65-F5344CB8AC3E}">
        <p14:creationId xmlns:p14="http://schemas.microsoft.com/office/powerpoint/2010/main" val="1519980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9.wmf"/><Relationship Id="rId4" Type="http://schemas.openxmlformats.org/officeDocument/2006/relationships/image" Target="../media/image8.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1.jpeg"/><Relationship Id="rId4" Type="http://schemas.openxmlformats.org/officeDocument/2006/relationships/image" Target="../media/image20.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gif"/></Relationships>
</file>

<file path=ppt/slides/_rels/slide31.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gif"/></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1.jpg"/><Relationship Id="rId4" Type="http://schemas.openxmlformats.org/officeDocument/2006/relationships/image" Target="../media/image40.jp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6.jpg"/></Relationships>
</file>

<file path=ppt/slides/_rels/slide47.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9.jpg"/><Relationship Id="rId4"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52.jpg"/><Relationship Id="rId4" Type="http://schemas.openxmlformats.org/officeDocument/2006/relationships/image" Target="../media/image51.jpg"/></Relationships>
</file>

<file path=ppt/slides/_rels/slide51.xml.rels><?xml version="1.0" encoding="UTF-8" standalone="yes"?>
<Relationships xmlns="http://schemas.openxmlformats.org/package/2006/relationships"><Relationship Id="rId8" Type="http://schemas.openxmlformats.org/officeDocument/2006/relationships/image" Target="../media/image58.jpg"/><Relationship Id="rId3" Type="http://schemas.openxmlformats.org/officeDocument/2006/relationships/image" Target="../media/image53.jpg"/><Relationship Id="rId7" Type="http://schemas.openxmlformats.org/officeDocument/2006/relationships/image" Target="../media/image57.jp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6.jpg"/><Relationship Id="rId5" Type="http://schemas.openxmlformats.org/officeDocument/2006/relationships/image" Target="../media/image55.jpg"/><Relationship Id="rId4" Type="http://schemas.openxmlformats.org/officeDocument/2006/relationships/image" Target="../media/image54.jpg"/></Relationships>
</file>

<file path=ppt/slides/_rels/slide52.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9.jpg"/><Relationship Id="rId1" Type="http://schemas.openxmlformats.org/officeDocument/2006/relationships/slideLayout" Target="../slideLayouts/slideLayout2.xml"/><Relationship Id="rId4" Type="http://schemas.openxmlformats.org/officeDocument/2006/relationships/image" Target="../media/image61.jpg"/></Relationships>
</file>

<file path=ppt/slides/_rels/slide53.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3.jp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oleObject" Target="../embeddings/oleObject3.bin"/><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78FC-7FA9-9504-33EE-B691F9B59CD1}"/>
              </a:ext>
            </a:extLst>
          </p:cNvPr>
          <p:cNvSpPr>
            <a:spLocks noGrp="1"/>
          </p:cNvSpPr>
          <p:nvPr>
            <p:ph type="title"/>
          </p:nvPr>
        </p:nvSpPr>
        <p:spPr/>
        <p:txBody>
          <a:bodyPr/>
          <a:lstStyle/>
          <a:p>
            <a:pPr algn="ctr"/>
            <a:r>
              <a:rPr lang="en-US" b="1" dirty="0"/>
              <a:t>Module II (Personal protection in work environment)</a:t>
            </a:r>
            <a:endParaRPr lang="en-IN" b="1" dirty="0"/>
          </a:p>
        </p:txBody>
      </p:sp>
      <p:sp>
        <p:nvSpPr>
          <p:cNvPr id="3" name="Content Placeholder 2">
            <a:extLst>
              <a:ext uri="{FF2B5EF4-FFF2-40B4-BE49-F238E27FC236}">
                <a16:creationId xmlns:a16="http://schemas.microsoft.com/office/drawing/2014/main" id="{D6E910B6-F764-2427-B78C-B5BCDBEC76A3}"/>
              </a:ext>
            </a:extLst>
          </p:cNvPr>
          <p:cNvSpPr>
            <a:spLocks noGrp="1"/>
          </p:cNvSpPr>
          <p:nvPr>
            <p:ph idx="1"/>
          </p:nvPr>
        </p:nvSpPr>
        <p:spPr>
          <a:xfrm>
            <a:off x="838200" y="1825624"/>
            <a:ext cx="10515600" cy="4783897"/>
          </a:xfrm>
        </p:spPr>
        <p:txBody>
          <a:bodyPr>
            <a:normAutofit/>
          </a:bodyPr>
          <a:lstStyle/>
          <a:p>
            <a:r>
              <a:rPr lang="en-US" sz="2400" dirty="0"/>
              <a:t>Personal protection in the work environment, Types of PPEs, Personal protective equipment respiratory and non-respiratory equipment. </a:t>
            </a:r>
          </a:p>
          <a:p>
            <a:r>
              <a:rPr lang="en-US" sz="2400" dirty="0"/>
              <a:t>Standards related to PPEs. </a:t>
            </a:r>
          </a:p>
          <a:p>
            <a:r>
              <a:rPr lang="en-US" sz="2400" dirty="0"/>
              <a:t>Monitoring Safety Performance: Frequency rate, severity rate, incidence rate, activity rate. </a:t>
            </a:r>
          </a:p>
          <a:p>
            <a:r>
              <a:rPr lang="en-US" sz="2400" dirty="0"/>
              <a:t>Housekeeping: Responsibility of management and employees. </a:t>
            </a:r>
          </a:p>
          <a:p>
            <a:r>
              <a:rPr lang="en-US" sz="2400" dirty="0"/>
              <a:t>Advantages of good housekeeping. </a:t>
            </a:r>
          </a:p>
          <a:p>
            <a:r>
              <a:rPr lang="en-US" sz="2400" dirty="0"/>
              <a:t>5 s of housekeeping. </a:t>
            </a:r>
          </a:p>
          <a:p>
            <a:r>
              <a:rPr lang="en-US" sz="2400" dirty="0"/>
              <a:t>Work permit system- objectives, hot work and cold work permits. </a:t>
            </a:r>
          </a:p>
          <a:p>
            <a:r>
              <a:rPr lang="en-US" sz="2400" dirty="0"/>
              <a:t>Typical industrial models and methodology. </a:t>
            </a:r>
          </a:p>
          <a:p>
            <a:r>
              <a:rPr lang="en-US" sz="2400" dirty="0"/>
              <a:t>Entry into confined spaces. </a:t>
            </a:r>
            <a:endParaRPr lang="en-IN" sz="2400" dirty="0"/>
          </a:p>
        </p:txBody>
      </p:sp>
    </p:spTree>
    <p:extLst>
      <p:ext uri="{BB962C8B-B14F-4D97-AF65-F5344CB8AC3E}">
        <p14:creationId xmlns:p14="http://schemas.microsoft.com/office/powerpoint/2010/main" val="10595339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3D61B-ACED-CF4D-A4B5-6D0FFAFA6F45}"/>
              </a:ext>
            </a:extLst>
          </p:cNvPr>
          <p:cNvSpPr>
            <a:spLocks noGrp="1"/>
          </p:cNvSpPr>
          <p:nvPr>
            <p:ph type="title"/>
          </p:nvPr>
        </p:nvSpPr>
        <p:spPr/>
        <p:txBody>
          <a:bodyPr/>
          <a:lstStyle/>
          <a:p>
            <a:r>
              <a:rPr lang="en-US" sz="4400" dirty="0"/>
              <a:t>Personal protection in the work environment</a:t>
            </a:r>
            <a:endParaRPr lang="en-IN" dirty="0"/>
          </a:p>
        </p:txBody>
      </p:sp>
      <p:sp>
        <p:nvSpPr>
          <p:cNvPr id="3" name="Content Placeholder 2">
            <a:extLst>
              <a:ext uri="{FF2B5EF4-FFF2-40B4-BE49-F238E27FC236}">
                <a16:creationId xmlns:a16="http://schemas.microsoft.com/office/drawing/2014/main" id="{873A3364-33AE-E02A-C9F8-64459B9E1255}"/>
              </a:ext>
            </a:extLst>
          </p:cNvPr>
          <p:cNvSpPr>
            <a:spLocks noGrp="1"/>
          </p:cNvSpPr>
          <p:nvPr>
            <p:ph idx="1"/>
          </p:nvPr>
        </p:nvSpPr>
        <p:spPr/>
        <p:txBody>
          <a:bodyPr>
            <a:noAutofit/>
          </a:bodyPr>
          <a:lstStyle/>
          <a:p>
            <a:pPr algn="l"/>
            <a:r>
              <a:rPr lang="en-US" sz="2400" b="0" i="0" u="none" strike="noStrike" baseline="0" dirty="0"/>
              <a:t>Personal safety in the workplace depends on your own awareness of potential threats and risks as well as your employer's safety policies and procedures.</a:t>
            </a:r>
          </a:p>
          <a:p>
            <a:pPr algn="l"/>
            <a:r>
              <a:rPr lang="en-US" sz="2400" b="0" i="0" u="none" strike="noStrike" baseline="0" dirty="0"/>
              <a:t>Employers may have different priorities to consider besides your personal safety, such as losses from shoplifting, fraud against the company or the need to control costs.</a:t>
            </a:r>
          </a:p>
          <a:p>
            <a:pPr algn="l"/>
            <a:r>
              <a:rPr lang="en-US" sz="2400" b="0" i="0" u="none" strike="noStrike" baseline="0" dirty="0"/>
              <a:t>By giving some thought to managing the risks, you can make yourself safer on the job.</a:t>
            </a:r>
          </a:p>
          <a:p>
            <a:pPr algn="l"/>
            <a:r>
              <a:rPr lang="en-US" sz="2400" b="1" i="0" u="none" strike="noStrike" baseline="0" dirty="0"/>
              <a:t>Personal protective equipment </a:t>
            </a:r>
            <a:r>
              <a:rPr lang="en-US" sz="2400" b="0" i="0" u="none" strike="noStrike" baseline="0" dirty="0"/>
              <a:t>(</a:t>
            </a:r>
            <a:r>
              <a:rPr lang="en-US" sz="2400" b="1" i="0" u="none" strike="noStrike" baseline="0" dirty="0"/>
              <a:t>PPE</a:t>
            </a:r>
            <a:r>
              <a:rPr lang="en-US" sz="2400" b="0" i="0" u="none" strike="noStrike" baseline="0" dirty="0"/>
              <a:t>) is protective clothing, helmets, goggles, or other garments or equipment designed to protect the wearer's body from injury or infection.</a:t>
            </a:r>
          </a:p>
        </p:txBody>
      </p:sp>
    </p:spTree>
    <p:extLst>
      <p:ext uri="{BB962C8B-B14F-4D97-AF65-F5344CB8AC3E}">
        <p14:creationId xmlns:p14="http://schemas.microsoft.com/office/powerpoint/2010/main" val="39344568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3D931-5378-090A-759D-C470DB71D308}"/>
              </a:ext>
            </a:extLst>
          </p:cNvPr>
          <p:cNvSpPr>
            <a:spLocks noGrp="1"/>
          </p:cNvSpPr>
          <p:nvPr>
            <p:ph type="title"/>
          </p:nvPr>
        </p:nvSpPr>
        <p:spPr/>
        <p:txBody>
          <a:bodyPr/>
          <a:lstStyle/>
          <a:p>
            <a:r>
              <a:rPr lang="en-US" sz="4400" b="1" i="0" u="none" strike="noStrike" baseline="0" dirty="0"/>
              <a:t>Personal protective equipment </a:t>
            </a:r>
            <a:r>
              <a:rPr lang="en-US" sz="4400" b="0" i="0" u="none" strike="noStrike" baseline="0" dirty="0"/>
              <a:t>(</a:t>
            </a:r>
            <a:r>
              <a:rPr lang="en-US" sz="4400" b="1" i="0" u="none" strike="noStrike" baseline="0" dirty="0"/>
              <a:t>PPE</a:t>
            </a:r>
            <a:r>
              <a:rPr lang="en-US" sz="4400" b="0" i="0" u="none" strike="noStrike" baseline="0" dirty="0"/>
              <a:t>)</a:t>
            </a:r>
            <a:endParaRPr lang="en-IN" dirty="0"/>
          </a:p>
        </p:txBody>
      </p:sp>
      <p:sp>
        <p:nvSpPr>
          <p:cNvPr id="3" name="Content Placeholder 2">
            <a:extLst>
              <a:ext uri="{FF2B5EF4-FFF2-40B4-BE49-F238E27FC236}">
                <a16:creationId xmlns:a16="http://schemas.microsoft.com/office/drawing/2014/main" id="{BFA105D8-4E89-1182-A77D-3D6113068BE3}"/>
              </a:ext>
            </a:extLst>
          </p:cNvPr>
          <p:cNvSpPr>
            <a:spLocks noGrp="1"/>
          </p:cNvSpPr>
          <p:nvPr>
            <p:ph idx="1"/>
          </p:nvPr>
        </p:nvSpPr>
        <p:spPr>
          <a:xfrm>
            <a:off x="838200" y="1690688"/>
            <a:ext cx="10515600" cy="4486275"/>
          </a:xfrm>
        </p:spPr>
        <p:txBody>
          <a:bodyPr>
            <a:normAutofit/>
          </a:bodyPr>
          <a:lstStyle/>
          <a:p>
            <a:pPr algn="l"/>
            <a:r>
              <a:rPr lang="en-US" sz="2400" b="0" i="0" u="none" strike="noStrike" baseline="0" dirty="0"/>
              <a:t>The hazards addressed by protective equipment include physical, electrical, heat, chemicals, biohazards, and airborne particulate matter.</a:t>
            </a:r>
          </a:p>
          <a:p>
            <a:pPr algn="l"/>
            <a:r>
              <a:rPr lang="en-US" sz="2400" b="0" i="0" u="none" strike="noStrike" baseline="0" dirty="0"/>
              <a:t>Protective equipment may be worn for job-related occupational safety and health purposes, as well as for sports and other recreational activities.</a:t>
            </a:r>
          </a:p>
          <a:p>
            <a:pPr algn="l"/>
            <a:r>
              <a:rPr lang="en-US" sz="2400" b="0" i="1" u="none" strike="noStrike" baseline="0" dirty="0"/>
              <a:t>Protective clothing </a:t>
            </a:r>
            <a:r>
              <a:rPr lang="en-US" sz="2400" b="0" i="0" u="none" strike="noStrike" baseline="0" dirty="0"/>
              <a:t>is applied to traditional categories of clothing, and </a:t>
            </a:r>
            <a:r>
              <a:rPr lang="en-US" sz="2400" b="0" i="1" u="none" strike="noStrike" baseline="0" dirty="0"/>
              <a:t>protective gear </a:t>
            </a:r>
            <a:r>
              <a:rPr lang="en-US" sz="2400" b="0" i="0" u="none" strike="noStrike" baseline="0" dirty="0"/>
              <a:t>applies to items such as pads, guards, shields, or masks, and others.</a:t>
            </a:r>
          </a:p>
          <a:p>
            <a:pPr algn="l"/>
            <a:r>
              <a:rPr lang="en-US" sz="2400" b="0" i="0" u="none" strike="noStrike" baseline="0" dirty="0"/>
              <a:t>PPE suits can be similar in appearance to a cleanroom suit.</a:t>
            </a:r>
          </a:p>
          <a:p>
            <a:pPr algn="l"/>
            <a:r>
              <a:rPr lang="en-US" sz="2400" b="0" i="0" u="none" strike="noStrike" baseline="0" dirty="0"/>
              <a:t>The purpose of personal protective equipment is to reduce employee exposure to hazards when engineering controls and administrative controls are not feasible or effective to reduce these </a:t>
            </a:r>
            <a:r>
              <a:rPr lang="en-IN" sz="2400" b="0" i="0" u="none" strike="noStrike" baseline="0" dirty="0"/>
              <a:t>risks to acceptable levels.</a:t>
            </a:r>
          </a:p>
          <a:p>
            <a:pPr algn="l"/>
            <a:r>
              <a:rPr lang="en-US" sz="2400" b="0" i="0" u="none" strike="noStrike" baseline="0" dirty="0"/>
              <a:t>PPE is needed when there are hazards present.</a:t>
            </a:r>
            <a:endParaRPr lang="en-IN" sz="2400" dirty="0"/>
          </a:p>
        </p:txBody>
      </p:sp>
    </p:spTree>
    <p:extLst>
      <p:ext uri="{BB962C8B-B14F-4D97-AF65-F5344CB8AC3E}">
        <p14:creationId xmlns:p14="http://schemas.microsoft.com/office/powerpoint/2010/main" val="33824433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0CF6A-D7B4-0779-238B-C1D540C6AD38}"/>
              </a:ext>
            </a:extLst>
          </p:cNvPr>
          <p:cNvSpPr>
            <a:spLocks noGrp="1"/>
          </p:cNvSpPr>
          <p:nvPr>
            <p:ph type="title"/>
          </p:nvPr>
        </p:nvSpPr>
        <p:spPr/>
        <p:txBody>
          <a:bodyPr/>
          <a:lstStyle/>
          <a:p>
            <a:r>
              <a:rPr lang="en-US" sz="4400" b="1" i="0" u="none" strike="noStrike" baseline="0" dirty="0"/>
              <a:t>Personal protective equipment </a:t>
            </a:r>
            <a:r>
              <a:rPr lang="en-US" sz="4400" b="0" i="0" u="none" strike="noStrike" baseline="0" dirty="0"/>
              <a:t>(</a:t>
            </a:r>
            <a:r>
              <a:rPr lang="en-US" sz="4400" b="1" i="0" u="none" strike="noStrike" baseline="0" dirty="0"/>
              <a:t>PPE</a:t>
            </a:r>
            <a:r>
              <a:rPr lang="en-US" sz="4400" b="0" i="0" u="none" strike="noStrike" baseline="0" dirty="0"/>
              <a:t>)</a:t>
            </a:r>
            <a:endParaRPr lang="en-IN" dirty="0"/>
          </a:p>
        </p:txBody>
      </p:sp>
      <p:sp>
        <p:nvSpPr>
          <p:cNvPr id="3" name="Content Placeholder 2">
            <a:extLst>
              <a:ext uri="{FF2B5EF4-FFF2-40B4-BE49-F238E27FC236}">
                <a16:creationId xmlns:a16="http://schemas.microsoft.com/office/drawing/2014/main" id="{040342D1-5BF3-FAAC-6232-36440E843299}"/>
              </a:ext>
            </a:extLst>
          </p:cNvPr>
          <p:cNvSpPr>
            <a:spLocks noGrp="1"/>
          </p:cNvSpPr>
          <p:nvPr>
            <p:ph idx="1"/>
          </p:nvPr>
        </p:nvSpPr>
        <p:spPr/>
        <p:txBody>
          <a:bodyPr>
            <a:noAutofit/>
          </a:bodyPr>
          <a:lstStyle/>
          <a:p>
            <a:pPr algn="l"/>
            <a:r>
              <a:rPr lang="en-US" sz="2400" b="0" i="0" u="none" strike="noStrike" baseline="0" dirty="0"/>
              <a:t>PPE has the serious limitation that it does not eliminate the hazard at the source and may result in employees being exposed to the hazard if the equipment fails.</a:t>
            </a:r>
          </a:p>
          <a:p>
            <a:pPr algn="l"/>
            <a:r>
              <a:rPr lang="en-US" sz="2400" b="0" i="0" u="none" strike="noStrike" baseline="0" dirty="0"/>
              <a:t>Any item of PPE imposes a barrier between the wearer/user and the working environment.</a:t>
            </a:r>
          </a:p>
          <a:p>
            <a:pPr algn="l"/>
            <a:r>
              <a:rPr lang="en-US" sz="2400" b="0" i="0" u="none" strike="noStrike" baseline="0" dirty="0"/>
              <a:t>This can create additional strains on the wearer, impair their ability to carry out their work, and create significant levels of discomfort.</a:t>
            </a:r>
          </a:p>
          <a:p>
            <a:pPr algn="l"/>
            <a:r>
              <a:rPr lang="en-US" sz="2400" b="0" i="0" u="none" strike="noStrike" baseline="0" dirty="0"/>
              <a:t>Any of these can discourage wearers from using PPE correctly, therefore placing them at risk of injury, ill-health, or, under extreme circumstances, death.</a:t>
            </a:r>
          </a:p>
          <a:p>
            <a:pPr algn="l"/>
            <a:r>
              <a:rPr lang="en-US" sz="2400" b="0" i="0" u="none" strike="noStrike" baseline="0" dirty="0"/>
              <a:t>Good ergonomic design can help to minimize these barriers and can</a:t>
            </a:r>
            <a:endParaRPr lang="en-IN" sz="2400" dirty="0"/>
          </a:p>
        </p:txBody>
      </p:sp>
    </p:spTree>
    <p:extLst>
      <p:ext uri="{BB962C8B-B14F-4D97-AF65-F5344CB8AC3E}">
        <p14:creationId xmlns:p14="http://schemas.microsoft.com/office/powerpoint/2010/main" val="41670187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C1A34-3BF0-9E81-6A3F-A398AAE76C27}"/>
              </a:ext>
            </a:extLst>
          </p:cNvPr>
          <p:cNvSpPr>
            <a:spLocks noGrp="1"/>
          </p:cNvSpPr>
          <p:nvPr>
            <p:ph type="title"/>
          </p:nvPr>
        </p:nvSpPr>
        <p:spPr/>
        <p:txBody>
          <a:bodyPr/>
          <a:lstStyle/>
          <a:p>
            <a:r>
              <a:rPr lang="en-US" dirty="0">
                <a:solidFill>
                  <a:srgbClr val="111111"/>
                </a:solidFill>
                <a:latin typeface="Times New Roman" panose="02020603050405020304" pitchFamily="18" charset="0"/>
              </a:rPr>
              <a:t>N</a:t>
            </a:r>
            <a:r>
              <a:rPr lang="en-US" sz="4400" b="0" i="0" u="none" strike="noStrike" baseline="0" dirty="0">
                <a:solidFill>
                  <a:srgbClr val="111111"/>
                </a:solidFill>
                <a:latin typeface="Times New Roman" panose="02020603050405020304" pitchFamily="18" charset="0"/>
              </a:rPr>
              <a:t>eed for PPE</a:t>
            </a:r>
            <a:endParaRPr lang="en-IN" dirty="0"/>
          </a:p>
        </p:txBody>
      </p:sp>
      <p:sp>
        <p:nvSpPr>
          <p:cNvPr id="3" name="Content Placeholder 2">
            <a:extLst>
              <a:ext uri="{FF2B5EF4-FFF2-40B4-BE49-F238E27FC236}">
                <a16:creationId xmlns:a16="http://schemas.microsoft.com/office/drawing/2014/main" id="{FE3D5595-F143-7702-D7A8-66ECA0DA75DE}"/>
              </a:ext>
            </a:extLst>
          </p:cNvPr>
          <p:cNvSpPr>
            <a:spLocks noGrp="1"/>
          </p:cNvSpPr>
          <p:nvPr>
            <p:ph idx="1"/>
          </p:nvPr>
        </p:nvSpPr>
        <p:spPr>
          <a:xfrm>
            <a:off x="838200" y="1825624"/>
            <a:ext cx="10515600" cy="4754079"/>
          </a:xfrm>
        </p:spPr>
        <p:txBody>
          <a:bodyPr>
            <a:noAutofit/>
          </a:bodyPr>
          <a:lstStyle/>
          <a:p>
            <a:pPr marL="342900" indent="-342900" algn="l">
              <a:buFont typeface="+mj-lt"/>
              <a:buAutoNum type="arabicPeriod"/>
            </a:pPr>
            <a:r>
              <a:rPr lang="en-US" sz="2400" b="0" i="0" u="none" strike="noStrike" baseline="0" dirty="0">
                <a:solidFill>
                  <a:srgbClr val="222222"/>
                </a:solidFill>
              </a:rPr>
              <a:t>Chances of failure of engineering controls, materials, process, equipment, and safety devices cannot be denied and in those circumstances, the </a:t>
            </a:r>
            <a:r>
              <a:rPr lang="en-US" sz="2400" b="1" i="0" u="none" strike="noStrike" baseline="0" dirty="0">
                <a:solidFill>
                  <a:srgbClr val="222222"/>
                </a:solidFill>
              </a:rPr>
              <a:t>PPE </a:t>
            </a:r>
            <a:r>
              <a:rPr lang="en-US" sz="2400" b="0" i="0" u="none" strike="noStrike" baseline="0" dirty="0">
                <a:solidFill>
                  <a:srgbClr val="222222"/>
                </a:solidFill>
              </a:rPr>
              <a:t>can act as a </a:t>
            </a:r>
            <a:r>
              <a:rPr lang="en-US" sz="2400" b="1" i="0" u="none" strike="noStrike" baseline="0" dirty="0">
                <a:solidFill>
                  <a:srgbClr val="222222"/>
                </a:solidFill>
              </a:rPr>
              <a:t>barrier between the man and the hazard and </a:t>
            </a:r>
            <a:r>
              <a:rPr lang="en-IN" sz="2400" b="1" i="0" u="none" strike="noStrike" baseline="0" dirty="0">
                <a:solidFill>
                  <a:srgbClr val="222222"/>
                </a:solidFill>
              </a:rPr>
              <a:t>save from injury</a:t>
            </a:r>
            <a:r>
              <a:rPr lang="en-IN" sz="2400" b="0" i="0" u="none" strike="noStrike" baseline="0" dirty="0">
                <a:solidFill>
                  <a:srgbClr val="222222"/>
                </a:solidFill>
              </a:rPr>
              <a:t>.</a:t>
            </a:r>
          </a:p>
          <a:p>
            <a:pPr marL="342900" indent="-342900" algn="l">
              <a:buFont typeface="+mj-lt"/>
              <a:buAutoNum type="arabicPeriod"/>
            </a:pPr>
            <a:r>
              <a:rPr lang="en-US" sz="2400" b="0" i="0" u="none" strike="noStrike" baseline="0" dirty="0">
                <a:solidFill>
                  <a:srgbClr val="222222"/>
                </a:solidFill>
              </a:rPr>
              <a:t>There are </a:t>
            </a:r>
            <a:r>
              <a:rPr lang="en-US" sz="2400" b="1" i="0" u="none" strike="noStrike" baseline="0" dirty="0">
                <a:solidFill>
                  <a:srgbClr val="222222"/>
                </a:solidFill>
              </a:rPr>
              <a:t>certain operations or accidental situations where engineering controls are less possible </a:t>
            </a:r>
            <a:r>
              <a:rPr lang="en-US" sz="2400" b="0" i="0" u="none" strike="noStrike" baseline="0" dirty="0">
                <a:solidFill>
                  <a:srgbClr val="222222"/>
                </a:solidFill>
              </a:rPr>
              <a:t>and </a:t>
            </a:r>
            <a:r>
              <a:rPr lang="en-US" sz="2400" b="1" i="0" u="none" strike="noStrike" baseline="0" dirty="0">
                <a:solidFill>
                  <a:srgbClr val="222222"/>
                </a:solidFill>
              </a:rPr>
              <a:t>PPE </a:t>
            </a:r>
            <a:r>
              <a:rPr lang="en-US" sz="2400" b="0" i="0" u="none" strike="noStrike" baseline="0" dirty="0">
                <a:solidFill>
                  <a:srgbClr val="222222"/>
                </a:solidFill>
              </a:rPr>
              <a:t>becomes necessary. For repair or maintenance or to enter into a toxic or oxygen-deficient atmosphere, or while working at height or doing jobs like welding, cutting grinding, or chipping, </a:t>
            </a:r>
            <a:r>
              <a:rPr lang="en-US" sz="2400" b="1" i="0" u="none" strike="noStrike" baseline="0" dirty="0">
                <a:solidFill>
                  <a:srgbClr val="222222"/>
                </a:solidFill>
              </a:rPr>
              <a:t>PPE </a:t>
            </a:r>
            <a:r>
              <a:rPr lang="en-US" sz="2400" b="0" i="0" u="none" strike="noStrike" baseline="0" dirty="0">
                <a:solidFill>
                  <a:srgbClr val="222222"/>
                </a:solidFill>
              </a:rPr>
              <a:t>gives </a:t>
            </a:r>
            <a:r>
              <a:rPr lang="en-US" sz="2400" b="1" i="0" u="none" strike="noStrike" baseline="0" dirty="0">
                <a:solidFill>
                  <a:srgbClr val="222222"/>
                </a:solidFill>
              </a:rPr>
              <a:t>good protection</a:t>
            </a:r>
            <a:r>
              <a:rPr lang="en-US" sz="2400" b="0" i="0" u="none" strike="noStrike" baseline="0" dirty="0">
                <a:solidFill>
                  <a:srgbClr val="222222"/>
                </a:solidFill>
              </a:rPr>
              <a:t>.</a:t>
            </a:r>
          </a:p>
          <a:p>
            <a:pPr marL="342900" indent="-342900" algn="l">
              <a:buFont typeface="+mj-lt"/>
              <a:buAutoNum type="arabicPeriod"/>
            </a:pPr>
            <a:r>
              <a:rPr lang="en-US" sz="2400" b="0" i="0" u="none" strike="noStrike" baseline="0" dirty="0">
                <a:solidFill>
                  <a:srgbClr val="222222"/>
                </a:solidFill>
              </a:rPr>
              <a:t>It </a:t>
            </a:r>
            <a:r>
              <a:rPr lang="en-US" sz="2400" b="1" i="0" u="none" strike="noStrike" baseline="0" dirty="0">
                <a:solidFill>
                  <a:srgbClr val="222222"/>
                </a:solidFill>
              </a:rPr>
              <a:t>effectively avoids the contact of dangerous substances, noise, vibration, and radiation</a:t>
            </a:r>
            <a:r>
              <a:rPr lang="en-US" sz="2400" b="0" i="0" u="none" strike="noStrike" baseline="0" dirty="0">
                <a:solidFill>
                  <a:srgbClr val="222222"/>
                </a:solidFill>
              </a:rPr>
              <a:t>.</a:t>
            </a:r>
          </a:p>
          <a:p>
            <a:pPr marL="342900" indent="-342900" algn="l">
              <a:buFont typeface="+mj-lt"/>
              <a:buAutoNum type="arabicPeriod"/>
            </a:pPr>
            <a:r>
              <a:rPr lang="en-US" sz="2400" b="0" i="0" u="none" strike="noStrike" baseline="0" dirty="0">
                <a:solidFill>
                  <a:srgbClr val="222222"/>
                </a:solidFill>
              </a:rPr>
              <a:t>It </a:t>
            </a:r>
            <a:r>
              <a:rPr lang="en-US" sz="2400" b="1" i="0" u="none" strike="noStrike" baseline="0" dirty="0">
                <a:solidFill>
                  <a:srgbClr val="222222"/>
                </a:solidFill>
              </a:rPr>
              <a:t>protects from atmospheric contaminants</a:t>
            </a:r>
            <a:r>
              <a:rPr lang="en-US" sz="2400" b="0" i="0" u="none" strike="noStrike" baseline="0" dirty="0">
                <a:solidFill>
                  <a:srgbClr val="222222"/>
                </a:solidFill>
              </a:rPr>
              <a:t>.</a:t>
            </a:r>
          </a:p>
          <a:p>
            <a:pPr marL="342900" indent="-342900" algn="l">
              <a:buFont typeface="+mj-lt"/>
              <a:buAutoNum type="arabicPeriod"/>
            </a:pPr>
            <a:r>
              <a:rPr lang="en-US" sz="2400" b="0" i="0" u="none" strike="noStrike" baseline="0" dirty="0">
                <a:solidFill>
                  <a:srgbClr val="222222"/>
                </a:solidFill>
              </a:rPr>
              <a:t>It is a legal as well as moral duty to provide suitable PPE.</a:t>
            </a:r>
            <a:endParaRPr lang="en-IN" sz="2400" dirty="0"/>
          </a:p>
        </p:txBody>
      </p:sp>
    </p:spTree>
    <p:extLst>
      <p:ext uri="{BB962C8B-B14F-4D97-AF65-F5344CB8AC3E}">
        <p14:creationId xmlns:p14="http://schemas.microsoft.com/office/powerpoint/2010/main" val="37792986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73002-C7C3-93B8-EA3B-D89625BD7E40}"/>
              </a:ext>
            </a:extLst>
          </p:cNvPr>
          <p:cNvSpPr>
            <a:spLocks noGrp="1"/>
          </p:cNvSpPr>
          <p:nvPr>
            <p:ph type="title"/>
          </p:nvPr>
        </p:nvSpPr>
        <p:spPr/>
        <p:txBody>
          <a:bodyPr>
            <a:normAutofit/>
          </a:bodyPr>
          <a:lstStyle/>
          <a:p>
            <a:r>
              <a:rPr lang="en-US" sz="4400" dirty="0"/>
              <a:t>Types of Personal Protective Equipment</a:t>
            </a:r>
            <a:endParaRPr lang="en-IN" dirty="0"/>
          </a:p>
        </p:txBody>
      </p:sp>
      <p:sp>
        <p:nvSpPr>
          <p:cNvPr id="3" name="Content Placeholder 2">
            <a:extLst>
              <a:ext uri="{FF2B5EF4-FFF2-40B4-BE49-F238E27FC236}">
                <a16:creationId xmlns:a16="http://schemas.microsoft.com/office/drawing/2014/main" id="{42308586-0304-3BE0-CAAE-1D2F7762C708}"/>
              </a:ext>
            </a:extLst>
          </p:cNvPr>
          <p:cNvSpPr>
            <a:spLocks noGrp="1"/>
          </p:cNvSpPr>
          <p:nvPr>
            <p:ph idx="1"/>
          </p:nvPr>
        </p:nvSpPr>
        <p:spPr>
          <a:xfrm>
            <a:off x="838200" y="1487694"/>
            <a:ext cx="10515600" cy="5092009"/>
          </a:xfrm>
        </p:spPr>
        <p:txBody>
          <a:bodyPr>
            <a:normAutofit/>
          </a:bodyPr>
          <a:lstStyle/>
          <a:p>
            <a:pPr algn="l"/>
            <a:r>
              <a:rPr lang="en-US" sz="2400" b="1" i="0" u="none" strike="noStrike" baseline="0" dirty="0"/>
              <a:t>Simple personal protective equipment</a:t>
            </a:r>
          </a:p>
          <a:p>
            <a:pPr lvl="1"/>
            <a:r>
              <a:rPr lang="en-US" sz="2000" b="0" i="0" u="none" strike="noStrike" baseline="0" dirty="0"/>
              <a:t>Equipment that has a basic design model</a:t>
            </a:r>
          </a:p>
          <a:p>
            <a:pPr lvl="1"/>
            <a:r>
              <a:rPr lang="en-US" sz="2000" dirty="0"/>
              <a:t>P</a:t>
            </a:r>
            <a:r>
              <a:rPr lang="en-US" sz="2000" b="0" i="0" u="none" strike="noStrike" baseline="0" dirty="0"/>
              <a:t>rotects against lower-risk hazards</a:t>
            </a:r>
          </a:p>
          <a:p>
            <a:pPr lvl="1"/>
            <a:r>
              <a:rPr lang="en-US" sz="2000" dirty="0"/>
              <a:t>A</a:t>
            </a:r>
            <a:r>
              <a:rPr lang="en-US" sz="2000" b="0" i="0" u="none" strike="noStrike" baseline="0" dirty="0"/>
              <a:t>ssume that the user is aware of the hazards, can see the risk gradually increasing, and is able to make an assessment and safely identify the need for PPE to be worn.</a:t>
            </a:r>
          </a:p>
          <a:p>
            <a:pPr algn="l"/>
            <a:r>
              <a:rPr lang="en-US" sz="2400" b="1" i="0" u="none" strike="noStrike" baseline="0" dirty="0"/>
              <a:t>Complex personal protective equipment </a:t>
            </a:r>
          </a:p>
          <a:p>
            <a:pPr lvl="1"/>
            <a:r>
              <a:rPr lang="en-US" sz="2000" b="0" i="0" u="none" strike="noStrike" baseline="0" dirty="0"/>
              <a:t>Technical design </a:t>
            </a:r>
          </a:p>
          <a:p>
            <a:pPr lvl="1"/>
            <a:r>
              <a:rPr lang="en-US" sz="2000" dirty="0"/>
              <a:t>P</a:t>
            </a:r>
            <a:r>
              <a:rPr lang="en-US" sz="2000" b="0" i="0" u="none" strike="noStrike" baseline="0" dirty="0"/>
              <a:t>rovides protection against fatal or serious risk</a:t>
            </a:r>
          </a:p>
          <a:p>
            <a:pPr lvl="1"/>
            <a:r>
              <a:rPr lang="en-US" sz="2000" dirty="0"/>
              <a:t>U</a:t>
            </a:r>
            <a:r>
              <a:rPr lang="en-US" sz="2000" b="0" i="0" u="none" strike="noStrike" baseline="0" dirty="0"/>
              <a:t>ser cannot identify the hazard in sufficient time and is immediately exposed to hazards that have </a:t>
            </a:r>
            <a:r>
              <a:rPr lang="en-IN" sz="2000" b="0" i="0" u="none" strike="noStrike" baseline="0" dirty="0"/>
              <a:t>irreversible effects.</a:t>
            </a:r>
          </a:p>
          <a:p>
            <a:pPr algn="l"/>
            <a:r>
              <a:rPr lang="en-US" sz="2200" b="1" i="0" u="none" strike="noStrike" baseline="0" dirty="0">
                <a:solidFill>
                  <a:srgbClr val="222222"/>
                </a:solidFill>
              </a:rPr>
              <a:t>PPE </a:t>
            </a:r>
            <a:r>
              <a:rPr lang="en-US" sz="2200" b="0" i="0" u="none" strike="noStrike" baseline="0" dirty="0">
                <a:solidFill>
                  <a:srgbClr val="222222"/>
                </a:solidFill>
              </a:rPr>
              <a:t>provides good defense against hazards of toxic exposure, oxygen deficiency, dusting, chemical splashes, steam, water and liquids, flying particles, hot substances, radiation, sharp edges, welding, cutting, grinding, striking against and stepping over objects, glare, personal falls, and injury due to falling bodies, noise, scarp cleaning, material handling, the opening of pipelines or any hazardous work, electric shocks, burn and firefighting</a:t>
            </a:r>
            <a:endParaRPr lang="en-IN" sz="2600" b="0" i="0" u="none" strike="noStrike" baseline="0" dirty="0"/>
          </a:p>
        </p:txBody>
      </p:sp>
    </p:spTree>
    <p:extLst>
      <p:ext uri="{BB962C8B-B14F-4D97-AF65-F5344CB8AC3E}">
        <p14:creationId xmlns:p14="http://schemas.microsoft.com/office/powerpoint/2010/main" val="14566204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4A0E-B726-24D9-7E51-A452DAC8D528}"/>
              </a:ext>
            </a:extLst>
          </p:cNvPr>
          <p:cNvSpPr>
            <a:spLocks noGrp="1"/>
          </p:cNvSpPr>
          <p:nvPr>
            <p:ph type="title"/>
          </p:nvPr>
        </p:nvSpPr>
        <p:spPr/>
        <p:txBody>
          <a:bodyPr/>
          <a:lstStyle/>
          <a:p>
            <a:r>
              <a:rPr lang="en-US" sz="4400" dirty="0"/>
              <a:t>Types of Personal Protective Equipment</a:t>
            </a:r>
            <a:endParaRPr lang="en-IN" dirty="0"/>
          </a:p>
        </p:txBody>
      </p:sp>
      <p:sp>
        <p:nvSpPr>
          <p:cNvPr id="3" name="Content Placeholder 2">
            <a:extLst>
              <a:ext uri="{FF2B5EF4-FFF2-40B4-BE49-F238E27FC236}">
                <a16:creationId xmlns:a16="http://schemas.microsoft.com/office/drawing/2014/main" id="{13DEBACD-BF22-0CF4-48B5-64CD54EAFB3D}"/>
              </a:ext>
            </a:extLst>
          </p:cNvPr>
          <p:cNvSpPr>
            <a:spLocks noGrp="1"/>
          </p:cNvSpPr>
          <p:nvPr>
            <p:ph idx="1"/>
          </p:nvPr>
        </p:nvSpPr>
        <p:spPr/>
        <p:txBody>
          <a:bodyPr/>
          <a:lstStyle/>
          <a:p>
            <a:r>
              <a:rPr lang="en-US" dirty="0"/>
              <a:t>Respiratory </a:t>
            </a:r>
          </a:p>
          <a:p>
            <a:r>
              <a:rPr lang="en-US" dirty="0"/>
              <a:t>Non-respiratory </a:t>
            </a:r>
          </a:p>
        </p:txBody>
      </p:sp>
    </p:spTree>
    <p:extLst>
      <p:ext uri="{BB962C8B-B14F-4D97-AF65-F5344CB8AC3E}">
        <p14:creationId xmlns:p14="http://schemas.microsoft.com/office/powerpoint/2010/main" val="28892268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B0B73-23EE-788E-F7DA-45DE42943B5D}"/>
              </a:ext>
            </a:extLst>
          </p:cNvPr>
          <p:cNvSpPr>
            <a:spLocks noGrp="1"/>
          </p:cNvSpPr>
          <p:nvPr>
            <p:ph type="title"/>
          </p:nvPr>
        </p:nvSpPr>
        <p:spPr/>
        <p:txBody>
          <a:bodyPr/>
          <a:lstStyle/>
          <a:p>
            <a:r>
              <a:rPr lang="en-IN" sz="4400" b="1" i="0" u="none" strike="noStrike" baseline="0" dirty="0"/>
              <a:t>Respiratory Protective Equipment (RPE)</a:t>
            </a:r>
            <a:endParaRPr lang="en-IN" dirty="0"/>
          </a:p>
        </p:txBody>
      </p:sp>
      <p:sp>
        <p:nvSpPr>
          <p:cNvPr id="3" name="Content Placeholder 2">
            <a:extLst>
              <a:ext uri="{FF2B5EF4-FFF2-40B4-BE49-F238E27FC236}">
                <a16:creationId xmlns:a16="http://schemas.microsoft.com/office/drawing/2014/main" id="{1F032FCF-E4D5-FDED-19F9-930A3944CFEC}"/>
              </a:ext>
            </a:extLst>
          </p:cNvPr>
          <p:cNvSpPr>
            <a:spLocks noGrp="1"/>
          </p:cNvSpPr>
          <p:nvPr>
            <p:ph idx="1"/>
          </p:nvPr>
        </p:nvSpPr>
        <p:spPr/>
        <p:txBody>
          <a:bodyPr>
            <a:noAutofit/>
          </a:bodyPr>
          <a:lstStyle/>
          <a:p>
            <a:pPr algn="l"/>
            <a:r>
              <a:rPr lang="en-US" sz="2400" b="0" i="0" u="none" strike="noStrike" baseline="0" dirty="0">
                <a:solidFill>
                  <a:srgbClr val="333333"/>
                </a:solidFill>
              </a:rPr>
              <a:t>Used to protect the individual wearer against the inhalation of hazardous substances in the </a:t>
            </a:r>
            <a:r>
              <a:rPr lang="en-IN" sz="2400" b="0" i="0" u="none" strike="noStrike" baseline="0" dirty="0">
                <a:solidFill>
                  <a:srgbClr val="333333"/>
                </a:solidFill>
              </a:rPr>
              <a:t>workplace air.</a:t>
            </a:r>
          </a:p>
          <a:p>
            <a:pPr algn="l"/>
            <a:r>
              <a:rPr lang="en-US" sz="2400" b="0" i="0" u="none" strike="noStrike" baseline="0" dirty="0">
                <a:solidFill>
                  <a:srgbClr val="333333"/>
                </a:solidFill>
              </a:rPr>
              <a:t>Employers are required to first attempt to eliminate the hazard at source.</a:t>
            </a:r>
          </a:p>
          <a:p>
            <a:pPr algn="l"/>
            <a:r>
              <a:rPr lang="en-US" sz="2400" b="0" i="0" u="none" strike="noStrike" baseline="0" dirty="0">
                <a:solidFill>
                  <a:srgbClr val="333333"/>
                </a:solidFill>
              </a:rPr>
              <a:t>RPE should only be used after all other reasonably practicable control measures have been taken.</a:t>
            </a:r>
          </a:p>
          <a:p>
            <a:pPr algn="l"/>
            <a:r>
              <a:rPr lang="en-US" sz="2400" b="0" i="0" u="none" strike="noStrike" baseline="0" dirty="0">
                <a:solidFill>
                  <a:srgbClr val="333333"/>
                </a:solidFill>
              </a:rPr>
              <a:t>PPE is considered a last resort because it only protects individual workers, is prone to failure or misuse, such as wearing the wrong RPE for the job, and employees wearing RPE may get a false sense of security when using RPE.</a:t>
            </a:r>
          </a:p>
          <a:p>
            <a:pPr algn="l"/>
            <a:r>
              <a:rPr lang="en-US" sz="2400" b="0" i="0" u="none" strike="noStrike" baseline="0" dirty="0">
                <a:solidFill>
                  <a:srgbClr val="333333"/>
                </a:solidFill>
              </a:rPr>
              <a:t>Respiratory Protective Equipment (RPE) not worn or selected appropriately is totally ineffective and may give the user a false sense of protection.</a:t>
            </a:r>
            <a:endParaRPr lang="en-IN" sz="2400" dirty="0"/>
          </a:p>
        </p:txBody>
      </p:sp>
    </p:spTree>
    <p:extLst>
      <p:ext uri="{BB962C8B-B14F-4D97-AF65-F5344CB8AC3E}">
        <p14:creationId xmlns:p14="http://schemas.microsoft.com/office/powerpoint/2010/main" val="27559026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19BF-FBCE-B538-489F-292836AE019B}"/>
              </a:ext>
            </a:extLst>
          </p:cNvPr>
          <p:cNvSpPr>
            <a:spLocks noGrp="1"/>
          </p:cNvSpPr>
          <p:nvPr>
            <p:ph type="title"/>
          </p:nvPr>
        </p:nvSpPr>
        <p:spPr/>
        <p:txBody>
          <a:bodyPr/>
          <a:lstStyle/>
          <a:p>
            <a:r>
              <a:rPr lang="en-IN" sz="4400" b="1" i="0" u="none" strike="noStrike" baseline="0" dirty="0"/>
              <a:t>Respiratory Protective Equipment (RPE)</a:t>
            </a:r>
            <a:endParaRPr lang="en-IN" dirty="0"/>
          </a:p>
        </p:txBody>
      </p:sp>
      <p:sp>
        <p:nvSpPr>
          <p:cNvPr id="3" name="Content Placeholder 2">
            <a:extLst>
              <a:ext uri="{FF2B5EF4-FFF2-40B4-BE49-F238E27FC236}">
                <a16:creationId xmlns:a16="http://schemas.microsoft.com/office/drawing/2014/main" id="{A324FBC1-34F3-E708-749C-9EDAD7940300}"/>
              </a:ext>
            </a:extLst>
          </p:cNvPr>
          <p:cNvSpPr>
            <a:spLocks noGrp="1"/>
          </p:cNvSpPr>
          <p:nvPr>
            <p:ph idx="1"/>
          </p:nvPr>
        </p:nvSpPr>
        <p:spPr>
          <a:xfrm>
            <a:off x="838199" y="1590261"/>
            <a:ext cx="10880035" cy="4586702"/>
          </a:xfrm>
        </p:spPr>
        <p:txBody>
          <a:bodyPr>
            <a:normAutofit/>
          </a:bodyPr>
          <a:lstStyle/>
          <a:p>
            <a:pPr marL="342900" indent="-342900" algn="l">
              <a:buFont typeface="+mj-lt"/>
              <a:buAutoNum type="arabicPeriod"/>
            </a:pPr>
            <a:r>
              <a:rPr lang="en-US" sz="2400" b="1" i="0" u="none" strike="noStrike" baseline="0" dirty="0">
                <a:solidFill>
                  <a:srgbClr val="111111"/>
                </a:solidFill>
              </a:rPr>
              <a:t>Respirator (filtering device) </a:t>
            </a:r>
          </a:p>
          <a:p>
            <a:r>
              <a:rPr lang="en-US" sz="2400" b="0" i="0" u="none" strike="noStrike" baseline="0" dirty="0">
                <a:solidFill>
                  <a:srgbClr val="111111"/>
                </a:solidFill>
              </a:rPr>
              <a:t>Uses filters to remove contaminants in the workplace air, there </a:t>
            </a:r>
            <a:r>
              <a:rPr lang="en-IN" sz="2400" b="0" i="0" u="none" strike="noStrike" baseline="0" dirty="0">
                <a:solidFill>
                  <a:srgbClr val="111111"/>
                </a:solidFill>
              </a:rPr>
              <a:t>are two main types</a:t>
            </a:r>
          </a:p>
          <a:p>
            <a:pPr marL="342900" indent="-342900" algn="l">
              <a:buFont typeface="+mj-lt"/>
              <a:buAutoNum type="alphaLcPeriod"/>
            </a:pPr>
            <a:r>
              <a:rPr lang="en-US" sz="2400" b="0" i="0" u="none" strike="noStrike" baseline="0" dirty="0">
                <a:solidFill>
                  <a:srgbClr val="111111"/>
                </a:solidFill>
              </a:rPr>
              <a:t>Non-powered respirators rely on the wearer's breathing to draw air through the filter</a:t>
            </a:r>
          </a:p>
          <a:p>
            <a:pPr lvl="1"/>
            <a:r>
              <a:rPr lang="en-US" sz="2000" b="0" i="0" u="none" strike="noStrike" baseline="0" dirty="0" err="1">
                <a:solidFill>
                  <a:srgbClr val="111111"/>
                </a:solidFill>
              </a:rPr>
              <a:t>Eg</a:t>
            </a:r>
            <a:r>
              <a:rPr lang="en-US" sz="2000" b="0" i="0" u="none" strike="noStrike" baseline="0" dirty="0">
                <a:solidFill>
                  <a:srgbClr val="111111"/>
                </a:solidFill>
              </a:rPr>
              <a:t>: Disposable filtering half mask, Half mask, full face mask</a:t>
            </a:r>
          </a:p>
          <a:p>
            <a:pPr marL="342900" indent="-342900" algn="l">
              <a:buFont typeface="+mj-lt"/>
              <a:buAutoNum type="alphaLcPeriod"/>
            </a:pPr>
            <a:r>
              <a:rPr lang="en-US" sz="2400" b="0" i="0" u="none" strike="noStrike" baseline="0" dirty="0">
                <a:solidFill>
                  <a:srgbClr val="111111"/>
                </a:solidFill>
              </a:rPr>
              <a:t>Powered respirators – use a motor to pass air through the filter to give a supply of clean </a:t>
            </a:r>
            <a:r>
              <a:rPr lang="en-IN" sz="2400" b="0" i="0" u="none" strike="noStrike" baseline="0" dirty="0">
                <a:solidFill>
                  <a:srgbClr val="111111"/>
                </a:solidFill>
              </a:rPr>
              <a:t>air to the wearer</a:t>
            </a:r>
          </a:p>
          <a:p>
            <a:pPr lvl="1"/>
            <a:r>
              <a:rPr lang="en-US" sz="2000" b="0" i="0" u="none" strike="noStrike" baseline="0" dirty="0" err="1">
                <a:solidFill>
                  <a:srgbClr val="111111"/>
                </a:solidFill>
              </a:rPr>
              <a:t>Eg</a:t>
            </a:r>
            <a:r>
              <a:rPr lang="en-US" sz="2000" b="0" i="0" u="none" strike="noStrike" baseline="0" dirty="0">
                <a:solidFill>
                  <a:srgbClr val="111111"/>
                </a:solidFill>
              </a:rPr>
              <a:t>: Half mask, full face mask, helmets, hoods, visors</a:t>
            </a:r>
          </a:p>
          <a:p>
            <a:pPr marL="342900" indent="-342900" algn="l">
              <a:buFont typeface="+mj-lt"/>
              <a:buAutoNum type="arabicPeriod" startAt="2"/>
            </a:pPr>
            <a:r>
              <a:rPr lang="en-US" sz="2400" b="1" i="0" u="none" strike="noStrike" baseline="0" dirty="0">
                <a:solidFill>
                  <a:srgbClr val="111111"/>
                </a:solidFill>
              </a:rPr>
              <a:t>Breathing apparatus (BA) </a:t>
            </a:r>
            <a:r>
              <a:rPr lang="en-US" sz="2400" b="0" i="0" u="none" strike="noStrike" baseline="0" dirty="0">
                <a:solidFill>
                  <a:srgbClr val="111111"/>
                </a:solidFill>
              </a:rPr>
              <a:t>– needs a supply of breathing-quality air from an independent </a:t>
            </a:r>
            <a:r>
              <a:rPr lang="en-IN" sz="2400" b="0" i="0" u="none" strike="noStrike" baseline="0" dirty="0">
                <a:solidFill>
                  <a:srgbClr val="111111"/>
                </a:solidFill>
              </a:rPr>
              <a:t>source (e.g. air cylinder or air compressor)</a:t>
            </a:r>
            <a:endParaRPr lang="en-IN" sz="2400" dirty="0"/>
          </a:p>
        </p:txBody>
      </p:sp>
    </p:spTree>
    <p:extLst>
      <p:ext uri="{BB962C8B-B14F-4D97-AF65-F5344CB8AC3E}">
        <p14:creationId xmlns:p14="http://schemas.microsoft.com/office/powerpoint/2010/main" val="3364261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9D8B8-41AD-52B0-8020-A06051AFC4BE}"/>
              </a:ext>
            </a:extLst>
          </p:cNvPr>
          <p:cNvSpPr>
            <a:spLocks noGrp="1"/>
          </p:cNvSpPr>
          <p:nvPr>
            <p:ph type="title"/>
          </p:nvPr>
        </p:nvSpPr>
        <p:spPr/>
        <p:txBody>
          <a:bodyPr/>
          <a:lstStyle/>
          <a:p>
            <a:r>
              <a:rPr lang="en-IN" sz="4400" b="1" i="0" u="none" strike="noStrike" baseline="0" dirty="0"/>
              <a:t>Respiratory Protective Equipment (RPE)</a:t>
            </a:r>
            <a:endParaRPr lang="en-IN" dirty="0"/>
          </a:p>
        </p:txBody>
      </p:sp>
      <p:sp>
        <p:nvSpPr>
          <p:cNvPr id="3" name="Content Placeholder 2">
            <a:extLst>
              <a:ext uri="{FF2B5EF4-FFF2-40B4-BE49-F238E27FC236}">
                <a16:creationId xmlns:a16="http://schemas.microsoft.com/office/drawing/2014/main" id="{F64FD155-80EF-AF1B-8BC1-449107652D7F}"/>
              </a:ext>
            </a:extLst>
          </p:cNvPr>
          <p:cNvSpPr>
            <a:spLocks noGrp="1"/>
          </p:cNvSpPr>
          <p:nvPr>
            <p:ph idx="1"/>
          </p:nvPr>
        </p:nvSpPr>
        <p:spPr/>
        <p:txBody>
          <a:bodyPr>
            <a:noAutofit/>
          </a:bodyPr>
          <a:lstStyle/>
          <a:p>
            <a:pPr algn="l"/>
            <a:r>
              <a:rPr lang="en-US" sz="2400" b="0" i="0" u="none" strike="noStrike" baseline="0" dirty="0">
                <a:solidFill>
                  <a:srgbClr val="111111"/>
                </a:solidFill>
              </a:rPr>
              <a:t>Both respirators and BA are available in a range of different styles, which can be put into two main </a:t>
            </a:r>
            <a:r>
              <a:rPr lang="en-IN" sz="2400" b="0" i="0" u="none" strike="noStrike" baseline="0" dirty="0">
                <a:solidFill>
                  <a:srgbClr val="111111"/>
                </a:solidFill>
              </a:rPr>
              <a:t>groups:</a:t>
            </a:r>
          </a:p>
          <a:p>
            <a:pPr marL="457200" indent="-457200" algn="l">
              <a:buFont typeface="+mj-lt"/>
              <a:buAutoNum type="arabicPeriod"/>
            </a:pPr>
            <a:r>
              <a:rPr lang="en-US" sz="2400" b="1" i="0" u="none" strike="noStrike" baseline="0" dirty="0">
                <a:solidFill>
                  <a:srgbClr val="111111"/>
                </a:solidFill>
              </a:rPr>
              <a:t>Tight-fitting facepieces </a:t>
            </a:r>
            <a:r>
              <a:rPr lang="en-US" sz="2400" b="0" i="0" u="none" strike="noStrike" baseline="0" dirty="0">
                <a:solidFill>
                  <a:srgbClr val="111111"/>
                </a:solidFill>
              </a:rPr>
              <a:t>(often referred to as masks) - rely on having a good seal with the wearer’s face. </a:t>
            </a:r>
          </a:p>
          <a:p>
            <a:pPr lvl="1"/>
            <a:r>
              <a:rPr lang="en-US" sz="2000" b="0" i="0" u="none" strike="noStrike" baseline="0" dirty="0">
                <a:solidFill>
                  <a:srgbClr val="111111"/>
                </a:solidFill>
              </a:rPr>
              <a:t>These are available as both non-powered and powered respirators and BA. </a:t>
            </a:r>
          </a:p>
          <a:p>
            <a:pPr lvl="1"/>
            <a:r>
              <a:rPr lang="en-US" sz="2000" b="0" i="0" u="none" strike="noStrike" baseline="0" dirty="0">
                <a:solidFill>
                  <a:srgbClr val="111111"/>
                </a:solidFill>
              </a:rPr>
              <a:t>Examples are filtering facepieces and half and full-face masks.</a:t>
            </a:r>
          </a:p>
          <a:p>
            <a:pPr marL="457200" indent="-457200" algn="l">
              <a:buFont typeface="+mj-lt"/>
              <a:buAutoNum type="arabicPeriod"/>
            </a:pPr>
            <a:r>
              <a:rPr lang="en-US" sz="2400" b="1" i="0" u="none" strike="noStrike" baseline="0" dirty="0">
                <a:solidFill>
                  <a:srgbClr val="111111"/>
                </a:solidFill>
              </a:rPr>
              <a:t>Loose-fitting facepieces </a:t>
            </a:r>
            <a:r>
              <a:rPr lang="en-US" sz="2400" b="0" i="0" u="none" strike="noStrike" baseline="0" dirty="0">
                <a:solidFill>
                  <a:srgbClr val="111111"/>
                </a:solidFill>
              </a:rPr>
              <a:t>– rely on enough clean air being provided to the wearer to prevent contaminant leaking in (only available as powered respirators or BA). Examples are hoods helmets, </a:t>
            </a:r>
            <a:r>
              <a:rPr lang="en-IN" sz="2400" b="0" i="0" u="none" strike="noStrike" baseline="0" dirty="0">
                <a:solidFill>
                  <a:srgbClr val="111111"/>
                </a:solidFill>
              </a:rPr>
              <a:t>visors, blouses, and suits.</a:t>
            </a:r>
          </a:p>
          <a:p>
            <a:pPr algn="l"/>
            <a:r>
              <a:rPr lang="en-US" sz="2400" b="0" i="0" u="none" strike="noStrike" baseline="0" dirty="0">
                <a:solidFill>
                  <a:srgbClr val="111111"/>
                </a:solidFill>
              </a:rPr>
              <a:t>WARNING: Only BA is suitable for use in oxygen-deficient atmospheres</a:t>
            </a:r>
            <a:endParaRPr lang="en-IN" sz="2400" dirty="0"/>
          </a:p>
        </p:txBody>
      </p:sp>
    </p:spTree>
    <p:extLst>
      <p:ext uri="{BB962C8B-B14F-4D97-AF65-F5344CB8AC3E}">
        <p14:creationId xmlns:p14="http://schemas.microsoft.com/office/powerpoint/2010/main" val="14443171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400" b="1" i="0" u="none" strike="noStrike" baseline="0" dirty="0"/>
              <a:t>Respiratory Protective Equipment (RPE)</a:t>
            </a:r>
            <a:endParaRPr lang="en-US" dirty="0">
              <a:ea typeface="Tahoma" panose="020B0604030504040204" pitchFamily="34" charset="0"/>
            </a:endParaRPr>
          </a:p>
        </p:txBody>
      </p:sp>
      <p:grpSp>
        <p:nvGrpSpPr>
          <p:cNvPr id="3" name="Group 2" title="respiratory protection"/>
          <p:cNvGrpSpPr/>
          <p:nvPr/>
        </p:nvGrpSpPr>
        <p:grpSpPr>
          <a:xfrm>
            <a:off x="2209801" y="2228849"/>
            <a:ext cx="7525461" cy="2681694"/>
            <a:chOff x="685800" y="2228849"/>
            <a:chExt cx="7525461" cy="2681694"/>
          </a:xfrm>
        </p:grpSpPr>
        <p:pic>
          <p:nvPicPr>
            <p:cNvPr id="48130" name="Picture 2" descr="respirat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28849"/>
              <a:ext cx="2400300" cy="2400301"/>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pic>
          <p:nvPicPr>
            <p:cNvPr id="6" name="Picture 8" title="man in respirato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580" y="2700043"/>
              <a:ext cx="1829339" cy="1923741"/>
            </a:xfrm>
            <a:prstGeom prst="rect">
              <a:avLst/>
            </a:prstGeom>
            <a:ln w="9525">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pic>
          <p:nvPicPr>
            <p:cNvPr id="9" name="Picture 5" descr="http://blog.confinedspace.com/wp-content/uploads/2012/04/SCBA-Post1.jpg" title="man in scba respirato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399" y="2906416"/>
              <a:ext cx="1962862" cy="1710929"/>
            </a:xfrm>
            <a:prstGeom prst="rect">
              <a:avLst/>
            </a:prstGeom>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773175" y="4695099"/>
              <a:ext cx="1640550" cy="215444"/>
            </a:xfrm>
            <a:prstGeom prst="rect">
              <a:avLst/>
            </a:prstGeom>
            <a:noFill/>
          </p:spPr>
          <p:txBody>
            <a:bodyPr wrap="square" rtlCol="0">
              <a:spAutoFit/>
            </a:bodyPr>
            <a:lstStyle/>
            <a:p>
              <a:pPr algn="ctr"/>
              <a:r>
                <a:rPr lang="en-US" sz="800" dirty="0"/>
                <a:t>Source of photos: OSHA</a:t>
              </a:r>
            </a:p>
          </p:txBody>
        </p:sp>
      </p:grpSp>
      <p:sp>
        <p:nvSpPr>
          <p:cNvPr id="7" name="Content Placeholder 6">
            <a:extLst>
              <a:ext uri="{FF2B5EF4-FFF2-40B4-BE49-F238E27FC236}">
                <a16:creationId xmlns:a16="http://schemas.microsoft.com/office/drawing/2014/main" id="{23E96D1A-E809-3747-1710-54FDA421C4B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4985259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93277" y="5842914"/>
            <a:ext cx="1200518" cy="215444"/>
          </a:xfrm>
          <a:prstGeom prst="rect">
            <a:avLst/>
          </a:prstGeom>
          <a:noFill/>
        </p:spPr>
        <p:txBody>
          <a:bodyPr wrap="square" rtlCol="0">
            <a:spAutoFit/>
          </a:bodyPr>
          <a:lstStyle/>
          <a:p>
            <a:pPr algn="r"/>
            <a:r>
              <a:rPr lang="en-US" sz="800" dirty="0"/>
              <a:t>Source of photos: OSHA</a:t>
            </a:r>
          </a:p>
        </p:txBody>
      </p:sp>
      <p:sp>
        <p:nvSpPr>
          <p:cNvPr id="2" name="Title 1"/>
          <p:cNvSpPr>
            <a:spLocks noGrp="1"/>
          </p:cNvSpPr>
          <p:nvPr>
            <p:ph type="title"/>
          </p:nvPr>
        </p:nvSpPr>
        <p:spPr/>
        <p:txBody>
          <a:bodyPr/>
          <a:lstStyle/>
          <a:p>
            <a:r>
              <a:rPr lang="en-IN" sz="4400" b="1" i="0" u="none" strike="noStrike" baseline="0" dirty="0"/>
              <a:t>Respiratory Protective Equipment (RPE)</a:t>
            </a:r>
            <a:endParaRPr lang="en-US" dirty="0"/>
          </a:p>
        </p:txBody>
      </p:sp>
      <p:sp>
        <p:nvSpPr>
          <p:cNvPr id="10" name="Content Placeholder 9"/>
          <p:cNvSpPr>
            <a:spLocks noGrp="1"/>
          </p:cNvSpPr>
          <p:nvPr>
            <p:ph idx="1"/>
          </p:nvPr>
        </p:nvSpPr>
        <p:spPr/>
        <p:txBody>
          <a:bodyPr/>
          <a:lstStyle/>
          <a:p>
            <a:r>
              <a:rPr lang="en-US" dirty="0"/>
              <a:t>Types of respirators</a:t>
            </a:r>
          </a:p>
          <a:p>
            <a:pPr lvl="1"/>
            <a:r>
              <a:rPr lang="en-US" b="1" dirty="0">
                <a:solidFill>
                  <a:srgbClr val="FF0000"/>
                </a:solidFill>
              </a:rPr>
              <a:t>Air-Purifying (APR)</a:t>
            </a:r>
            <a:r>
              <a:rPr lang="en-US" dirty="0"/>
              <a:t> – remove contaminants from air</a:t>
            </a:r>
          </a:p>
          <a:p>
            <a:pPr lvl="2"/>
            <a:r>
              <a:rPr lang="en-US" dirty="0"/>
              <a:t>Particulate respirators</a:t>
            </a:r>
          </a:p>
          <a:p>
            <a:pPr lvl="2"/>
            <a:r>
              <a:rPr lang="en-US" dirty="0"/>
              <a:t>Chemical cartridge/</a:t>
            </a:r>
            <a:br>
              <a:rPr lang="en-US" dirty="0"/>
            </a:br>
            <a:r>
              <a:rPr lang="en-US" dirty="0"/>
              <a:t>gas mask respirator</a:t>
            </a:r>
          </a:p>
          <a:p>
            <a:pPr lvl="2"/>
            <a:r>
              <a:rPr lang="en-US" dirty="0"/>
              <a:t>Powered Air-Purifying Respirator (PAPR)</a:t>
            </a:r>
          </a:p>
        </p:txBody>
      </p:sp>
      <p:pic>
        <p:nvPicPr>
          <p:cNvPr id="16" name="Picture 4" title="air purifying mask"/>
          <p:cNvPicPr>
            <a:picLocks noChangeArrowheads="1"/>
          </p:cNvPicPr>
          <p:nvPr/>
        </p:nvPicPr>
        <p:blipFill rotWithShape="1">
          <a:blip r:embed="rId4" cstate="print">
            <a:extLst>
              <a:ext uri="{28A0092B-C50C-407E-A947-70E740481C1C}">
                <a14:useLocalDpi xmlns:a14="http://schemas.microsoft.com/office/drawing/2010/main" val="0"/>
              </a:ext>
            </a:extLst>
          </a:blip>
          <a:srcRect l="17834" r="13627" b="6702"/>
          <a:stretch/>
        </p:blipFill>
        <p:spPr bwMode="auto">
          <a:xfrm>
            <a:off x="8247577" y="2347023"/>
            <a:ext cx="1600200" cy="1600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4" title="Gas mask"/>
          <p:cNvPicPr>
            <a:picLocks noChangeArrowheads="1"/>
          </p:cNvPicPr>
          <p:nvPr/>
        </p:nvPicPr>
        <p:blipFill rotWithShape="1">
          <a:blip r:embed="rId5" cstate="print">
            <a:extLst>
              <a:ext uri="{28A0092B-C50C-407E-A947-70E740481C1C}">
                <a14:useLocalDpi xmlns:a14="http://schemas.microsoft.com/office/drawing/2010/main" val="0"/>
              </a:ext>
            </a:extLst>
          </a:blip>
          <a:srcRect l="2542" r="2542" b="1617"/>
          <a:stretch/>
        </p:blipFill>
        <p:spPr bwMode="auto">
          <a:xfrm>
            <a:off x="9909313" y="2133733"/>
            <a:ext cx="1676400" cy="202678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8" title="particulate respirator"/>
          <p:cNvPicPr>
            <a:picLocks noChangeArrowheads="1"/>
          </p:cNvPicPr>
          <p:nvPr/>
        </p:nvPicPr>
        <p:blipFill rotWithShape="1">
          <a:blip r:embed="rId6" cstate="print">
            <a:extLst>
              <a:ext uri="{28A0092B-C50C-407E-A947-70E740481C1C}">
                <a14:useLocalDpi xmlns:a14="http://schemas.microsoft.com/office/drawing/2010/main" val="0"/>
              </a:ext>
            </a:extLst>
          </a:blip>
          <a:srcRect r="3052" b="3518"/>
          <a:stretch/>
        </p:blipFill>
        <p:spPr bwMode="auto">
          <a:xfrm>
            <a:off x="6611599" y="2800447"/>
            <a:ext cx="1574442" cy="164194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title="powered air purifying respirator"/>
          <p:cNvPicPr>
            <a:picLocks noChangeArrowheads="1"/>
          </p:cNvPicPr>
          <p:nvPr/>
        </p:nvPicPr>
        <p:blipFill rotWithShape="1">
          <a:blip r:embed="rId7" cstate="print">
            <a:extLst>
              <a:ext uri="{28A0092B-C50C-407E-A947-70E740481C1C}">
                <a14:useLocalDpi xmlns:a14="http://schemas.microsoft.com/office/drawing/2010/main" val="0"/>
              </a:ext>
            </a:extLst>
          </a:blip>
          <a:srcRect r="1184" b="626"/>
          <a:stretch/>
        </p:blipFill>
        <p:spPr bwMode="auto">
          <a:xfrm>
            <a:off x="7334330" y="4256882"/>
            <a:ext cx="2800270" cy="17012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1079029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95741" y="5901665"/>
            <a:ext cx="1200518" cy="215444"/>
          </a:xfrm>
          <a:prstGeom prst="rect">
            <a:avLst/>
          </a:prstGeom>
          <a:noFill/>
        </p:spPr>
        <p:txBody>
          <a:bodyPr wrap="square" rtlCol="0">
            <a:spAutoFit/>
          </a:bodyPr>
          <a:lstStyle/>
          <a:p>
            <a:pPr algn="r"/>
            <a:r>
              <a:rPr lang="en-US" sz="800" dirty="0"/>
              <a:t>Source of photos: OSHA</a:t>
            </a:r>
          </a:p>
        </p:txBody>
      </p:sp>
      <p:sp>
        <p:nvSpPr>
          <p:cNvPr id="2" name="Title 1"/>
          <p:cNvSpPr>
            <a:spLocks noGrp="1"/>
          </p:cNvSpPr>
          <p:nvPr>
            <p:ph type="title"/>
          </p:nvPr>
        </p:nvSpPr>
        <p:spPr/>
        <p:txBody>
          <a:bodyPr/>
          <a:lstStyle/>
          <a:p>
            <a:r>
              <a:rPr lang="en-IN" sz="4400" b="1" i="0" u="none" strike="noStrike" baseline="0" dirty="0"/>
              <a:t>Respiratory Protective Equipment (RPE)</a:t>
            </a:r>
            <a:endParaRPr lang="en-US" dirty="0"/>
          </a:p>
        </p:txBody>
      </p:sp>
      <p:sp>
        <p:nvSpPr>
          <p:cNvPr id="10" name="Content Placeholder 9"/>
          <p:cNvSpPr>
            <a:spLocks noGrp="1"/>
          </p:cNvSpPr>
          <p:nvPr>
            <p:ph idx="1"/>
          </p:nvPr>
        </p:nvSpPr>
        <p:spPr/>
        <p:txBody>
          <a:bodyPr/>
          <a:lstStyle/>
          <a:p>
            <a:pPr lvl="1"/>
            <a:r>
              <a:rPr lang="en-US" b="1" dirty="0">
                <a:solidFill>
                  <a:srgbClr val="FF0000"/>
                </a:solidFill>
              </a:rPr>
              <a:t>Atmosphere-Supplying</a:t>
            </a:r>
            <a:r>
              <a:rPr lang="en-US" dirty="0"/>
              <a:t> – provide clean, breathable air</a:t>
            </a:r>
          </a:p>
          <a:p>
            <a:pPr lvl="2"/>
            <a:r>
              <a:rPr lang="en-US" dirty="0"/>
              <a:t>Self-Contained Breathing Apparatus (SCBA)</a:t>
            </a:r>
          </a:p>
          <a:p>
            <a:pPr lvl="2"/>
            <a:r>
              <a:rPr lang="en-US" dirty="0"/>
              <a:t>Supplied-Air Respirator (SAR)</a:t>
            </a:r>
          </a:p>
        </p:txBody>
      </p:sp>
      <p:pic>
        <p:nvPicPr>
          <p:cNvPr id="11" name="Picture 4" title="Man in SCBA"/>
          <p:cNvPicPr>
            <a:picLocks noChangeArrowheads="1"/>
          </p:cNvPicPr>
          <p:nvPr/>
        </p:nvPicPr>
        <p:blipFill rotWithShape="1">
          <a:blip r:embed="rId4" cstate="print">
            <a:extLst>
              <a:ext uri="{28A0092B-C50C-407E-A947-70E740481C1C}">
                <a14:useLocalDpi xmlns:a14="http://schemas.microsoft.com/office/drawing/2010/main" val="0"/>
              </a:ext>
            </a:extLst>
          </a:blip>
          <a:srcRect l="1" r="2228"/>
          <a:stretch/>
        </p:blipFill>
        <p:spPr bwMode="auto">
          <a:xfrm>
            <a:off x="7026152" y="2871114"/>
            <a:ext cx="2438400" cy="297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 title="Supplied air respirator"/>
          <p:cNvPicPr>
            <a:picLocks noChangeArrowheads="1"/>
          </p:cNvPicPr>
          <p:nvPr/>
        </p:nvPicPr>
        <p:blipFill rotWithShape="1">
          <a:blip r:embed="rId5" cstate="print">
            <a:extLst>
              <a:ext uri="{28A0092B-C50C-407E-A947-70E740481C1C}">
                <a14:useLocalDpi xmlns:a14="http://schemas.microsoft.com/office/drawing/2010/main" val="0"/>
              </a:ext>
            </a:extLst>
          </a:blip>
          <a:srcRect r="2467"/>
          <a:stretch/>
        </p:blipFill>
        <p:spPr bwMode="auto">
          <a:xfrm>
            <a:off x="2779353" y="2871115"/>
            <a:ext cx="3088047" cy="297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638370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761" y="1371600"/>
            <a:ext cx="10825316" cy="4114800"/>
          </a:xfrm>
        </p:spPr>
        <p:txBody>
          <a:bodyPr>
            <a:noAutofit/>
          </a:bodyPr>
          <a:lstStyle/>
          <a:p>
            <a:pPr>
              <a:lnSpc>
                <a:spcPct val="150000"/>
              </a:lnSpc>
            </a:pPr>
            <a:r>
              <a:rPr lang="en-US" dirty="0">
                <a:ea typeface="Tahoma" panose="020B0604030504040204" pitchFamily="34" charset="0"/>
              </a:rPr>
              <a:t>Medical evaluation</a:t>
            </a:r>
          </a:p>
          <a:p>
            <a:pPr lvl="1" algn="just">
              <a:lnSpc>
                <a:spcPct val="150000"/>
              </a:lnSpc>
            </a:pPr>
            <a:r>
              <a:rPr lang="en-US" dirty="0">
                <a:ea typeface="Tahoma" panose="020B0604030504040204" pitchFamily="34" charset="0"/>
              </a:rPr>
              <a:t>Before fit tests are conducted and employee is authorized the use of a respirator, a medical evaluation must be provide to determine the ability of the employee to use a respirator. </a:t>
            </a:r>
          </a:p>
          <a:p>
            <a:pPr lvl="1" algn="just">
              <a:lnSpc>
                <a:spcPct val="150000"/>
              </a:lnSpc>
            </a:pPr>
            <a:endParaRPr lang="en-US" sz="800" dirty="0">
              <a:ea typeface="Tahoma" panose="020B0604030504040204" pitchFamily="34" charset="0"/>
            </a:endParaRPr>
          </a:p>
          <a:p>
            <a:pPr lvl="1" algn="just">
              <a:lnSpc>
                <a:spcPct val="150000"/>
              </a:lnSpc>
            </a:pPr>
            <a:r>
              <a:rPr lang="en-US" dirty="0">
                <a:ea typeface="Tahoma" panose="020B0604030504040204" pitchFamily="34" charset="0"/>
              </a:rPr>
              <a:t>Identify a physician or other license health care professional (PLHCP) to perform medical evaluations using a medical questionnaire or an initial medical evaluation with which the same information is obtained.</a:t>
            </a:r>
          </a:p>
        </p:txBody>
      </p:sp>
      <p:sp>
        <p:nvSpPr>
          <p:cNvPr id="2" name="Title 1"/>
          <p:cNvSpPr>
            <a:spLocks noGrp="1"/>
          </p:cNvSpPr>
          <p:nvPr>
            <p:ph type="title"/>
          </p:nvPr>
        </p:nvSpPr>
        <p:spPr/>
        <p:txBody>
          <a:bodyPr/>
          <a:lstStyle/>
          <a:p>
            <a:r>
              <a:rPr lang="en-IN" sz="4400" b="1" i="0" u="none" strike="noStrike" baseline="0" dirty="0"/>
              <a:t>Respiratory Protective Equipment (RPE)</a:t>
            </a:r>
            <a:endParaRPr lang="en-US" dirty="0"/>
          </a:p>
        </p:txBody>
      </p:sp>
    </p:spTree>
    <p:extLst>
      <p:ext uri="{BB962C8B-B14F-4D97-AF65-F5344CB8AC3E}">
        <p14:creationId xmlns:p14="http://schemas.microsoft.com/office/powerpoint/2010/main" val="32953681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b="1" i="0" u="none" strike="noStrike" baseline="0" dirty="0"/>
              <a:t>Respiratory Protective Equipment (RPE)</a:t>
            </a:r>
            <a:endParaRPr lang="en-US" dirty="0"/>
          </a:p>
        </p:txBody>
      </p:sp>
      <p:sp>
        <p:nvSpPr>
          <p:cNvPr id="3" name="Content Placeholder 2"/>
          <p:cNvSpPr>
            <a:spLocks noGrp="1"/>
          </p:cNvSpPr>
          <p:nvPr>
            <p:ph idx="1"/>
          </p:nvPr>
        </p:nvSpPr>
        <p:spPr>
          <a:xfrm>
            <a:off x="838200" y="1857181"/>
            <a:ext cx="10591800" cy="1325564"/>
          </a:xfrm>
        </p:spPr>
        <p:txBody>
          <a:bodyPr>
            <a:normAutofit/>
          </a:bodyPr>
          <a:lstStyle/>
          <a:p>
            <a:r>
              <a:rPr lang="en-US" sz="2400" dirty="0">
                <a:ea typeface="Tahoma" panose="020B0604030504040204" pitchFamily="34" charset="0"/>
              </a:rPr>
              <a:t>Inspecting and cleaning respirators</a:t>
            </a:r>
          </a:p>
          <a:p>
            <a:pPr lvl="1"/>
            <a:r>
              <a:rPr lang="en-US" sz="2000" dirty="0">
                <a:ea typeface="Tahoma" panose="020B0604030504040204" pitchFamily="34" charset="0"/>
              </a:rPr>
              <a:t>Inspect all respirators for wear and tear before and after each use</a:t>
            </a:r>
          </a:p>
          <a:p>
            <a:pPr lvl="1"/>
            <a:r>
              <a:rPr lang="en-US" sz="2000" dirty="0">
                <a:ea typeface="Tahoma" panose="020B0604030504040204" pitchFamily="34" charset="0"/>
              </a:rPr>
              <a:t>Wash in a detergent solution; then, disinfect by immersing in a sanitizing solution</a:t>
            </a:r>
          </a:p>
          <a:p>
            <a:endParaRPr lang="en-US" sz="2400" dirty="0"/>
          </a:p>
        </p:txBody>
      </p:sp>
      <p:pic>
        <p:nvPicPr>
          <p:cNvPr id="5" name="Picture 2" descr="G:\Respiradores\P9110030.JPG" title="PPE Clea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444511" y="3434367"/>
            <a:ext cx="3213348" cy="2410011"/>
          </a:xfrm>
          <a:prstGeom prst="rect">
            <a:avLst/>
          </a:prstGeom>
          <a:ln>
            <a:solidFill>
              <a:schemeClr val="tx1"/>
            </a:solidFill>
          </a:ln>
        </p:spPr>
      </p:pic>
      <p:pic>
        <p:nvPicPr>
          <p:cNvPr id="6" name="Picture 2" descr="Rel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3432868"/>
            <a:ext cx="3581400" cy="241300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559413" y="5839012"/>
            <a:ext cx="3073173" cy="219291"/>
          </a:xfrm>
          <a:prstGeom prst="rect">
            <a:avLst/>
          </a:prstGeom>
          <a:noFill/>
        </p:spPr>
        <p:txBody>
          <a:bodyPr wrap="square" rtlCol="0">
            <a:spAutoFit/>
          </a:bodyPr>
          <a:lstStyle/>
          <a:p>
            <a:pPr algn="ctr"/>
            <a:r>
              <a:rPr lang="en-US" sz="825" dirty="0"/>
              <a:t>Source of photos: Carmen Vazquez</a:t>
            </a:r>
          </a:p>
        </p:txBody>
      </p:sp>
    </p:spTree>
    <p:extLst>
      <p:ext uri="{BB962C8B-B14F-4D97-AF65-F5344CB8AC3E}">
        <p14:creationId xmlns:p14="http://schemas.microsoft.com/office/powerpoint/2010/main" val="14586019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b="1" i="0" u="none" strike="noStrike" baseline="0" dirty="0"/>
              <a:t>Respiratory Protective Equipment (RPE)</a:t>
            </a:r>
            <a:endParaRPr lang="en-US" dirty="0"/>
          </a:p>
        </p:txBody>
      </p:sp>
      <p:sp>
        <p:nvSpPr>
          <p:cNvPr id="3" name="Content Placeholder 2"/>
          <p:cNvSpPr>
            <a:spLocks noGrp="1"/>
          </p:cNvSpPr>
          <p:nvPr>
            <p:ph idx="1"/>
          </p:nvPr>
        </p:nvSpPr>
        <p:spPr/>
        <p:txBody>
          <a:bodyPr/>
          <a:lstStyle/>
          <a:p>
            <a:r>
              <a:rPr lang="en-US" dirty="0">
                <a:ea typeface="Tahoma" panose="020B0604030504040204" pitchFamily="34" charset="0"/>
              </a:rPr>
              <a:t>Storing respirators</a:t>
            </a:r>
          </a:p>
          <a:p>
            <a:pPr lvl="1"/>
            <a:r>
              <a:rPr lang="en-US" dirty="0">
                <a:ea typeface="Tahoma" panose="020B0604030504040204" pitchFamily="34" charset="0"/>
              </a:rPr>
              <a:t>Protect against dust, sunlight, heat, extreme cold, excessive moisture, and damaging chemicals</a:t>
            </a:r>
          </a:p>
          <a:p>
            <a:pPr lvl="1"/>
            <a:r>
              <a:rPr lang="en-US" dirty="0">
                <a:ea typeface="Tahoma" panose="020B0604030504040204" pitchFamily="34" charset="0"/>
              </a:rPr>
              <a:t>Store in position to retain natural configuration</a:t>
            </a:r>
          </a:p>
        </p:txBody>
      </p:sp>
      <p:sp>
        <p:nvSpPr>
          <p:cNvPr id="7" name="TextBox 6"/>
          <p:cNvSpPr txBox="1"/>
          <p:nvPr/>
        </p:nvSpPr>
        <p:spPr>
          <a:xfrm>
            <a:off x="4559414" y="5828819"/>
            <a:ext cx="3073173" cy="219291"/>
          </a:xfrm>
          <a:prstGeom prst="rect">
            <a:avLst/>
          </a:prstGeom>
          <a:noFill/>
        </p:spPr>
        <p:txBody>
          <a:bodyPr wrap="square" rtlCol="0">
            <a:spAutoFit/>
          </a:bodyPr>
          <a:lstStyle/>
          <a:p>
            <a:pPr algn="ctr"/>
            <a:r>
              <a:rPr lang="en-US" sz="825" dirty="0"/>
              <a:t>Source of photos: Carmen Vazquez</a:t>
            </a:r>
          </a:p>
        </p:txBody>
      </p:sp>
      <p:pic>
        <p:nvPicPr>
          <p:cNvPr id="8" name="Picture 3" descr="os_resp_storage"/>
          <p:cNvPicPr>
            <a:picLocks noChangeAspect="1" noChangeArrowheads="1"/>
          </p:cNvPicPr>
          <p:nvPr/>
        </p:nvPicPr>
        <p:blipFill rotWithShape="1">
          <a:blip r:embed="rId3">
            <a:extLst>
              <a:ext uri="{28A0092B-C50C-407E-A947-70E740481C1C}">
                <a14:useLocalDpi xmlns:a14="http://schemas.microsoft.com/office/drawing/2010/main" val="0"/>
              </a:ext>
            </a:extLst>
          </a:blip>
          <a:srcRect r="7430"/>
          <a:stretch/>
        </p:blipFill>
        <p:spPr bwMode="auto">
          <a:xfrm>
            <a:off x="1325483" y="3716524"/>
            <a:ext cx="2851597" cy="23315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9" name="Picture 2" descr="G:\Respiradores\P9110037.JPG" title="Storing respirators"/>
          <p:cNvPicPr>
            <a:picLocks noChangeAspect="1" noChangeArrowheads="1"/>
          </p:cNvPicPr>
          <p:nvPr/>
        </p:nvPicPr>
        <p:blipFill rotWithShape="1">
          <a:blip r:embed="rId4">
            <a:extLst>
              <a:ext uri="{28A0092B-C50C-407E-A947-70E740481C1C}">
                <a14:useLocalDpi xmlns:a14="http://schemas.microsoft.com/office/drawing/2010/main" val="0"/>
              </a:ext>
            </a:extLst>
          </a:blip>
          <a:srcRect r="12100"/>
          <a:stretch/>
        </p:blipFill>
        <p:spPr>
          <a:xfrm>
            <a:off x="4288314" y="3701710"/>
            <a:ext cx="2767662" cy="2361214"/>
          </a:xfrm>
          <a:prstGeom prst="rect">
            <a:avLst/>
          </a:prstGeom>
          <a:ln>
            <a:solidFill>
              <a:schemeClr val="tx1"/>
            </a:solidFill>
          </a:ln>
        </p:spPr>
      </p:pic>
      <p:pic>
        <p:nvPicPr>
          <p:cNvPr id="10" name="Picture 2" descr="G:\Respiradores\P9110032.JPG" title="respirator in a ba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7167211" y="3697738"/>
            <a:ext cx="3108206" cy="2331586"/>
          </a:xfrm>
          <a:prstGeom prst="rect">
            <a:avLst/>
          </a:prstGeom>
          <a:ln>
            <a:solidFill>
              <a:schemeClr val="tx1"/>
            </a:solidFill>
          </a:ln>
        </p:spPr>
      </p:pic>
    </p:spTree>
    <p:extLst>
      <p:ext uri="{BB962C8B-B14F-4D97-AF65-F5344CB8AC3E}">
        <p14:creationId xmlns:p14="http://schemas.microsoft.com/office/powerpoint/2010/main" val="107818948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9A09-64A4-8AEF-454E-9179D6B563AA}"/>
              </a:ext>
            </a:extLst>
          </p:cNvPr>
          <p:cNvSpPr>
            <a:spLocks noGrp="1"/>
          </p:cNvSpPr>
          <p:nvPr>
            <p:ph type="title"/>
          </p:nvPr>
        </p:nvSpPr>
        <p:spPr/>
        <p:txBody>
          <a:bodyPr/>
          <a:lstStyle/>
          <a:p>
            <a:r>
              <a:rPr lang="en-IN" sz="4400" b="1" i="0" u="none" strike="noStrike" baseline="0" dirty="0"/>
              <a:t>Non Respiratory PPEs</a:t>
            </a:r>
            <a:endParaRPr lang="en-IN" dirty="0"/>
          </a:p>
        </p:txBody>
      </p:sp>
      <p:sp>
        <p:nvSpPr>
          <p:cNvPr id="3" name="Content Placeholder 2">
            <a:extLst>
              <a:ext uri="{FF2B5EF4-FFF2-40B4-BE49-F238E27FC236}">
                <a16:creationId xmlns:a16="http://schemas.microsoft.com/office/drawing/2014/main" id="{4364D4E4-B517-7CAA-1338-31331AA63530}"/>
              </a:ext>
            </a:extLst>
          </p:cNvPr>
          <p:cNvSpPr>
            <a:spLocks noGrp="1"/>
          </p:cNvSpPr>
          <p:nvPr>
            <p:ph idx="1"/>
          </p:nvPr>
        </p:nvSpPr>
        <p:spPr/>
        <p:txBody>
          <a:bodyPr>
            <a:noAutofit/>
          </a:bodyPr>
          <a:lstStyle/>
          <a:p>
            <a:pPr algn="l"/>
            <a:r>
              <a:rPr lang="en-US" sz="2400" b="0" i="0" u="none" strike="noStrike" baseline="0" dirty="0"/>
              <a:t>Different types of PPE for the body and depending on the job type.</a:t>
            </a:r>
          </a:p>
          <a:p>
            <a:pPr marL="457200" indent="-457200" algn="l">
              <a:buFont typeface="+mj-lt"/>
              <a:buAutoNum type="arabicPeriod"/>
            </a:pPr>
            <a:r>
              <a:rPr lang="en-IN" sz="2400" b="0" i="0" u="none" strike="noStrike" baseline="0" dirty="0"/>
              <a:t>Eye protection (e.g. goggles)(RPE)</a:t>
            </a:r>
          </a:p>
          <a:p>
            <a:pPr marL="457200" indent="-457200" algn="l">
              <a:buFont typeface="+mj-lt"/>
              <a:buAutoNum type="arabicPeriod"/>
            </a:pPr>
            <a:r>
              <a:rPr lang="en-US" sz="2400" b="0" i="0" u="none" strike="noStrike" baseline="0" dirty="0"/>
              <a:t>Head protection (e.g. safety helmets)</a:t>
            </a:r>
          </a:p>
          <a:p>
            <a:pPr marL="457200" indent="-457200" algn="l">
              <a:buFont typeface="+mj-lt"/>
              <a:buAutoNum type="arabicPeriod"/>
            </a:pPr>
            <a:r>
              <a:rPr lang="en-US" sz="2400" b="0" i="0" u="none" strike="noStrike" baseline="0" dirty="0"/>
              <a:t>Ear protection (e.g. earplugs)</a:t>
            </a:r>
          </a:p>
          <a:p>
            <a:pPr marL="457200" indent="-457200" algn="l">
              <a:buFont typeface="+mj-lt"/>
              <a:buAutoNum type="arabicPeriod"/>
            </a:pPr>
            <a:r>
              <a:rPr lang="en-IN" sz="2400" b="0" i="0" u="none" strike="noStrike" baseline="0" dirty="0"/>
              <a:t>Foot protection (e.g. steel toecap boots)</a:t>
            </a:r>
          </a:p>
          <a:p>
            <a:pPr marL="457200" indent="-457200" algn="l">
              <a:buFont typeface="+mj-lt"/>
              <a:buAutoNum type="arabicPeriod"/>
            </a:pPr>
            <a:r>
              <a:rPr lang="en-US" sz="2400" b="0" i="0" u="none" strike="noStrike" baseline="0" dirty="0"/>
              <a:t>Hand and arm protection (e.g. gloves)</a:t>
            </a:r>
          </a:p>
          <a:p>
            <a:pPr marL="457200" indent="-457200" algn="l">
              <a:buFont typeface="+mj-lt"/>
              <a:buAutoNum type="arabicPeriod"/>
            </a:pPr>
            <a:r>
              <a:rPr lang="en-US" sz="2400" b="0" i="0" u="none" strike="noStrike" baseline="0" dirty="0"/>
              <a:t>Body protection (e.g. high-visibility clothing)</a:t>
            </a:r>
          </a:p>
          <a:p>
            <a:pPr marL="457200" indent="-457200" algn="l">
              <a:buFont typeface="+mj-lt"/>
              <a:buAutoNum type="arabicPeriod"/>
            </a:pPr>
            <a:r>
              <a:rPr lang="en-US" sz="2400" b="0" i="0" u="none" strike="noStrike" baseline="0" dirty="0"/>
              <a:t>Fall protection (e.g. safety harnesses).</a:t>
            </a:r>
          </a:p>
          <a:p>
            <a:pPr marL="457200" indent="-457200" algn="l">
              <a:buFont typeface="+mj-lt"/>
              <a:buAutoNum type="arabicPeriod"/>
            </a:pPr>
            <a:r>
              <a:rPr lang="en-US" sz="2400" b="0" i="0" u="none" strike="noStrike" baseline="0" dirty="0"/>
              <a:t>Skin protection (e.g. protective clothing)</a:t>
            </a:r>
            <a:endParaRPr lang="en-IN" sz="2400" dirty="0"/>
          </a:p>
        </p:txBody>
      </p:sp>
    </p:spTree>
    <p:extLst>
      <p:ext uri="{BB962C8B-B14F-4D97-AF65-F5344CB8AC3E}">
        <p14:creationId xmlns:p14="http://schemas.microsoft.com/office/powerpoint/2010/main" val="18891336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ersonal Protective Equipment (PPE) Safety | SafetyCulture">
            <a:extLst>
              <a:ext uri="{FF2B5EF4-FFF2-40B4-BE49-F238E27FC236}">
                <a16:creationId xmlns:a16="http://schemas.microsoft.com/office/drawing/2014/main" id="{845E70DE-04DF-FF9C-DF3C-8430887CEC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139" y="256208"/>
            <a:ext cx="9518374" cy="6345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5212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40181-E96A-17AF-6EA4-70509716039E}"/>
              </a:ext>
            </a:extLst>
          </p:cNvPr>
          <p:cNvSpPr>
            <a:spLocks noGrp="1"/>
          </p:cNvSpPr>
          <p:nvPr>
            <p:ph type="title"/>
          </p:nvPr>
        </p:nvSpPr>
        <p:spPr/>
        <p:txBody>
          <a:bodyPr/>
          <a:lstStyle/>
          <a:p>
            <a:r>
              <a:rPr lang="en-IN" sz="4400" b="1" i="0" u="none" strike="noStrike" baseline="0" dirty="0"/>
              <a:t>1. Eye Protection</a:t>
            </a:r>
            <a:endParaRPr lang="en-IN" dirty="0"/>
          </a:p>
        </p:txBody>
      </p:sp>
      <p:sp>
        <p:nvSpPr>
          <p:cNvPr id="3" name="Content Placeholder 2">
            <a:extLst>
              <a:ext uri="{FF2B5EF4-FFF2-40B4-BE49-F238E27FC236}">
                <a16:creationId xmlns:a16="http://schemas.microsoft.com/office/drawing/2014/main" id="{1D764CE7-B259-7F0A-460B-26EC77044457}"/>
              </a:ext>
            </a:extLst>
          </p:cNvPr>
          <p:cNvSpPr>
            <a:spLocks noGrp="1"/>
          </p:cNvSpPr>
          <p:nvPr>
            <p:ph idx="1"/>
          </p:nvPr>
        </p:nvSpPr>
        <p:spPr>
          <a:xfrm>
            <a:off x="838200" y="1520687"/>
            <a:ext cx="10515600" cy="4850296"/>
          </a:xfrm>
        </p:spPr>
        <p:txBody>
          <a:bodyPr>
            <a:noAutofit/>
          </a:bodyPr>
          <a:lstStyle/>
          <a:p>
            <a:pPr algn="l"/>
            <a:r>
              <a:rPr lang="en-US" sz="2400" b="0" i="0" u="none" strike="noStrike" baseline="0" dirty="0"/>
              <a:t>These help protect the mucus membranes of the eyes, as well as help to reduce the risk of foreign objects entering the eyes and damaging them.</a:t>
            </a:r>
          </a:p>
          <a:p>
            <a:pPr algn="l"/>
            <a:r>
              <a:rPr lang="en-US" sz="2400" b="0" i="0" u="none" strike="noStrike" baseline="0" dirty="0"/>
              <a:t>Needed when an employee’s work presents the potential of causing eye injury from physical, </a:t>
            </a:r>
            <a:r>
              <a:rPr lang="en-IN" sz="2400" b="0" i="0" u="none" strike="noStrike" baseline="0" dirty="0"/>
              <a:t>chemical, or radiation agents.</a:t>
            </a:r>
          </a:p>
          <a:p>
            <a:pPr algn="l"/>
            <a:r>
              <a:rPr lang="en-IN" sz="2400" b="0" i="0" u="none" strike="noStrike" baseline="0" dirty="0"/>
              <a:t>Examples of hazards: </a:t>
            </a:r>
          </a:p>
          <a:p>
            <a:pPr lvl="1"/>
            <a:r>
              <a:rPr lang="en-IN" sz="2000" b="0" i="0" u="none" strike="noStrike" baseline="0" dirty="0"/>
              <a:t>Machines, Lasers, Impacts, Heat, Tools, Flying Particles / Dust, Electrical work, Chemical handling</a:t>
            </a:r>
          </a:p>
          <a:p>
            <a:pPr marL="268288" indent="-211138"/>
            <a:r>
              <a:rPr lang="en-US" sz="2400" dirty="0">
                <a:solidFill>
                  <a:srgbClr val="000000"/>
                </a:solidFill>
                <a:ea typeface="Tahoma" panose="020B0604030504040204" pitchFamily="34" charset="0"/>
              </a:rPr>
              <a:t>Selecting eye and face protection – elements to consider:</a:t>
            </a:r>
          </a:p>
          <a:p>
            <a:pPr lvl="1"/>
            <a:r>
              <a:rPr lang="en-US" sz="2000" dirty="0">
                <a:ea typeface="Tahoma" panose="020B0604030504040204" pitchFamily="34" charset="0"/>
              </a:rPr>
              <a:t>Ability to protect against workplace hazards</a:t>
            </a:r>
          </a:p>
          <a:p>
            <a:pPr lvl="1"/>
            <a:r>
              <a:rPr lang="en-US" sz="2000" dirty="0">
                <a:ea typeface="Tahoma" panose="020B0604030504040204" pitchFamily="34" charset="0"/>
              </a:rPr>
              <a:t>Should fit properly</a:t>
            </a:r>
          </a:p>
          <a:p>
            <a:pPr lvl="1"/>
            <a:r>
              <a:rPr lang="en-US" sz="2000" dirty="0">
                <a:ea typeface="Tahoma" panose="020B0604030504040204" pitchFamily="34" charset="0"/>
              </a:rPr>
              <a:t>Should provide unrestricted vision and movement</a:t>
            </a:r>
          </a:p>
          <a:p>
            <a:pPr lvl="1"/>
            <a:r>
              <a:rPr lang="en-US" sz="2000" dirty="0">
                <a:ea typeface="Tahoma" panose="020B0604030504040204" pitchFamily="34" charset="0"/>
              </a:rPr>
              <a:t>Durable and cleanable</a:t>
            </a:r>
          </a:p>
          <a:p>
            <a:pPr lvl="1"/>
            <a:r>
              <a:rPr lang="en-US" sz="2000" dirty="0">
                <a:ea typeface="Tahoma" panose="020B0604030504040204" pitchFamily="34" charset="0"/>
              </a:rPr>
              <a:t>Allow unrestricted functioning of other PPE</a:t>
            </a:r>
          </a:p>
          <a:p>
            <a:pPr marL="457200" lvl="1" indent="0">
              <a:buNone/>
            </a:pPr>
            <a:endParaRPr lang="en-IN" sz="2000" dirty="0"/>
          </a:p>
          <a:p>
            <a:pPr algn="l"/>
            <a:endParaRPr lang="en-IN" sz="2400" dirty="0"/>
          </a:p>
        </p:txBody>
      </p:sp>
    </p:spTree>
    <p:extLst>
      <p:ext uri="{BB962C8B-B14F-4D97-AF65-F5344CB8AC3E}">
        <p14:creationId xmlns:p14="http://schemas.microsoft.com/office/powerpoint/2010/main" val="1436815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20C53-E591-0C89-0789-3AE9FD694336}"/>
              </a:ext>
            </a:extLst>
          </p:cNvPr>
          <p:cNvSpPr>
            <a:spLocks noGrp="1"/>
          </p:cNvSpPr>
          <p:nvPr>
            <p:ph type="title"/>
          </p:nvPr>
        </p:nvSpPr>
        <p:spPr/>
        <p:txBody>
          <a:bodyPr/>
          <a:lstStyle/>
          <a:p>
            <a:r>
              <a:rPr lang="en-IN" sz="4400" b="1" i="0" u="none" strike="noStrike" baseline="0" dirty="0"/>
              <a:t>1. Eye Protection</a:t>
            </a:r>
            <a:endParaRPr lang="en-IN" dirty="0"/>
          </a:p>
        </p:txBody>
      </p:sp>
      <p:sp>
        <p:nvSpPr>
          <p:cNvPr id="3" name="Content Placeholder 2">
            <a:extLst>
              <a:ext uri="{FF2B5EF4-FFF2-40B4-BE49-F238E27FC236}">
                <a16:creationId xmlns:a16="http://schemas.microsoft.com/office/drawing/2014/main" id="{997A7B09-A24B-64F0-0C14-699CA8318B4B}"/>
              </a:ext>
            </a:extLst>
          </p:cNvPr>
          <p:cNvSpPr>
            <a:spLocks noGrp="1"/>
          </p:cNvSpPr>
          <p:nvPr>
            <p:ph idx="1"/>
          </p:nvPr>
        </p:nvSpPr>
        <p:spPr>
          <a:xfrm>
            <a:off x="838200" y="1530626"/>
            <a:ext cx="10515600" cy="4646337"/>
          </a:xfrm>
        </p:spPr>
        <p:txBody>
          <a:bodyPr>
            <a:normAutofit/>
          </a:bodyPr>
          <a:lstStyle/>
          <a:p>
            <a:pPr algn="l"/>
            <a:r>
              <a:rPr lang="en-US" sz="2400" b="0" i="0" u="none" strike="noStrike" baseline="0" dirty="0"/>
              <a:t>There are three main types of eye protection, these are</a:t>
            </a:r>
          </a:p>
          <a:p>
            <a:pPr lvl="1"/>
            <a:r>
              <a:rPr lang="en-US" sz="2000" b="1" i="0" u="none" strike="noStrike" baseline="0" dirty="0"/>
              <a:t>Safety glasses </a:t>
            </a:r>
            <a:r>
              <a:rPr lang="en-US" sz="2000" b="0" i="0" u="none" strike="noStrike" baseline="0" dirty="0"/>
              <a:t>– These are effective for flying objects heading straight towards the face, but they are not effective for vapors and dust that can enter the eyes. </a:t>
            </a:r>
            <a:endParaRPr lang="en-US" sz="2000" dirty="0"/>
          </a:p>
          <a:p>
            <a:pPr lvl="1"/>
            <a:r>
              <a:rPr lang="en-US" sz="2000" b="1" i="0" u="none" strike="noStrike" baseline="0" dirty="0"/>
              <a:t>Goggles</a:t>
            </a:r>
            <a:r>
              <a:rPr lang="en-US" sz="2000" b="0" i="0" u="none" strike="noStrike" baseline="0" dirty="0"/>
              <a:t> – </a:t>
            </a:r>
            <a:r>
              <a:rPr lang="en-US" sz="2000" dirty="0">
                <a:ea typeface="Tahoma" panose="020B0604030504040204" pitchFamily="34" charset="0"/>
              </a:rPr>
              <a:t>Protect eyes, and the facial area immediately surrounding the eyes from impact, dust, and splashes.  Some can be used over corrective lenses if they fit them.</a:t>
            </a:r>
            <a:endParaRPr lang="en-IN" sz="2000" b="0" i="0" u="none" strike="noStrike" baseline="0" dirty="0"/>
          </a:p>
          <a:p>
            <a:pPr lvl="1"/>
            <a:r>
              <a:rPr lang="en-US" sz="2000" b="1" i="0" u="none" strike="noStrike" baseline="0" dirty="0"/>
              <a:t>Face shields and visors </a:t>
            </a:r>
            <a:r>
              <a:rPr lang="en-US" sz="2000" b="0" i="0" u="none" strike="noStrike" baseline="0" dirty="0"/>
              <a:t>– These can be worn with prescription glasses underneath, and they help to protect the whole face.</a:t>
            </a:r>
            <a:endParaRPr lang="en-IN" sz="2000" dirty="0"/>
          </a:p>
        </p:txBody>
      </p:sp>
      <p:pic>
        <p:nvPicPr>
          <p:cNvPr id="5" name="Picture 4">
            <a:extLst>
              <a:ext uri="{FF2B5EF4-FFF2-40B4-BE49-F238E27FC236}">
                <a16:creationId xmlns:a16="http://schemas.microsoft.com/office/drawing/2014/main" id="{BB940B7F-119D-51B2-715E-140B392F6122}"/>
              </a:ext>
            </a:extLst>
          </p:cNvPr>
          <p:cNvPicPr>
            <a:picLocks noChangeAspect="1"/>
          </p:cNvPicPr>
          <p:nvPr/>
        </p:nvPicPr>
        <p:blipFill>
          <a:blip r:embed="rId2"/>
          <a:stretch>
            <a:fillRect/>
          </a:stretch>
        </p:blipFill>
        <p:spPr>
          <a:xfrm>
            <a:off x="838200" y="3822179"/>
            <a:ext cx="2857748" cy="2354784"/>
          </a:xfrm>
          <a:prstGeom prst="rect">
            <a:avLst/>
          </a:prstGeom>
        </p:spPr>
      </p:pic>
      <p:sp>
        <p:nvSpPr>
          <p:cNvPr id="7" name="TextBox 6">
            <a:extLst>
              <a:ext uri="{FF2B5EF4-FFF2-40B4-BE49-F238E27FC236}">
                <a16:creationId xmlns:a16="http://schemas.microsoft.com/office/drawing/2014/main" id="{A1F52985-9A02-924B-C9AE-1181150B883B}"/>
              </a:ext>
            </a:extLst>
          </p:cNvPr>
          <p:cNvSpPr txBox="1"/>
          <p:nvPr/>
        </p:nvSpPr>
        <p:spPr>
          <a:xfrm>
            <a:off x="1289602" y="6315922"/>
            <a:ext cx="6097656" cy="369332"/>
          </a:xfrm>
          <a:prstGeom prst="rect">
            <a:avLst/>
          </a:prstGeom>
          <a:noFill/>
        </p:spPr>
        <p:txBody>
          <a:bodyPr wrap="square">
            <a:spAutoFit/>
          </a:bodyPr>
          <a:lstStyle/>
          <a:p>
            <a:r>
              <a:rPr lang="en-US" sz="1800" b="1" i="0" u="none" strike="noStrike" baseline="0" dirty="0"/>
              <a:t>Safety glasses			          Goggles </a:t>
            </a:r>
            <a:endParaRPr lang="en-IN" dirty="0"/>
          </a:p>
        </p:txBody>
      </p:sp>
      <p:pic>
        <p:nvPicPr>
          <p:cNvPr id="8" name="Picture 7" title="Goggles">
            <a:extLst>
              <a:ext uri="{FF2B5EF4-FFF2-40B4-BE49-F238E27FC236}">
                <a16:creationId xmlns:a16="http://schemas.microsoft.com/office/drawing/2014/main" id="{6B3ABA50-95EE-0FF4-C2A5-390C201108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7616" y="4194708"/>
            <a:ext cx="2400300" cy="1609725"/>
          </a:xfrm>
          <a:prstGeom prst="rect">
            <a:avLst/>
          </a:prstGeom>
          <a:ln>
            <a:solidFill>
              <a:schemeClr val="tx1"/>
            </a:solidFill>
          </a:ln>
        </p:spPr>
      </p:pic>
      <p:pic>
        <p:nvPicPr>
          <p:cNvPr id="10" name="Picture 9">
            <a:extLst>
              <a:ext uri="{FF2B5EF4-FFF2-40B4-BE49-F238E27FC236}">
                <a16:creationId xmlns:a16="http://schemas.microsoft.com/office/drawing/2014/main" id="{A958EBB1-D2D0-948D-3796-9ABBD499B736}"/>
              </a:ext>
            </a:extLst>
          </p:cNvPr>
          <p:cNvPicPr>
            <a:picLocks noChangeAspect="1"/>
          </p:cNvPicPr>
          <p:nvPr/>
        </p:nvPicPr>
        <p:blipFill>
          <a:blip r:embed="rId4"/>
          <a:stretch>
            <a:fillRect/>
          </a:stretch>
        </p:blipFill>
        <p:spPr>
          <a:xfrm>
            <a:off x="7786417" y="3904025"/>
            <a:ext cx="2281921" cy="2491611"/>
          </a:xfrm>
          <a:prstGeom prst="rect">
            <a:avLst/>
          </a:prstGeom>
        </p:spPr>
      </p:pic>
    </p:spTree>
    <p:extLst>
      <p:ext uri="{BB962C8B-B14F-4D97-AF65-F5344CB8AC3E}">
        <p14:creationId xmlns:p14="http://schemas.microsoft.com/office/powerpoint/2010/main" val="194333857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b="1" i="0" u="none" strike="noStrike" baseline="0" dirty="0"/>
              <a:t>1. Eye Protection</a:t>
            </a:r>
            <a:endParaRPr lang="en-US" b="1" dirty="0">
              <a:solidFill>
                <a:schemeClr val="tx1"/>
              </a:solidFill>
            </a:endParaRPr>
          </a:p>
        </p:txBody>
      </p:sp>
      <p:sp>
        <p:nvSpPr>
          <p:cNvPr id="3" name="Content Placeholder 2"/>
          <p:cNvSpPr>
            <a:spLocks noGrp="1"/>
          </p:cNvSpPr>
          <p:nvPr>
            <p:ph sz="half" idx="2"/>
          </p:nvPr>
        </p:nvSpPr>
        <p:spPr>
          <a:xfrm>
            <a:off x="838200" y="1384903"/>
            <a:ext cx="4038600" cy="725963"/>
          </a:xfrm>
        </p:spPr>
        <p:txBody>
          <a:bodyPr/>
          <a:lstStyle/>
          <a:p>
            <a:pPr lvl="1"/>
            <a:r>
              <a:rPr lang="en-US" dirty="0">
                <a:ea typeface="Tahoma" panose="020B0604030504040204" pitchFamily="34" charset="0"/>
              </a:rPr>
              <a:t>Goggle types</a:t>
            </a:r>
          </a:p>
          <a:p>
            <a:pPr marL="0" indent="0">
              <a:buNone/>
            </a:pPr>
            <a:endParaRPr lang="en-US" dirty="0"/>
          </a:p>
        </p:txBody>
      </p:sp>
      <p:sp>
        <p:nvSpPr>
          <p:cNvPr id="6" name="Rectangle 5"/>
          <p:cNvSpPr/>
          <p:nvPr/>
        </p:nvSpPr>
        <p:spPr>
          <a:xfrm>
            <a:off x="2350555" y="3473496"/>
            <a:ext cx="2287806" cy="369332"/>
          </a:xfrm>
          <a:prstGeom prst="rect">
            <a:avLst/>
          </a:prstGeom>
        </p:spPr>
        <p:txBody>
          <a:bodyPr wrap="none">
            <a:spAutoFit/>
          </a:bodyPr>
          <a:lstStyle/>
          <a:p>
            <a:r>
              <a:rPr lang="en-US" b="1" i="1" dirty="0">
                <a:latin typeface="Tahoma" panose="020B0604030504040204" pitchFamily="34" charset="0"/>
              </a:rPr>
              <a:t> Direct-ventilated </a:t>
            </a:r>
            <a:endParaRPr lang="en-US" b="1" dirty="0"/>
          </a:p>
        </p:txBody>
      </p:sp>
      <p:sp>
        <p:nvSpPr>
          <p:cNvPr id="7" name="TextBox 6"/>
          <p:cNvSpPr txBox="1"/>
          <p:nvPr/>
        </p:nvSpPr>
        <p:spPr>
          <a:xfrm flipH="1">
            <a:off x="4801790" y="5862176"/>
            <a:ext cx="2528437" cy="215444"/>
          </a:xfrm>
          <a:prstGeom prst="rect">
            <a:avLst/>
          </a:prstGeom>
          <a:noFill/>
        </p:spPr>
        <p:txBody>
          <a:bodyPr wrap="square" rtlCol="0">
            <a:spAutoFit/>
          </a:bodyPr>
          <a:lstStyle/>
          <a:p>
            <a:pPr algn="ctr"/>
            <a:r>
              <a:rPr lang="en-US" sz="800" dirty="0"/>
              <a:t>Source: OSHA.gov </a:t>
            </a:r>
          </a:p>
        </p:txBody>
      </p:sp>
      <p:sp>
        <p:nvSpPr>
          <p:cNvPr id="8" name="Rectangle 7"/>
          <p:cNvSpPr/>
          <p:nvPr/>
        </p:nvSpPr>
        <p:spPr>
          <a:xfrm>
            <a:off x="4901219" y="3473496"/>
            <a:ext cx="2383986" cy="369332"/>
          </a:xfrm>
          <a:prstGeom prst="rect">
            <a:avLst/>
          </a:prstGeom>
        </p:spPr>
        <p:txBody>
          <a:bodyPr wrap="none">
            <a:spAutoFit/>
          </a:bodyPr>
          <a:lstStyle/>
          <a:p>
            <a:r>
              <a:rPr lang="en-US" b="1" i="1" dirty="0">
                <a:latin typeface="Tahoma" panose="020B0604030504040204" pitchFamily="34" charset="0"/>
              </a:rPr>
              <a:t>Indirect-ventilated</a:t>
            </a:r>
            <a:endParaRPr lang="en-US" b="1" dirty="0"/>
          </a:p>
        </p:txBody>
      </p:sp>
      <p:pic>
        <p:nvPicPr>
          <p:cNvPr id="45062" name="Picture 6" descr="Figure 15. Indirect-ventilated Gogg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541" y="1976751"/>
            <a:ext cx="2194919" cy="1471990"/>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sp>
        <p:nvSpPr>
          <p:cNvPr id="9" name="Rectangle 8"/>
          <p:cNvSpPr/>
          <p:nvPr/>
        </p:nvSpPr>
        <p:spPr>
          <a:xfrm>
            <a:off x="7945580" y="3473496"/>
            <a:ext cx="1922321" cy="369332"/>
          </a:xfrm>
          <a:prstGeom prst="rect">
            <a:avLst/>
          </a:prstGeom>
        </p:spPr>
        <p:txBody>
          <a:bodyPr wrap="none">
            <a:spAutoFit/>
          </a:bodyPr>
          <a:lstStyle/>
          <a:p>
            <a:r>
              <a:rPr lang="en-US" b="1" i="1" dirty="0">
                <a:latin typeface="Tahoma" panose="020B0604030504040204" pitchFamily="34" charset="0"/>
              </a:rPr>
              <a:t>Non-ventilated</a:t>
            </a:r>
            <a:endParaRPr lang="en-US" b="1" dirty="0"/>
          </a:p>
        </p:txBody>
      </p:sp>
      <p:pic>
        <p:nvPicPr>
          <p:cNvPr id="45064" name="Picture 8" descr="Figure 16. Non-ventilated Goggl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527" y="1976752"/>
            <a:ext cx="2089136" cy="1476323"/>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sp>
        <p:nvSpPr>
          <p:cNvPr id="10" name="Rectangle 9"/>
          <p:cNvSpPr/>
          <p:nvPr/>
        </p:nvSpPr>
        <p:spPr>
          <a:xfrm>
            <a:off x="7566915" y="3769727"/>
            <a:ext cx="2743959" cy="2062103"/>
          </a:xfrm>
          <a:prstGeom prst="rect">
            <a:avLst/>
          </a:prstGeom>
        </p:spPr>
        <p:txBody>
          <a:bodyPr wrap="square">
            <a:spAutoFit/>
          </a:bodyPr>
          <a:lstStyle/>
          <a:p>
            <a:pPr marL="285750" indent="-285750">
              <a:buFont typeface="Arial" panose="020B0604020202020204" pitchFamily="34" charset="0"/>
              <a:buChar char="•"/>
            </a:pPr>
            <a:r>
              <a:rPr lang="en-US" dirty="0">
                <a:solidFill>
                  <a:srgbClr val="000000"/>
                </a:solidFill>
                <a:latin typeface="Tahoma" panose="020B0604030504040204" pitchFamily="34" charset="0"/>
              </a:rPr>
              <a:t>Does not allow the passage of air into the goggle</a:t>
            </a:r>
          </a:p>
          <a:p>
            <a:pPr>
              <a:buFont typeface="Arial" panose="020B0604020202020204" pitchFamily="34" charset="0"/>
              <a:buChar char="•"/>
            </a:pPr>
            <a:endParaRPr lang="en-US" sz="1000" dirty="0">
              <a:solidFill>
                <a:srgbClr val="000000"/>
              </a:solidFill>
              <a:latin typeface="Tahoma" panose="020B0604030504040204" pitchFamily="34" charset="0"/>
            </a:endParaRPr>
          </a:p>
          <a:p>
            <a:pPr marL="285750" indent="-285750">
              <a:buFont typeface="Arial" panose="020B0604020202020204" pitchFamily="34" charset="0"/>
              <a:buChar char="•"/>
            </a:pPr>
            <a:r>
              <a:rPr lang="en-US" dirty="0">
                <a:solidFill>
                  <a:srgbClr val="000000"/>
                </a:solidFill>
                <a:latin typeface="Tahoma" panose="020B0604030504040204" pitchFamily="34" charset="0"/>
              </a:rPr>
              <a:t>Prevents splash entry</a:t>
            </a:r>
          </a:p>
          <a:p>
            <a:pPr marL="285750" indent="-285750">
              <a:buFont typeface="Arial" panose="020B0604020202020204" pitchFamily="34" charset="0"/>
              <a:buChar char="•"/>
            </a:pPr>
            <a:endParaRPr lang="en-US" sz="1000" dirty="0">
              <a:solidFill>
                <a:srgbClr val="000000"/>
              </a:solidFill>
              <a:latin typeface="Tahoma" panose="020B0604030504040204" pitchFamily="34" charset="0"/>
            </a:endParaRPr>
          </a:p>
          <a:p>
            <a:pPr marL="285750" indent="-285750">
              <a:buFont typeface="Arial" panose="020B0604020202020204" pitchFamily="34" charset="0"/>
              <a:buChar char="•"/>
            </a:pPr>
            <a:r>
              <a:rPr lang="en-US" dirty="0">
                <a:solidFill>
                  <a:srgbClr val="000000"/>
                </a:solidFill>
                <a:latin typeface="Tahoma" panose="020B0604030504040204" pitchFamily="34" charset="0"/>
              </a:rPr>
              <a:t>May fog and require frequent lens cleaning</a:t>
            </a:r>
          </a:p>
        </p:txBody>
      </p:sp>
      <p:sp>
        <p:nvSpPr>
          <p:cNvPr id="11" name="Rectangle 10"/>
          <p:cNvSpPr/>
          <p:nvPr/>
        </p:nvSpPr>
        <p:spPr>
          <a:xfrm>
            <a:off x="4968549" y="3769726"/>
            <a:ext cx="2316657" cy="1938992"/>
          </a:xfrm>
          <a:prstGeom prst="rect">
            <a:avLst/>
          </a:prstGeom>
        </p:spPr>
        <p:txBody>
          <a:bodyPr wrap="square">
            <a:spAutoFit/>
          </a:bodyPr>
          <a:lstStyle/>
          <a:p>
            <a:pPr marL="285750" indent="-285750">
              <a:buFont typeface="Arial" panose="020B0604020202020204" pitchFamily="34" charset="0"/>
              <a:buChar char="•"/>
            </a:pPr>
            <a:r>
              <a:rPr lang="en-US" dirty="0">
                <a:solidFill>
                  <a:srgbClr val="000000"/>
                </a:solidFill>
                <a:latin typeface="Tahoma" panose="020B0604030504040204" pitchFamily="34" charset="0"/>
              </a:rPr>
              <a:t>Prevents fogging by allowing air circulation</a:t>
            </a:r>
          </a:p>
          <a:p>
            <a:pPr marL="285750" indent="-285750">
              <a:buFont typeface="Arial" panose="020B0604020202020204" pitchFamily="34" charset="0"/>
              <a:buChar char="•"/>
            </a:pPr>
            <a:endParaRPr lang="en-US" sz="1000" dirty="0">
              <a:solidFill>
                <a:srgbClr val="000000"/>
              </a:solidFill>
              <a:latin typeface="Tahoma" panose="020B0604030504040204" pitchFamily="34" charset="0"/>
            </a:endParaRPr>
          </a:p>
          <a:p>
            <a:pPr marL="285750" indent="-285750">
              <a:buFont typeface="Arial" panose="020B0604020202020204" pitchFamily="34" charset="0"/>
              <a:buChar char="•"/>
            </a:pPr>
            <a:r>
              <a:rPr lang="en-US" dirty="0">
                <a:solidFill>
                  <a:srgbClr val="000000"/>
                </a:solidFill>
                <a:latin typeface="Tahoma" panose="020B0604030504040204" pitchFamily="34" charset="0"/>
              </a:rPr>
              <a:t>Protects against liquid or chemical splash entry</a:t>
            </a:r>
          </a:p>
        </p:txBody>
      </p:sp>
      <p:sp>
        <p:nvSpPr>
          <p:cNvPr id="12" name="Rectangle 11"/>
          <p:cNvSpPr/>
          <p:nvPr/>
        </p:nvSpPr>
        <p:spPr>
          <a:xfrm>
            <a:off x="2136929" y="3777931"/>
            <a:ext cx="2767089" cy="1631216"/>
          </a:xfrm>
          <a:prstGeom prst="rect">
            <a:avLst/>
          </a:prstGeom>
        </p:spPr>
        <p:txBody>
          <a:bodyPr wrap="square">
            <a:spAutoFit/>
          </a:bodyPr>
          <a:lstStyle/>
          <a:p>
            <a:pPr marL="285750" indent="-285750">
              <a:buFont typeface="Arial" panose="020B0604020202020204" pitchFamily="34" charset="0"/>
              <a:buChar char="•"/>
            </a:pPr>
            <a:r>
              <a:rPr lang="en-US" dirty="0">
                <a:solidFill>
                  <a:srgbClr val="000000"/>
                </a:solidFill>
                <a:latin typeface="Tahoma" panose="020B0604030504040204" pitchFamily="34" charset="0"/>
              </a:rPr>
              <a:t>Resist direct passage of large particles into the goggle</a:t>
            </a:r>
          </a:p>
          <a:p>
            <a:endParaRPr lang="en-US" sz="1000" dirty="0">
              <a:solidFill>
                <a:srgbClr val="000000"/>
              </a:solidFill>
              <a:latin typeface="Tahoma" panose="020B0604030504040204" pitchFamily="34" charset="0"/>
            </a:endParaRPr>
          </a:p>
          <a:p>
            <a:pPr marL="285750" indent="-285750">
              <a:buFont typeface="Arial" panose="020B0604020202020204" pitchFamily="34" charset="0"/>
              <a:buChar char="•"/>
            </a:pPr>
            <a:r>
              <a:rPr lang="en-US" dirty="0">
                <a:solidFill>
                  <a:srgbClr val="000000"/>
                </a:solidFill>
                <a:latin typeface="Tahoma" panose="020B0604030504040204" pitchFamily="34" charset="0"/>
              </a:rPr>
              <a:t>Prevents fogging by allowing air circulation</a:t>
            </a:r>
          </a:p>
        </p:txBody>
      </p:sp>
      <p:pic>
        <p:nvPicPr>
          <p:cNvPr id="16" name="Picture 4" descr="Figure 14. Direct-ventilated Goggles"/>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334220" y="1976751"/>
            <a:ext cx="2161253" cy="1449412"/>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9161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0880-3823-DE29-E0F5-18B777753172}"/>
              </a:ext>
            </a:extLst>
          </p:cNvPr>
          <p:cNvSpPr>
            <a:spLocks noGrp="1"/>
          </p:cNvSpPr>
          <p:nvPr>
            <p:ph type="title"/>
          </p:nvPr>
        </p:nvSpPr>
        <p:spPr/>
        <p:txBody>
          <a:bodyPr/>
          <a:lstStyle/>
          <a:p>
            <a:r>
              <a:rPr lang="en-IN" sz="4400" b="1" i="0" u="none" strike="noStrike" baseline="0" dirty="0"/>
              <a:t>1. Eye Protection</a:t>
            </a:r>
            <a:endParaRPr lang="en-IN" dirty="0"/>
          </a:p>
        </p:txBody>
      </p:sp>
      <p:sp>
        <p:nvSpPr>
          <p:cNvPr id="3" name="Content Placeholder 2">
            <a:extLst>
              <a:ext uri="{FF2B5EF4-FFF2-40B4-BE49-F238E27FC236}">
                <a16:creationId xmlns:a16="http://schemas.microsoft.com/office/drawing/2014/main" id="{E9FBEEC3-1B78-471D-2F3C-8F815F046807}"/>
              </a:ext>
            </a:extLst>
          </p:cNvPr>
          <p:cNvSpPr>
            <a:spLocks noGrp="1"/>
          </p:cNvSpPr>
          <p:nvPr>
            <p:ph idx="1"/>
          </p:nvPr>
        </p:nvSpPr>
        <p:spPr/>
        <p:txBody>
          <a:bodyPr/>
          <a:lstStyle/>
          <a:p>
            <a:r>
              <a:rPr lang="en-US" dirty="0">
                <a:ea typeface="Tahoma" panose="020B0604030504040204" pitchFamily="34" charset="0"/>
              </a:rPr>
              <a:t>Prescription glasses</a:t>
            </a:r>
          </a:p>
          <a:p>
            <a:pPr lvl="1"/>
            <a:r>
              <a:rPr lang="en-US" dirty="0">
                <a:ea typeface="Tahoma" panose="020B0604030504040204" pitchFamily="34" charset="0"/>
              </a:rPr>
              <a:t>Employees who use  prescription glasses while performing operations with </a:t>
            </a:r>
            <a:br>
              <a:rPr lang="en-US" dirty="0">
                <a:ea typeface="Tahoma" panose="020B0604030504040204" pitchFamily="34" charset="0"/>
              </a:rPr>
            </a:br>
            <a:r>
              <a:rPr lang="en-US" dirty="0">
                <a:ea typeface="Tahoma" panose="020B0604030504040204" pitchFamily="34" charset="0"/>
              </a:rPr>
              <a:t>potential eye hazards must use eye protection that: </a:t>
            </a:r>
          </a:p>
          <a:p>
            <a:pPr marL="1257300" lvl="2" indent="-342900"/>
            <a:r>
              <a:rPr lang="en-US" dirty="0">
                <a:ea typeface="Tahoma" panose="020B0604030504040204" pitchFamily="34" charset="0"/>
              </a:rPr>
              <a:t>Incorporates the prescription in its design, </a:t>
            </a:r>
            <a:r>
              <a:rPr lang="en-US" b="1" dirty="0">
                <a:ea typeface="Tahoma" panose="020B0604030504040204" pitchFamily="34" charset="0"/>
              </a:rPr>
              <a:t>or</a:t>
            </a:r>
            <a:endParaRPr lang="en-US" dirty="0">
              <a:ea typeface="Tahoma" panose="020B0604030504040204" pitchFamily="34" charset="0"/>
            </a:endParaRPr>
          </a:p>
          <a:p>
            <a:pPr marL="1257300" lvl="2" indent="-342900"/>
            <a:r>
              <a:rPr lang="en-US" dirty="0">
                <a:ea typeface="Tahoma" panose="020B0604030504040204" pitchFamily="34" charset="0"/>
              </a:rPr>
              <a:t>Can be used over your prescription glasses without interfering with the proper positioning of the prescription glasses or goggles</a:t>
            </a:r>
          </a:p>
          <a:p>
            <a:endParaRPr lang="en-IN" dirty="0"/>
          </a:p>
        </p:txBody>
      </p:sp>
    </p:spTree>
    <p:extLst>
      <p:ext uri="{BB962C8B-B14F-4D97-AF65-F5344CB8AC3E}">
        <p14:creationId xmlns:p14="http://schemas.microsoft.com/office/powerpoint/2010/main" val="1144522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Eye and face protection</a:t>
            </a:r>
          </a:p>
        </p:txBody>
      </p:sp>
      <p:pic>
        <p:nvPicPr>
          <p:cNvPr id="5122" name="Picture 2" descr="http://www.asu.edu/ehs/images-nl/eye-protection.png" title="Types of Eye and face prot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0539" y="2057401"/>
            <a:ext cx="4290920" cy="3204747"/>
          </a:xfrm>
          <a:prstGeom prst="rect">
            <a:avLst/>
          </a:prstGeom>
          <a:ln>
            <a:noFill/>
          </a:ln>
          <a:effectLst>
            <a:outerShdw blurRad="292100" dist="139700" dir="2700000" algn="tl" rotWithShape="0">
              <a:srgbClr val="333333">
                <a:alpha val="65000"/>
              </a:srgbClr>
            </a:outerShdw>
          </a:effectLst>
        </p:spPr>
      </p:pic>
      <p:sp>
        <p:nvSpPr>
          <p:cNvPr id="3" name="TextBox 2"/>
          <p:cNvSpPr txBox="1"/>
          <p:nvPr/>
        </p:nvSpPr>
        <p:spPr>
          <a:xfrm flipH="1">
            <a:off x="5059951" y="5791200"/>
            <a:ext cx="2072096" cy="215444"/>
          </a:xfrm>
          <a:prstGeom prst="rect">
            <a:avLst/>
          </a:prstGeom>
          <a:noFill/>
        </p:spPr>
        <p:txBody>
          <a:bodyPr wrap="square" rtlCol="0">
            <a:spAutoFit/>
          </a:bodyPr>
          <a:lstStyle/>
          <a:p>
            <a:pPr algn="ctr"/>
            <a:r>
              <a:rPr lang="en-US" sz="800" dirty="0"/>
              <a:t>Source of images: OSHA</a:t>
            </a:r>
          </a:p>
        </p:txBody>
      </p:sp>
    </p:spTree>
    <p:extLst>
      <p:ext uri="{BB962C8B-B14F-4D97-AF65-F5344CB8AC3E}">
        <p14:creationId xmlns:p14="http://schemas.microsoft.com/office/powerpoint/2010/main" val="10817665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safety.blr.com/images/face-shield.jpg" title="man with facepr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9919" y="3810000"/>
            <a:ext cx="2955332" cy="2057400"/>
          </a:xfrm>
          <a:prstGeom prst="roundRect">
            <a:avLst>
              <a:gd name="adj" fmla="val 8594"/>
            </a:avLst>
          </a:prstGeom>
          <a:solidFill>
            <a:srgbClr val="FFFFFF">
              <a:shade val="85000"/>
            </a:srgbClr>
          </a:solidFill>
          <a:ln>
            <a:solidFill>
              <a:schemeClr val="tx1"/>
            </a:solidFill>
          </a:ln>
          <a:effectLst/>
        </p:spPr>
      </p:pic>
      <p:sp>
        <p:nvSpPr>
          <p:cNvPr id="4" name="TextBox 3"/>
          <p:cNvSpPr txBox="1"/>
          <p:nvPr/>
        </p:nvSpPr>
        <p:spPr>
          <a:xfrm>
            <a:off x="7740896" y="5871693"/>
            <a:ext cx="1970314" cy="215444"/>
          </a:xfrm>
          <a:prstGeom prst="rect">
            <a:avLst/>
          </a:prstGeom>
          <a:noFill/>
        </p:spPr>
        <p:txBody>
          <a:bodyPr wrap="square" rtlCol="0">
            <a:spAutoFit/>
          </a:bodyPr>
          <a:lstStyle/>
          <a:p>
            <a:pPr algn="r"/>
            <a:r>
              <a:rPr lang="en-US" sz="800" dirty="0"/>
              <a:t>Source: OSHA </a:t>
            </a:r>
          </a:p>
        </p:txBody>
      </p:sp>
      <p:sp>
        <p:nvSpPr>
          <p:cNvPr id="5" name="Content Placeholder 4"/>
          <p:cNvSpPr>
            <a:spLocks noGrp="1"/>
          </p:cNvSpPr>
          <p:nvPr>
            <p:ph idx="1"/>
          </p:nvPr>
        </p:nvSpPr>
        <p:spPr>
          <a:xfrm>
            <a:off x="2355432" y="1141210"/>
            <a:ext cx="7391400" cy="3366873"/>
          </a:xfrm>
        </p:spPr>
        <p:txBody>
          <a:bodyPr/>
          <a:lstStyle/>
          <a:p>
            <a:r>
              <a:rPr lang="en-US" dirty="0"/>
              <a:t>Common causes of eye injuries</a:t>
            </a:r>
          </a:p>
          <a:p>
            <a:pPr lvl="1"/>
            <a:r>
              <a:rPr lang="en-US" dirty="0"/>
              <a:t>Chemical splashes</a:t>
            </a:r>
          </a:p>
          <a:p>
            <a:pPr lvl="1"/>
            <a:r>
              <a:rPr lang="en-US" dirty="0"/>
              <a:t>Blood or OPIM splashes or sprays</a:t>
            </a:r>
          </a:p>
          <a:p>
            <a:pPr lvl="1"/>
            <a:r>
              <a:rPr lang="en-US" dirty="0"/>
              <a:t>Intense light </a:t>
            </a:r>
          </a:p>
          <a:p>
            <a:pPr lvl="1"/>
            <a:r>
              <a:rPr lang="en-US" dirty="0"/>
              <a:t>Dust and other flying particles</a:t>
            </a:r>
          </a:p>
          <a:p>
            <a:pPr lvl="1"/>
            <a:r>
              <a:rPr lang="en-US" dirty="0"/>
              <a:t>Molten metal splashes</a:t>
            </a:r>
          </a:p>
        </p:txBody>
      </p:sp>
      <p:sp>
        <p:nvSpPr>
          <p:cNvPr id="2" name="Title 1"/>
          <p:cNvSpPr>
            <a:spLocks noGrp="1"/>
          </p:cNvSpPr>
          <p:nvPr>
            <p:ph type="title"/>
          </p:nvPr>
        </p:nvSpPr>
        <p:spPr>
          <a:xfrm>
            <a:off x="793332" y="0"/>
            <a:ext cx="10515600" cy="1325563"/>
          </a:xfrm>
        </p:spPr>
        <p:txBody>
          <a:bodyPr/>
          <a:lstStyle/>
          <a:p>
            <a:r>
              <a:rPr lang="en-IN" sz="4400" b="1" i="0" u="none" strike="noStrike" baseline="0" dirty="0"/>
              <a:t>1. Eye Protection</a:t>
            </a:r>
            <a:endParaRPr lang="en-US" dirty="0"/>
          </a:p>
        </p:txBody>
      </p:sp>
    </p:spTree>
    <p:extLst>
      <p:ext uri="{BB962C8B-B14F-4D97-AF65-F5344CB8AC3E}">
        <p14:creationId xmlns:p14="http://schemas.microsoft.com/office/powerpoint/2010/main" val="15727588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21815" y="1075587"/>
            <a:ext cx="6934200" cy="4191000"/>
          </a:xfrm>
        </p:spPr>
        <p:txBody>
          <a:bodyPr>
            <a:noAutofit/>
          </a:bodyPr>
          <a:lstStyle/>
          <a:p>
            <a:r>
              <a:rPr lang="en-US" dirty="0">
                <a:solidFill>
                  <a:srgbClr val="000000"/>
                </a:solidFill>
                <a:ea typeface="Tahoma" panose="020B0604030504040204" pitchFamily="34" charset="0"/>
              </a:rPr>
              <a:t>Face shields</a:t>
            </a:r>
          </a:p>
          <a:p>
            <a:pPr lvl="1"/>
            <a:r>
              <a:rPr lang="en-US" dirty="0">
                <a:solidFill>
                  <a:srgbClr val="000000"/>
                </a:solidFill>
                <a:ea typeface="Tahoma" panose="020B0604030504040204" pitchFamily="34" charset="0"/>
              </a:rPr>
              <a:t>Protect face from nuisance </a:t>
            </a:r>
            <a:br>
              <a:rPr lang="en-US" dirty="0">
                <a:solidFill>
                  <a:srgbClr val="000000"/>
                </a:solidFill>
                <a:ea typeface="Tahoma" panose="020B0604030504040204" pitchFamily="34" charset="0"/>
              </a:rPr>
            </a:br>
            <a:r>
              <a:rPr lang="en-US" dirty="0">
                <a:solidFill>
                  <a:srgbClr val="000000"/>
                </a:solidFill>
                <a:ea typeface="Tahoma" panose="020B0604030504040204" pitchFamily="34" charset="0"/>
              </a:rPr>
              <a:t>dusts and potential splashes </a:t>
            </a:r>
            <a:br>
              <a:rPr lang="en-US" dirty="0">
                <a:solidFill>
                  <a:srgbClr val="000000"/>
                </a:solidFill>
                <a:ea typeface="Tahoma" panose="020B0604030504040204" pitchFamily="34" charset="0"/>
              </a:rPr>
            </a:br>
            <a:r>
              <a:rPr lang="en-US" dirty="0">
                <a:solidFill>
                  <a:srgbClr val="000000"/>
                </a:solidFill>
                <a:ea typeface="Tahoma" panose="020B0604030504040204" pitchFamily="34" charset="0"/>
              </a:rPr>
              <a:t>or sprays of hazardous liquids</a:t>
            </a:r>
          </a:p>
          <a:p>
            <a:pPr lvl="1"/>
            <a:r>
              <a:rPr lang="en-US" dirty="0">
                <a:solidFill>
                  <a:srgbClr val="000000"/>
                </a:solidFill>
                <a:ea typeface="Tahoma" panose="020B0604030504040204" pitchFamily="34" charset="0"/>
              </a:rPr>
              <a:t>Shields do </a:t>
            </a:r>
            <a:r>
              <a:rPr lang="en-US" u="sng" dirty="0">
                <a:solidFill>
                  <a:srgbClr val="000000"/>
                </a:solidFill>
                <a:ea typeface="Tahoma" panose="020B0604030504040204" pitchFamily="34" charset="0"/>
              </a:rPr>
              <a:t>not</a:t>
            </a:r>
            <a:r>
              <a:rPr lang="en-US" dirty="0">
                <a:solidFill>
                  <a:srgbClr val="000000"/>
                </a:solidFill>
                <a:ea typeface="Tahoma" panose="020B0604030504040204" pitchFamily="34" charset="0"/>
              </a:rPr>
              <a:t> protect from </a:t>
            </a:r>
            <a:br>
              <a:rPr lang="en-US" dirty="0">
                <a:solidFill>
                  <a:srgbClr val="000000"/>
                </a:solidFill>
                <a:ea typeface="Tahoma" panose="020B0604030504040204" pitchFamily="34" charset="0"/>
              </a:rPr>
            </a:br>
            <a:r>
              <a:rPr lang="en-US" dirty="0">
                <a:solidFill>
                  <a:srgbClr val="000000"/>
                </a:solidFill>
                <a:ea typeface="Tahoma" panose="020B0604030504040204" pitchFamily="34" charset="0"/>
              </a:rPr>
              <a:t>impact hazards </a:t>
            </a:r>
            <a:r>
              <a:rPr lang="en-US" u="sng" dirty="0">
                <a:solidFill>
                  <a:srgbClr val="000000"/>
                </a:solidFill>
                <a:ea typeface="Tahoma" panose="020B0604030504040204" pitchFamily="34" charset="0"/>
              </a:rPr>
              <a:t>unless so rated</a:t>
            </a:r>
            <a:endParaRPr lang="en-US" dirty="0">
              <a:solidFill>
                <a:srgbClr val="000000"/>
              </a:solidFill>
              <a:ea typeface="Tahoma" panose="020B0604030504040204" pitchFamily="34" charset="0"/>
            </a:endParaRPr>
          </a:p>
          <a:p>
            <a:pPr lvl="1"/>
            <a:r>
              <a:rPr lang="en-US" dirty="0">
                <a:solidFill>
                  <a:srgbClr val="000000"/>
                </a:solidFill>
                <a:ea typeface="Tahoma" panose="020B0604030504040204" pitchFamily="34" charset="0"/>
              </a:rPr>
              <a:t>Shields are for face protection, not eye protection. To protect the eyes, wear safety glasses with side shields, or goggles under the face shield. </a:t>
            </a:r>
          </a:p>
          <a:p>
            <a:pPr lvl="1"/>
            <a:endParaRPr lang="en-US" dirty="0">
              <a:latin typeface="+mj-lt"/>
            </a:endParaRPr>
          </a:p>
        </p:txBody>
      </p:sp>
      <p:sp>
        <p:nvSpPr>
          <p:cNvPr id="5" name="TextBox 4"/>
          <p:cNvSpPr txBox="1"/>
          <p:nvPr/>
        </p:nvSpPr>
        <p:spPr>
          <a:xfrm>
            <a:off x="9330784" y="3361322"/>
            <a:ext cx="880017" cy="219291"/>
          </a:xfrm>
          <a:prstGeom prst="rect">
            <a:avLst/>
          </a:prstGeom>
          <a:noFill/>
        </p:spPr>
        <p:txBody>
          <a:bodyPr wrap="square" rtlCol="0">
            <a:spAutoFit/>
          </a:bodyPr>
          <a:lstStyle/>
          <a:p>
            <a:pPr algn="r"/>
            <a:r>
              <a:rPr lang="en-US" sz="825" dirty="0"/>
              <a:t>Source: OSHA</a:t>
            </a:r>
          </a:p>
        </p:txBody>
      </p:sp>
      <p:pic>
        <p:nvPicPr>
          <p:cNvPr id="6" name="Picture 2" descr="http://www.elitecarcareproducts.co.uk/Catalogue/Photos/Large/10091.jpg" title="face shield"/>
          <p:cNvPicPr>
            <a:picLocks noChangeAspect="1" noChangeArrowheads="1"/>
          </p:cNvPicPr>
          <p:nvPr/>
        </p:nvPicPr>
        <p:blipFill rotWithShape="1">
          <a:blip r:embed="rId3">
            <a:extLst>
              <a:ext uri="{28A0092B-C50C-407E-A947-70E740481C1C}">
                <a14:useLocalDpi xmlns:a14="http://schemas.microsoft.com/office/drawing/2010/main" val="0"/>
              </a:ext>
            </a:extLst>
          </a:blip>
          <a:srcRect l="12616" r="10923"/>
          <a:stretch/>
        </p:blipFill>
        <p:spPr bwMode="auto">
          <a:xfrm>
            <a:off x="7981595" y="1253675"/>
            <a:ext cx="2133600" cy="2092856"/>
          </a:xfrm>
          <a:prstGeom prst="rect">
            <a:avLst/>
          </a:prstGeom>
          <a:solidFill>
            <a:srgbClr val="FFFFFF">
              <a:shade val="85000"/>
            </a:srgbClr>
          </a:solidFill>
          <a:ln w="12700"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p:cNvSpPr>
            <a:spLocks noGrp="1"/>
          </p:cNvSpPr>
          <p:nvPr>
            <p:ph type="title"/>
          </p:nvPr>
        </p:nvSpPr>
        <p:spPr>
          <a:xfrm>
            <a:off x="1981200" y="217580"/>
            <a:ext cx="8229600" cy="685800"/>
          </a:xfrm>
        </p:spPr>
        <p:txBody>
          <a:bodyPr>
            <a:normAutofit fontScale="90000"/>
          </a:bodyPr>
          <a:lstStyle/>
          <a:p>
            <a:r>
              <a:rPr lang="en-IN" sz="4400" b="1" i="0" u="none" strike="noStrike" baseline="0" dirty="0"/>
              <a:t>1. Eye Protection</a:t>
            </a:r>
            <a:endParaRPr lang="en-US" dirty="0"/>
          </a:p>
        </p:txBody>
      </p:sp>
    </p:spTree>
    <p:extLst>
      <p:ext uri="{BB962C8B-B14F-4D97-AF65-F5344CB8AC3E}">
        <p14:creationId xmlns:p14="http://schemas.microsoft.com/office/powerpoint/2010/main" val="30011202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Man wearing welding shiel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3581401"/>
            <a:ext cx="2162296" cy="1801913"/>
          </a:xfrm>
          <a:prstGeom prst="rect">
            <a:avLst/>
          </a:prstGeom>
          <a:solidFill>
            <a:srgbClr val="FFFFFF">
              <a:shade val="85000"/>
            </a:srgbClr>
          </a:solidFill>
          <a:ln w="19050"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8294146" y="5452349"/>
            <a:ext cx="1640550" cy="215444"/>
          </a:xfrm>
          <a:prstGeom prst="rect">
            <a:avLst/>
          </a:prstGeom>
          <a:noFill/>
        </p:spPr>
        <p:txBody>
          <a:bodyPr wrap="square" rtlCol="0">
            <a:spAutoFit/>
          </a:bodyPr>
          <a:lstStyle/>
          <a:p>
            <a:pPr algn="r"/>
            <a:r>
              <a:rPr lang="en-US" sz="800" dirty="0"/>
              <a:t>Source of photos: OSHA</a:t>
            </a:r>
          </a:p>
        </p:txBody>
      </p:sp>
      <p:sp>
        <p:nvSpPr>
          <p:cNvPr id="9" name="Content Placeholder 2"/>
          <p:cNvSpPr>
            <a:spLocks noGrp="1"/>
          </p:cNvSpPr>
          <p:nvPr>
            <p:ph idx="1"/>
          </p:nvPr>
        </p:nvSpPr>
        <p:spPr>
          <a:xfrm>
            <a:off x="1978987" y="1836626"/>
            <a:ext cx="5057408" cy="3945673"/>
          </a:xfrm>
        </p:spPr>
        <p:txBody>
          <a:bodyPr>
            <a:normAutofit/>
          </a:bodyPr>
          <a:lstStyle/>
          <a:p>
            <a:pPr marL="514350" indent="-457200"/>
            <a:r>
              <a:rPr lang="en-US" dirty="0">
                <a:ea typeface="Tahoma" panose="020B0604030504040204" pitchFamily="34" charset="0"/>
              </a:rPr>
              <a:t>Welding shields</a:t>
            </a:r>
          </a:p>
          <a:p>
            <a:pPr lvl="1"/>
            <a:r>
              <a:rPr lang="en-US" dirty="0">
                <a:ea typeface="Tahoma" panose="020B0604030504040204" pitchFamily="34" charset="0"/>
              </a:rPr>
              <a:t>Protect eyes from burns caused by:</a:t>
            </a:r>
          </a:p>
          <a:p>
            <a:pPr lvl="2"/>
            <a:r>
              <a:rPr lang="en-US" dirty="0" err="1">
                <a:ea typeface="Tahoma" panose="020B0604030504040204" pitchFamily="34" charset="0"/>
              </a:rPr>
              <a:t>Infared</a:t>
            </a:r>
            <a:r>
              <a:rPr lang="en-US" dirty="0">
                <a:ea typeface="Tahoma" panose="020B0604030504040204" pitchFamily="34" charset="0"/>
              </a:rPr>
              <a:t> light</a:t>
            </a:r>
          </a:p>
          <a:p>
            <a:pPr lvl="2"/>
            <a:r>
              <a:rPr lang="en-US" dirty="0">
                <a:ea typeface="Tahoma" panose="020B0604030504040204" pitchFamily="34" charset="0"/>
              </a:rPr>
              <a:t>Intense radiant light</a:t>
            </a:r>
          </a:p>
          <a:p>
            <a:pPr lvl="2"/>
            <a:endParaRPr lang="en-US" sz="1100" dirty="0">
              <a:ea typeface="Tahoma" panose="020B0604030504040204" pitchFamily="34" charset="0"/>
            </a:endParaRPr>
          </a:p>
          <a:p>
            <a:pPr lvl="1"/>
            <a:r>
              <a:rPr lang="en-US" dirty="0">
                <a:ea typeface="Tahoma" panose="020B0604030504040204" pitchFamily="34" charset="0"/>
              </a:rPr>
              <a:t>Protect eyes and face from flying sparks, metal spatter, and slag chips</a:t>
            </a:r>
          </a:p>
        </p:txBody>
      </p:sp>
      <p:pic>
        <p:nvPicPr>
          <p:cNvPr id="10" name="Picture 2" descr="Image result for OSHA etools Welding shield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4690" y="1121764"/>
            <a:ext cx="2669916" cy="2002437"/>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IN" sz="4400" b="1" i="0" u="none" strike="noStrike" baseline="0" dirty="0"/>
              <a:t>1. Eye Protection</a:t>
            </a:r>
            <a:endParaRPr lang="en-US" dirty="0"/>
          </a:p>
        </p:txBody>
      </p:sp>
    </p:spTree>
    <p:extLst>
      <p:ext uri="{BB962C8B-B14F-4D97-AF65-F5344CB8AC3E}">
        <p14:creationId xmlns:p14="http://schemas.microsoft.com/office/powerpoint/2010/main" val="15739497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362200" y="1371600"/>
            <a:ext cx="6781800" cy="2514600"/>
          </a:xfrm>
        </p:spPr>
        <p:txBody>
          <a:bodyPr/>
          <a:lstStyle/>
          <a:p>
            <a:r>
              <a:rPr lang="en-US" dirty="0"/>
              <a:t>Laser safety goggles</a:t>
            </a:r>
          </a:p>
          <a:p>
            <a:pPr lvl="1"/>
            <a:r>
              <a:rPr lang="en-US" dirty="0"/>
              <a:t>Provide protection from hazards:</a:t>
            </a:r>
          </a:p>
          <a:p>
            <a:pPr lvl="2"/>
            <a:r>
              <a:rPr lang="en-US" dirty="0"/>
              <a:t>physical contact such as flying particles</a:t>
            </a:r>
          </a:p>
          <a:p>
            <a:pPr lvl="2"/>
            <a:r>
              <a:rPr lang="en-US" dirty="0"/>
              <a:t>ultraviolet light, laser, and welding</a:t>
            </a:r>
          </a:p>
          <a:p>
            <a:endParaRPr lang="en-US" sz="2400" dirty="0"/>
          </a:p>
        </p:txBody>
      </p:sp>
      <p:pic>
        <p:nvPicPr>
          <p:cNvPr id="4" name="Picture 3" title="laser safety goggl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8868" y="3863662"/>
            <a:ext cx="2694265" cy="1895964"/>
          </a:xfrm>
          <a:prstGeom prst="rect">
            <a:avLst/>
          </a:prstGeom>
          <a:ln>
            <a:solidFill>
              <a:schemeClr val="tx1"/>
            </a:solidFill>
          </a:ln>
        </p:spPr>
      </p:pic>
      <p:sp>
        <p:nvSpPr>
          <p:cNvPr id="6" name="TextBox 5"/>
          <p:cNvSpPr txBox="1"/>
          <p:nvPr/>
        </p:nvSpPr>
        <p:spPr>
          <a:xfrm>
            <a:off x="5655991" y="5759627"/>
            <a:ext cx="880017" cy="219291"/>
          </a:xfrm>
          <a:prstGeom prst="rect">
            <a:avLst/>
          </a:prstGeom>
          <a:noFill/>
        </p:spPr>
        <p:txBody>
          <a:bodyPr wrap="square" rtlCol="0">
            <a:spAutoFit/>
          </a:bodyPr>
          <a:lstStyle/>
          <a:p>
            <a:pPr algn="r"/>
            <a:r>
              <a:rPr lang="en-US" sz="825" dirty="0"/>
              <a:t>Source: OSHA</a:t>
            </a:r>
          </a:p>
        </p:txBody>
      </p:sp>
      <p:sp>
        <p:nvSpPr>
          <p:cNvPr id="2" name="Title 1"/>
          <p:cNvSpPr>
            <a:spLocks noGrp="1"/>
          </p:cNvSpPr>
          <p:nvPr>
            <p:ph type="title"/>
          </p:nvPr>
        </p:nvSpPr>
        <p:spPr/>
        <p:txBody>
          <a:bodyPr/>
          <a:lstStyle/>
          <a:p>
            <a:r>
              <a:rPr lang="en-IN" sz="4400" b="1" i="0" u="none" strike="noStrike" baseline="0" dirty="0"/>
              <a:t>1. Eye Protection</a:t>
            </a:r>
            <a:endParaRPr lang="en-US" dirty="0"/>
          </a:p>
        </p:txBody>
      </p:sp>
    </p:spTree>
    <p:extLst>
      <p:ext uri="{BB962C8B-B14F-4D97-AF65-F5344CB8AC3E}">
        <p14:creationId xmlns:p14="http://schemas.microsoft.com/office/powerpoint/2010/main" val="152678151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578DF-420D-A3DB-E7CB-3E462F55D867}"/>
              </a:ext>
            </a:extLst>
          </p:cNvPr>
          <p:cNvSpPr>
            <a:spLocks noGrp="1"/>
          </p:cNvSpPr>
          <p:nvPr>
            <p:ph type="title"/>
          </p:nvPr>
        </p:nvSpPr>
        <p:spPr/>
        <p:txBody>
          <a:bodyPr/>
          <a:lstStyle/>
          <a:p>
            <a:r>
              <a:rPr lang="en-IN" sz="4400" b="1" i="0" u="none" strike="noStrike" baseline="0" dirty="0"/>
              <a:t>2. Head protection</a:t>
            </a:r>
            <a:endParaRPr lang="en-IN" dirty="0"/>
          </a:p>
        </p:txBody>
      </p:sp>
      <p:sp>
        <p:nvSpPr>
          <p:cNvPr id="7" name="Content Placeholder 6">
            <a:extLst>
              <a:ext uri="{FF2B5EF4-FFF2-40B4-BE49-F238E27FC236}">
                <a16:creationId xmlns:a16="http://schemas.microsoft.com/office/drawing/2014/main" id="{5277618F-CCCC-6656-2B23-65ED85E4A2C3}"/>
              </a:ext>
            </a:extLst>
          </p:cNvPr>
          <p:cNvSpPr>
            <a:spLocks noGrp="1"/>
          </p:cNvSpPr>
          <p:nvPr>
            <p:ph idx="1"/>
          </p:nvPr>
        </p:nvSpPr>
        <p:spPr>
          <a:xfrm>
            <a:off x="838200" y="1587085"/>
            <a:ext cx="10515600" cy="4905790"/>
          </a:xfrm>
        </p:spPr>
        <p:txBody>
          <a:bodyPr>
            <a:normAutofit/>
          </a:bodyPr>
          <a:lstStyle/>
          <a:p>
            <a:pPr algn="l"/>
            <a:r>
              <a:rPr lang="en-US" sz="2400" b="0" i="0" u="none" strike="noStrike" baseline="0" dirty="0"/>
              <a:t>Head protection can protect the head from physical hazards, they can also protect other parts of the upper body, such as the neck, hair, nose, and ears.</a:t>
            </a:r>
          </a:p>
          <a:p>
            <a:pPr algn="l"/>
            <a:r>
              <a:rPr lang="en-US" sz="2400" b="0" i="0" u="none" strike="noStrike" baseline="0" dirty="0"/>
              <a:t>There are two main types of head protection that are used in the workplace, these are:</a:t>
            </a:r>
          </a:p>
          <a:p>
            <a:pPr marL="457200" indent="-457200" algn="l">
              <a:buFont typeface="+mj-lt"/>
              <a:buAutoNum type="arabicPeriod"/>
            </a:pPr>
            <a:r>
              <a:rPr lang="en-US" sz="2400" b="1" i="0" u="none" strike="noStrike" baseline="0" dirty="0"/>
              <a:t>Industrial safety helmets </a:t>
            </a:r>
            <a:r>
              <a:rPr lang="en-US" sz="2400" b="0" i="0" u="none" strike="noStrike" baseline="0" dirty="0"/>
              <a:t>– These protect the head from falling objects such as – tree-felling, building and construction, and blasting at a quarry.</a:t>
            </a:r>
          </a:p>
          <a:p>
            <a:pPr marL="457200" indent="-457200" algn="l">
              <a:buFont typeface="+mj-lt"/>
              <a:buAutoNum type="arabicPeriod"/>
            </a:pPr>
            <a:r>
              <a:rPr lang="en-US" sz="2400" b="1" i="0" u="none" strike="noStrike" baseline="0" dirty="0"/>
              <a:t>Bump caps </a:t>
            </a:r>
            <a:r>
              <a:rPr lang="en-US" sz="2400" b="0" i="0" u="none" strike="noStrike" baseline="0" dirty="0"/>
              <a:t>– These protect the head from being bumped, they are useful for maintenance personnel working under machinery and plumbers working under pipework. However, they do not offer adequate protection from the risk of a falling object.</a:t>
            </a:r>
          </a:p>
          <a:p>
            <a:r>
              <a:rPr lang="en-US" sz="2400" b="0" i="0" u="none" strike="noStrike" baseline="0" dirty="0"/>
              <a:t>Firefighter helmets are similar to industrial safety helmets, however, they cover more of the head and give greater protection against impact, heat and flames.</a:t>
            </a:r>
          </a:p>
        </p:txBody>
      </p:sp>
    </p:spTree>
    <p:extLst>
      <p:ext uri="{BB962C8B-B14F-4D97-AF65-F5344CB8AC3E}">
        <p14:creationId xmlns:p14="http://schemas.microsoft.com/office/powerpoint/2010/main" val="36499223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578DF-420D-A3DB-E7CB-3E462F55D867}"/>
              </a:ext>
            </a:extLst>
          </p:cNvPr>
          <p:cNvSpPr>
            <a:spLocks noGrp="1"/>
          </p:cNvSpPr>
          <p:nvPr>
            <p:ph type="title"/>
          </p:nvPr>
        </p:nvSpPr>
        <p:spPr/>
        <p:txBody>
          <a:bodyPr/>
          <a:lstStyle/>
          <a:p>
            <a:r>
              <a:rPr lang="en-IN" sz="4400" b="1" i="0" u="none" strike="noStrike" baseline="0" dirty="0"/>
              <a:t>2. Head protection</a:t>
            </a:r>
            <a:endParaRPr lang="en-IN" dirty="0"/>
          </a:p>
        </p:txBody>
      </p:sp>
      <p:sp>
        <p:nvSpPr>
          <p:cNvPr id="7" name="Content Placeholder 6">
            <a:extLst>
              <a:ext uri="{FF2B5EF4-FFF2-40B4-BE49-F238E27FC236}">
                <a16:creationId xmlns:a16="http://schemas.microsoft.com/office/drawing/2014/main" id="{5277618F-CCCC-6656-2B23-65ED85E4A2C3}"/>
              </a:ext>
            </a:extLst>
          </p:cNvPr>
          <p:cNvSpPr>
            <a:spLocks noGrp="1"/>
          </p:cNvSpPr>
          <p:nvPr>
            <p:ph idx="1"/>
          </p:nvPr>
        </p:nvSpPr>
        <p:spPr>
          <a:xfrm>
            <a:off x="838200" y="1510748"/>
            <a:ext cx="10515600" cy="4666215"/>
          </a:xfrm>
        </p:spPr>
        <p:txBody>
          <a:bodyPr>
            <a:noAutofit/>
          </a:bodyPr>
          <a:lstStyle/>
          <a:p>
            <a:pPr algn="l"/>
            <a:r>
              <a:rPr lang="en-IN" sz="2400" b="0" i="0" u="none" strike="noStrike" baseline="0" dirty="0"/>
              <a:t>Head Protection: Care Considerations</a:t>
            </a:r>
          </a:p>
          <a:p>
            <a:pPr lvl="1"/>
            <a:r>
              <a:rPr lang="en-US" sz="2000" b="0" i="0" u="none" strike="noStrike" baseline="0" dirty="0"/>
              <a:t>Remove and replace hard hats if they have:</a:t>
            </a:r>
          </a:p>
          <a:p>
            <a:pPr lvl="1"/>
            <a:r>
              <a:rPr lang="en-US" sz="2000" b="0" i="0" u="none" strike="noStrike" baseline="0" dirty="0"/>
              <a:t>Perforation, cracking, or warping of the brim or shell;</a:t>
            </a:r>
          </a:p>
          <a:p>
            <a:pPr lvl="1"/>
            <a:r>
              <a:rPr lang="en-US" sz="2000" b="0" i="0" u="none" strike="noStrike" baseline="0" dirty="0"/>
              <a:t>Indication of exposure to heat, chemicals or UV light (loss of surface gloss, chalking or </a:t>
            </a:r>
            <a:r>
              <a:rPr lang="en-IN" sz="2000" b="0" i="0" u="none" strike="noStrike" baseline="0" dirty="0"/>
              <a:t>flaking)</a:t>
            </a:r>
          </a:p>
          <a:p>
            <a:pPr lvl="1"/>
            <a:r>
              <a:rPr lang="en-US" sz="2000" b="0" i="0" u="none" strike="noStrike" baseline="0" dirty="0"/>
              <a:t>Always replace a hard hat if it sustains an impact</a:t>
            </a:r>
          </a:p>
          <a:p>
            <a:pPr lvl="1"/>
            <a:r>
              <a:rPr lang="en-US" sz="2000" b="0" i="0" u="none" strike="noStrike" baseline="0" dirty="0"/>
              <a:t>Suspension can be changed if excessive wear is noticed</a:t>
            </a:r>
          </a:p>
          <a:p>
            <a:pPr lvl="1"/>
            <a:r>
              <a:rPr lang="en-US" sz="2000" b="0" i="0" u="none" strike="noStrike" baseline="0" dirty="0"/>
              <a:t>Never drill holes, paint or apply labels to headgear</a:t>
            </a:r>
          </a:p>
          <a:p>
            <a:pPr lvl="1"/>
            <a:r>
              <a:rPr lang="en-US" sz="2000" b="0" i="0" u="none" strike="noStrike" baseline="0" dirty="0"/>
              <a:t>Do not store headgear in the rear window shelf of a car: sunlight and extreme heat can </a:t>
            </a:r>
            <a:r>
              <a:rPr lang="en-IN" sz="2000" b="0" i="0" u="none" strike="noStrike" baseline="0" dirty="0"/>
              <a:t>damage them</a:t>
            </a:r>
            <a:endParaRPr lang="en-IN" sz="2000" dirty="0"/>
          </a:p>
        </p:txBody>
      </p:sp>
    </p:spTree>
    <p:extLst>
      <p:ext uri="{BB962C8B-B14F-4D97-AF65-F5344CB8AC3E}">
        <p14:creationId xmlns:p14="http://schemas.microsoft.com/office/powerpoint/2010/main" val="293146822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noGrp="1"/>
          </p:cNvSpPr>
          <p:nvPr>
            <p:ph type="title"/>
          </p:nvPr>
        </p:nvSpPr>
        <p:spPr>
          <a:prstGeom prst="rect">
            <a:avLst/>
          </a:prstGeom>
        </p:spPr>
        <p:txBody>
          <a:bodyPr>
            <a:normAutofit/>
          </a:bodyPr>
          <a:lstStyle>
            <a:lvl1pPr algn="ctr" defTabSz="914400" rtl="0" eaLnBrk="1" latinLnBrk="0" hangingPunct="1">
              <a:spcBef>
                <a:spcPct val="0"/>
              </a:spcBef>
              <a:buNone/>
              <a:defRPr sz="4000" b="1" kern="1200">
                <a:solidFill>
                  <a:schemeClr val="tx1"/>
                </a:solidFill>
                <a:latin typeface="Tahoma" pitchFamily="34" charset="0"/>
                <a:ea typeface="+mj-ea"/>
                <a:cs typeface="Tahoma" pitchFamily="34" charset="0"/>
              </a:defRPr>
            </a:lvl1pPr>
          </a:lstStyle>
          <a:p>
            <a:pPr algn="l"/>
            <a:r>
              <a:rPr lang="en-IN" sz="4400" b="1" i="0" u="none" strike="noStrike" baseline="0" dirty="0">
                <a:latin typeface="+mj-lt"/>
              </a:rPr>
              <a:t>2. Head protection</a:t>
            </a:r>
            <a:endParaRPr lang="en-US" sz="4400" dirty="0">
              <a:latin typeface="+mj-lt"/>
            </a:endParaRPr>
          </a:p>
        </p:txBody>
      </p:sp>
      <p:sp>
        <p:nvSpPr>
          <p:cNvPr id="3" name="Content Placeholder 2"/>
          <p:cNvSpPr>
            <a:spLocks noGrp="1"/>
          </p:cNvSpPr>
          <p:nvPr>
            <p:ph idx="1"/>
          </p:nvPr>
        </p:nvSpPr>
        <p:spPr/>
        <p:txBody>
          <a:bodyPr>
            <a:normAutofit/>
          </a:bodyPr>
          <a:lstStyle/>
          <a:p>
            <a:r>
              <a:rPr lang="en-US" dirty="0"/>
              <a:t>Frequent causes of head injuries</a:t>
            </a:r>
          </a:p>
          <a:p>
            <a:pPr lvl="1"/>
            <a:r>
              <a:rPr lang="en-US" dirty="0"/>
              <a:t>Falling objects from above striking on the head; </a:t>
            </a:r>
          </a:p>
          <a:p>
            <a:pPr lvl="1"/>
            <a:r>
              <a:rPr lang="en-US" dirty="0"/>
              <a:t>Bump head against fixed objects, such as exposed pipes or beams; or </a:t>
            </a:r>
          </a:p>
          <a:p>
            <a:pPr lvl="1"/>
            <a:r>
              <a:rPr lang="en-US" dirty="0"/>
              <a:t>Accidental head contact with electrical hazards.  </a:t>
            </a:r>
          </a:p>
        </p:txBody>
      </p:sp>
      <p:pic>
        <p:nvPicPr>
          <p:cNvPr id="38914" name="Picture 2" descr="http://www.taghats.com/wp-content/uploads/2015/06/Hard-Hats-for-Construction.jpg" title="hard hat"/>
          <p:cNvPicPr>
            <a:picLocks noChangeAspect="1" noChangeArrowheads="1"/>
          </p:cNvPicPr>
          <p:nvPr/>
        </p:nvPicPr>
        <p:blipFill rotWithShape="1">
          <a:blip r:embed="rId3">
            <a:extLst>
              <a:ext uri="{28A0092B-C50C-407E-A947-70E740481C1C}">
                <a14:useLocalDpi xmlns:a14="http://schemas.microsoft.com/office/drawing/2010/main" val="0"/>
              </a:ext>
            </a:extLst>
          </a:blip>
          <a:srcRect t="7175" b="14078"/>
          <a:stretch/>
        </p:blipFill>
        <p:spPr bwMode="auto">
          <a:xfrm>
            <a:off x="3479321" y="4257680"/>
            <a:ext cx="2128838" cy="1676400"/>
          </a:xfrm>
          <a:prstGeom prst="rect">
            <a:avLst/>
          </a:prstGeom>
          <a:ln w="12700">
            <a:solidFill>
              <a:schemeClr val="tx1"/>
            </a:solidFill>
          </a:ln>
          <a:effectLst/>
        </p:spPr>
      </p:pic>
      <p:pic>
        <p:nvPicPr>
          <p:cNvPr id="6" name="Picture 5" title="hard hat"/>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000" y="4093254"/>
            <a:ext cx="1600200" cy="1848019"/>
          </a:xfrm>
          <a:prstGeom prst="rect">
            <a:avLst/>
          </a:prstGeom>
          <a:ln>
            <a:solidFill>
              <a:schemeClr val="tx1"/>
            </a:solidFill>
          </a:ln>
        </p:spPr>
      </p:pic>
      <p:sp>
        <p:nvSpPr>
          <p:cNvPr id="4" name="TextBox 3"/>
          <p:cNvSpPr txBox="1"/>
          <p:nvPr/>
        </p:nvSpPr>
        <p:spPr>
          <a:xfrm>
            <a:off x="5647670" y="5818664"/>
            <a:ext cx="1306286" cy="230832"/>
          </a:xfrm>
          <a:prstGeom prst="rect">
            <a:avLst/>
          </a:prstGeom>
          <a:noFill/>
        </p:spPr>
        <p:txBody>
          <a:bodyPr wrap="square" rtlCol="0">
            <a:spAutoFit/>
          </a:bodyPr>
          <a:lstStyle/>
          <a:p>
            <a:pPr algn="ctr"/>
            <a:r>
              <a:rPr lang="en-US" sz="900" dirty="0"/>
              <a:t>Source: OSHA</a:t>
            </a:r>
          </a:p>
        </p:txBody>
      </p:sp>
    </p:spTree>
    <p:extLst>
      <p:ext uri="{BB962C8B-B14F-4D97-AF65-F5344CB8AC3E}">
        <p14:creationId xmlns:p14="http://schemas.microsoft.com/office/powerpoint/2010/main" val="26199603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b="1" i="0" u="none" strike="noStrike" baseline="0" dirty="0"/>
              <a:t>2. Head protection</a:t>
            </a:r>
            <a:endParaRPr lang="en-US" dirty="0"/>
          </a:p>
        </p:txBody>
      </p:sp>
      <p:sp>
        <p:nvSpPr>
          <p:cNvPr id="4" name="Content Placeholder 3"/>
          <p:cNvSpPr>
            <a:spLocks noGrp="1"/>
          </p:cNvSpPr>
          <p:nvPr>
            <p:ph idx="1"/>
          </p:nvPr>
        </p:nvSpPr>
        <p:spPr/>
        <p:txBody>
          <a:bodyPr/>
          <a:lstStyle/>
          <a:p>
            <a:pPr marL="0" indent="0">
              <a:buNone/>
            </a:pPr>
            <a:r>
              <a:rPr lang="en-US" dirty="0"/>
              <a:t>Why head protection is important…</a:t>
            </a:r>
          </a:p>
        </p:txBody>
      </p:sp>
      <p:pic>
        <p:nvPicPr>
          <p:cNvPr id="11266" name="Picture 2" descr="http://www.free-training.com/osha/ppe/head/401.GIF" title="Person with a fa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924" y="2412075"/>
            <a:ext cx="3132151" cy="334332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Rectangle 2"/>
          <p:cNvSpPr/>
          <p:nvPr/>
        </p:nvSpPr>
        <p:spPr>
          <a:xfrm>
            <a:off x="6934201" y="5524565"/>
            <a:ext cx="845103" cy="230832"/>
          </a:xfrm>
          <a:prstGeom prst="rect">
            <a:avLst/>
          </a:prstGeom>
        </p:spPr>
        <p:txBody>
          <a:bodyPr wrap="none">
            <a:spAutoFit/>
          </a:bodyPr>
          <a:lstStyle/>
          <a:p>
            <a:r>
              <a:rPr lang="en-US" sz="900" dirty="0"/>
              <a:t>Source: OSHA</a:t>
            </a:r>
          </a:p>
        </p:txBody>
      </p:sp>
    </p:spTree>
    <p:extLst>
      <p:ext uri="{BB962C8B-B14F-4D97-AF65-F5344CB8AC3E}">
        <p14:creationId xmlns:p14="http://schemas.microsoft.com/office/powerpoint/2010/main" val="3899668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Pj0182822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626955"/>
            <a:ext cx="2859298" cy="1679575"/>
          </a:xfrm>
          <a:prstGeom prst="rect">
            <a:avLst/>
          </a:prstGeom>
          <a:solidFill>
            <a:srgbClr val="FFFFFF">
              <a:shade val="85000"/>
            </a:srgbClr>
          </a:solidFill>
          <a:ln w="12700">
            <a:solidFill>
              <a:srgbClr val="000000"/>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6" name="Picture 2" descr="Headwea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3626954"/>
            <a:ext cx="2712338" cy="2090056"/>
          </a:xfrm>
          <a:prstGeom prst="rect">
            <a:avLst/>
          </a:prstGeom>
          <a:solidFill>
            <a:srgbClr val="FFFFFF">
              <a:shade val="85000"/>
            </a:srgbClr>
          </a:solidFill>
          <a:ln w="12700" cap="sq">
            <a:solidFill>
              <a:schemeClr val="tx1"/>
            </a:solidFill>
            <a:miter lim="800000"/>
          </a:ln>
          <a:effectLst/>
          <a:scene3d>
            <a:camera prst="orthographicFront"/>
            <a:lightRig rig="twoPt" dir="t">
              <a:rot lat="0" lon="0" rev="7200000"/>
            </a:lightRig>
          </a:scene3d>
          <a:sp3d>
            <a:bevelT w="25400" h="19050"/>
            <a:contourClr>
              <a:srgbClr val="FFFFFF"/>
            </a:contourClr>
          </a:sp3d>
        </p:spPr>
      </p:pic>
      <p:sp>
        <p:nvSpPr>
          <p:cNvPr id="8" name="TextBox 7"/>
          <p:cNvSpPr txBox="1"/>
          <p:nvPr/>
        </p:nvSpPr>
        <p:spPr>
          <a:xfrm>
            <a:off x="5312229" y="5895275"/>
            <a:ext cx="1567543" cy="230832"/>
          </a:xfrm>
          <a:prstGeom prst="rect">
            <a:avLst/>
          </a:prstGeom>
          <a:noFill/>
        </p:spPr>
        <p:txBody>
          <a:bodyPr wrap="square" rtlCol="0">
            <a:spAutoFit/>
          </a:bodyPr>
          <a:lstStyle/>
          <a:p>
            <a:pPr algn="ctr"/>
            <a:r>
              <a:rPr lang="en-US" sz="900" dirty="0"/>
              <a:t>Source of graphics: OSHA</a:t>
            </a:r>
          </a:p>
        </p:txBody>
      </p:sp>
      <p:sp>
        <p:nvSpPr>
          <p:cNvPr id="2" name="Title 1"/>
          <p:cNvSpPr>
            <a:spLocks noGrp="1"/>
          </p:cNvSpPr>
          <p:nvPr>
            <p:ph type="title"/>
          </p:nvPr>
        </p:nvSpPr>
        <p:spPr/>
        <p:txBody>
          <a:bodyPr/>
          <a:lstStyle/>
          <a:p>
            <a:r>
              <a:rPr lang="en-IN" sz="4400" b="1" i="0" u="none" strike="noStrike" baseline="0" dirty="0"/>
              <a:t>2. Head protection</a:t>
            </a:r>
            <a:endParaRPr lang="en-US" dirty="0"/>
          </a:p>
        </p:txBody>
      </p:sp>
      <p:sp>
        <p:nvSpPr>
          <p:cNvPr id="9" name="Content Placeholder 4"/>
          <p:cNvSpPr>
            <a:spLocks noGrp="1"/>
          </p:cNvSpPr>
          <p:nvPr>
            <p:ph idx="1"/>
          </p:nvPr>
        </p:nvSpPr>
        <p:spPr/>
        <p:txBody>
          <a:bodyPr/>
          <a:lstStyle/>
          <a:p>
            <a:r>
              <a:rPr lang="en-US" dirty="0"/>
              <a:t>Classes of hard hats:</a:t>
            </a:r>
          </a:p>
          <a:p>
            <a:pPr lvl="1"/>
            <a:r>
              <a:rPr lang="en-US" dirty="0"/>
              <a:t>CLASS G (General)</a:t>
            </a:r>
          </a:p>
          <a:p>
            <a:pPr lvl="2"/>
            <a:r>
              <a:rPr lang="en-US" dirty="0"/>
              <a:t>Protect against impact, penetration</a:t>
            </a:r>
          </a:p>
          <a:p>
            <a:pPr lvl="2"/>
            <a:r>
              <a:rPr lang="en-US" dirty="0"/>
              <a:t>Low-voltage electrical protection (proof-tested to 2,200 volts)</a:t>
            </a:r>
          </a:p>
        </p:txBody>
      </p:sp>
    </p:spTree>
    <p:extLst>
      <p:ext uri="{BB962C8B-B14F-4D97-AF65-F5344CB8AC3E}">
        <p14:creationId xmlns:p14="http://schemas.microsoft.com/office/powerpoint/2010/main" val="258622839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ttps://encrypted-tbn1.gstatic.com/images?q=tbn:ANd9GcRUaOXe8Wv45SIzh98pG4P-DQrIz0oTP6WwP4kKXrrrVfcp0L6F_3qUin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806575"/>
            <a:ext cx="2743201" cy="189992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442857" y="5702685"/>
            <a:ext cx="1306286" cy="215444"/>
          </a:xfrm>
          <a:prstGeom prst="rect">
            <a:avLst/>
          </a:prstGeom>
          <a:noFill/>
        </p:spPr>
        <p:txBody>
          <a:bodyPr wrap="square" rtlCol="0">
            <a:spAutoFit/>
          </a:bodyPr>
          <a:lstStyle/>
          <a:p>
            <a:pPr algn="ctr"/>
            <a:r>
              <a:rPr lang="en-US" sz="800" dirty="0"/>
              <a:t>Source: OSHA</a:t>
            </a:r>
          </a:p>
        </p:txBody>
      </p:sp>
      <p:sp>
        <p:nvSpPr>
          <p:cNvPr id="2" name="Title 1"/>
          <p:cNvSpPr>
            <a:spLocks noGrp="1"/>
          </p:cNvSpPr>
          <p:nvPr>
            <p:ph type="title"/>
          </p:nvPr>
        </p:nvSpPr>
        <p:spPr/>
        <p:txBody>
          <a:bodyPr/>
          <a:lstStyle/>
          <a:p>
            <a:r>
              <a:rPr lang="en-IN" sz="4400" b="1" i="0" u="none" strike="noStrike" baseline="0" dirty="0"/>
              <a:t>2. Head protection</a:t>
            </a:r>
            <a:endParaRPr lang="en-US" dirty="0"/>
          </a:p>
        </p:txBody>
      </p:sp>
      <p:sp>
        <p:nvSpPr>
          <p:cNvPr id="9" name="Content Placeholder 4"/>
          <p:cNvSpPr>
            <a:spLocks noGrp="1"/>
          </p:cNvSpPr>
          <p:nvPr>
            <p:ph idx="1"/>
          </p:nvPr>
        </p:nvSpPr>
        <p:spPr/>
        <p:txBody>
          <a:bodyPr/>
          <a:lstStyle/>
          <a:p>
            <a:pPr lvl="1"/>
            <a:r>
              <a:rPr lang="en-US" dirty="0"/>
              <a:t>CLASS E (Electrical)</a:t>
            </a:r>
          </a:p>
          <a:p>
            <a:pPr lvl="2"/>
            <a:r>
              <a:rPr lang="en-US" dirty="0"/>
              <a:t>Designed for electrical/utility work</a:t>
            </a:r>
          </a:p>
          <a:p>
            <a:pPr lvl="2"/>
            <a:r>
              <a:rPr lang="en-US" dirty="0"/>
              <a:t>Protect against falling objects, impact</a:t>
            </a:r>
          </a:p>
          <a:p>
            <a:pPr lvl="2"/>
            <a:r>
              <a:rPr lang="en-US" dirty="0"/>
              <a:t>Electrical protection against high-voltage </a:t>
            </a:r>
            <a:br>
              <a:rPr lang="en-US" dirty="0"/>
            </a:br>
            <a:r>
              <a:rPr lang="en-US" dirty="0"/>
              <a:t>(proof-tested to 20,000 volts)</a:t>
            </a:r>
          </a:p>
        </p:txBody>
      </p:sp>
    </p:spTree>
    <p:extLst>
      <p:ext uri="{BB962C8B-B14F-4D97-AF65-F5344CB8AC3E}">
        <p14:creationId xmlns:p14="http://schemas.microsoft.com/office/powerpoint/2010/main" val="41139296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https://encrypted-tbn1.gstatic.com/images?q=tbn:ANd9GcTrWeE_ve15Kj5OU_BVCVxPyzn65EmA5RPjb2Bs_FW_e3fGeeW7ahctvSX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5094" y="3788415"/>
            <a:ext cx="2901812" cy="193611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442857" y="5724525"/>
            <a:ext cx="1306286" cy="230832"/>
          </a:xfrm>
          <a:prstGeom prst="rect">
            <a:avLst/>
          </a:prstGeom>
          <a:noFill/>
        </p:spPr>
        <p:txBody>
          <a:bodyPr wrap="square" rtlCol="0">
            <a:spAutoFit/>
          </a:bodyPr>
          <a:lstStyle/>
          <a:p>
            <a:pPr algn="ctr"/>
            <a:r>
              <a:rPr lang="en-US" sz="900" dirty="0"/>
              <a:t>Source: OSHA</a:t>
            </a:r>
          </a:p>
        </p:txBody>
      </p:sp>
      <p:sp>
        <p:nvSpPr>
          <p:cNvPr id="2" name="Title 1"/>
          <p:cNvSpPr>
            <a:spLocks noGrp="1"/>
          </p:cNvSpPr>
          <p:nvPr>
            <p:ph type="title"/>
          </p:nvPr>
        </p:nvSpPr>
        <p:spPr/>
        <p:txBody>
          <a:bodyPr/>
          <a:lstStyle/>
          <a:p>
            <a:r>
              <a:rPr lang="en-IN" sz="4400" b="1" i="0" u="none" strike="noStrike" baseline="0" dirty="0"/>
              <a:t>2. Head protection</a:t>
            </a:r>
            <a:endParaRPr lang="en-US" dirty="0"/>
          </a:p>
        </p:txBody>
      </p:sp>
      <p:sp>
        <p:nvSpPr>
          <p:cNvPr id="8" name="Content Placeholder 4"/>
          <p:cNvSpPr>
            <a:spLocks noGrp="1"/>
          </p:cNvSpPr>
          <p:nvPr>
            <p:ph idx="1"/>
          </p:nvPr>
        </p:nvSpPr>
        <p:spPr/>
        <p:txBody>
          <a:bodyPr/>
          <a:lstStyle/>
          <a:p>
            <a:pPr lvl="1"/>
            <a:r>
              <a:rPr lang="en-US" dirty="0"/>
              <a:t>CLASS C (Conductive)</a:t>
            </a:r>
          </a:p>
          <a:p>
            <a:pPr lvl="2"/>
            <a:r>
              <a:rPr lang="en-US" dirty="0"/>
              <a:t>Designed for comfort; offers limited protection</a:t>
            </a:r>
          </a:p>
          <a:p>
            <a:pPr lvl="2"/>
            <a:r>
              <a:rPr lang="en-US" dirty="0"/>
              <a:t>Protects heads that may bump against fixed objects</a:t>
            </a:r>
          </a:p>
          <a:p>
            <a:pPr lvl="2"/>
            <a:r>
              <a:rPr lang="en-US" dirty="0"/>
              <a:t>Does not protect against falling objects or electrical hazards</a:t>
            </a:r>
          </a:p>
        </p:txBody>
      </p:sp>
    </p:spTree>
    <p:extLst>
      <p:ext uri="{BB962C8B-B14F-4D97-AF65-F5344CB8AC3E}">
        <p14:creationId xmlns:p14="http://schemas.microsoft.com/office/powerpoint/2010/main" val="37971192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4755-C38E-024C-8892-04C7536D214F}"/>
              </a:ext>
            </a:extLst>
          </p:cNvPr>
          <p:cNvSpPr>
            <a:spLocks noGrp="1"/>
          </p:cNvSpPr>
          <p:nvPr>
            <p:ph type="title"/>
          </p:nvPr>
        </p:nvSpPr>
        <p:spPr/>
        <p:txBody>
          <a:bodyPr/>
          <a:lstStyle/>
          <a:p>
            <a:r>
              <a:rPr lang="en-IN" sz="4400" b="1" i="0" u="none" strike="noStrike" baseline="0" dirty="0"/>
              <a:t>3. Ear protection</a:t>
            </a:r>
            <a:endParaRPr lang="en-IN" dirty="0"/>
          </a:p>
        </p:txBody>
      </p:sp>
      <p:sp>
        <p:nvSpPr>
          <p:cNvPr id="3" name="Content Placeholder 2">
            <a:extLst>
              <a:ext uri="{FF2B5EF4-FFF2-40B4-BE49-F238E27FC236}">
                <a16:creationId xmlns:a16="http://schemas.microsoft.com/office/drawing/2014/main" id="{20B8A335-83D5-65D3-2D52-E5539582A939}"/>
              </a:ext>
            </a:extLst>
          </p:cNvPr>
          <p:cNvSpPr>
            <a:spLocks noGrp="1"/>
          </p:cNvSpPr>
          <p:nvPr>
            <p:ph idx="1"/>
          </p:nvPr>
        </p:nvSpPr>
        <p:spPr/>
        <p:txBody>
          <a:bodyPr>
            <a:noAutofit/>
          </a:bodyPr>
          <a:lstStyle/>
          <a:p>
            <a:pPr algn="l"/>
            <a:r>
              <a:rPr lang="en-US" sz="2400" b="0" i="0" u="none" strike="noStrike" baseline="0" dirty="0"/>
              <a:t>Exposure to noise levels over 85 dB can cause hearing loss</a:t>
            </a:r>
          </a:p>
          <a:p>
            <a:pPr algn="l"/>
            <a:r>
              <a:rPr lang="en-US" sz="2400" b="0" i="0" u="none" strike="noStrike" baseline="0" dirty="0"/>
              <a:t>Hearing protection required at 90 dB</a:t>
            </a:r>
          </a:p>
          <a:p>
            <a:pPr algn="l"/>
            <a:r>
              <a:rPr lang="en-US" sz="2400" b="0" i="0" u="none" strike="noStrike" baseline="0" dirty="0"/>
              <a:t>Implement an effective Hearing Conservation Program</a:t>
            </a:r>
          </a:p>
          <a:p>
            <a:pPr algn="l"/>
            <a:r>
              <a:rPr lang="en-US" sz="2400" b="0" i="0" u="none" strike="noStrike" baseline="0" dirty="0"/>
              <a:t>There are three main types of ear protection, these include:</a:t>
            </a:r>
          </a:p>
          <a:p>
            <a:pPr marL="914400" lvl="1" indent="-457200">
              <a:buFont typeface="+mj-lt"/>
              <a:buAutoNum type="arabicPeriod"/>
            </a:pPr>
            <a:r>
              <a:rPr lang="en-US" sz="2000" b="1" i="0" u="none" strike="noStrike" baseline="0" dirty="0"/>
              <a:t>Ear defenders (ear muffs)</a:t>
            </a:r>
            <a:r>
              <a:rPr lang="en-US" sz="2000" b="0" i="0" u="none" strike="noStrike" baseline="0" dirty="0"/>
              <a:t> – The cups are lined with sound-absorbing material, this helps to reduce the level of noise to the ears</a:t>
            </a:r>
          </a:p>
          <a:p>
            <a:pPr marL="914400" lvl="1" indent="-457200">
              <a:buFont typeface="+mj-lt"/>
              <a:buAutoNum type="arabicPeriod"/>
            </a:pPr>
            <a:r>
              <a:rPr lang="en-US" sz="2000" b="1" i="0" u="none" strike="noStrike" baseline="0" dirty="0"/>
              <a:t>Earplugs </a:t>
            </a:r>
            <a:r>
              <a:rPr lang="en-US" sz="2000" b="0" i="0" u="none" strike="noStrike" baseline="0" dirty="0"/>
              <a:t>– These fit into the ear canal and form a seal, they also can have a cord on them, that you can put behind the back of the neck, to help prevent them from becoming lost.</a:t>
            </a:r>
          </a:p>
          <a:p>
            <a:pPr marL="914400" lvl="1" indent="-457200">
              <a:buFont typeface="+mj-lt"/>
              <a:buAutoNum type="arabicPeriod"/>
            </a:pPr>
            <a:r>
              <a:rPr lang="en-US" sz="2000" b="1" i="0" u="none" strike="noStrike" baseline="0" dirty="0"/>
              <a:t>Canal caps</a:t>
            </a:r>
            <a:r>
              <a:rPr lang="en-US" sz="2000" b="0" i="0" u="none" strike="noStrike" baseline="0" dirty="0"/>
              <a:t> – These are similar to earplugs, however, they offer less protection they are suitable for operations where earplugs would be frequently taken out and put back in.</a:t>
            </a:r>
          </a:p>
        </p:txBody>
      </p:sp>
    </p:spTree>
    <p:extLst>
      <p:ext uri="{BB962C8B-B14F-4D97-AF65-F5344CB8AC3E}">
        <p14:creationId xmlns:p14="http://schemas.microsoft.com/office/powerpoint/2010/main" val="3939194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title="In ear hearing protection"/>
          <p:cNvPicPr>
            <a:picLocks noChangeAspect="1"/>
          </p:cNvPicPr>
          <p:nvPr/>
        </p:nvPicPr>
        <p:blipFill rotWithShape="1">
          <a:blip r:embed="rId2">
            <a:extLst>
              <a:ext uri="{28A0092B-C50C-407E-A947-70E740481C1C}">
                <a14:useLocalDpi xmlns:a14="http://schemas.microsoft.com/office/drawing/2010/main" val="0"/>
              </a:ext>
            </a:extLst>
          </a:blip>
          <a:srcRect l="5000" t="7090" r="5000" b="3678"/>
          <a:stretch/>
        </p:blipFill>
        <p:spPr>
          <a:xfrm>
            <a:off x="2754117" y="2324100"/>
            <a:ext cx="2743200" cy="2209800"/>
          </a:xfrm>
          <a:prstGeom prst="rect">
            <a:avLst/>
          </a:prstGeom>
          <a:ln>
            <a:solidFill>
              <a:schemeClr val="tx1"/>
            </a:solidFill>
          </a:ln>
        </p:spPr>
      </p:pic>
      <p:pic>
        <p:nvPicPr>
          <p:cNvPr id="5" name="Picture 4" title="over ear hearing protection"/>
          <p:cNvPicPr>
            <a:picLocks noChangeAspect="1"/>
          </p:cNvPicPr>
          <p:nvPr/>
        </p:nvPicPr>
        <p:blipFill rotWithShape="1">
          <a:blip r:embed="rId3">
            <a:extLst>
              <a:ext uri="{28A0092B-C50C-407E-A947-70E740481C1C}">
                <a14:useLocalDpi xmlns:a14="http://schemas.microsoft.com/office/drawing/2010/main" val="0"/>
              </a:ext>
            </a:extLst>
          </a:blip>
          <a:srcRect l="2564" t="15464" r="7692" b="7216"/>
          <a:stretch/>
        </p:blipFill>
        <p:spPr>
          <a:xfrm>
            <a:off x="6477000" y="2287764"/>
            <a:ext cx="3144592" cy="2246137"/>
          </a:xfrm>
          <a:prstGeom prst="rect">
            <a:avLst/>
          </a:prstGeom>
          <a:ln>
            <a:solidFill>
              <a:schemeClr val="tx1"/>
            </a:solidFill>
          </a:ln>
        </p:spPr>
      </p:pic>
      <p:sp>
        <p:nvSpPr>
          <p:cNvPr id="7" name="TextBox 6"/>
          <p:cNvSpPr txBox="1"/>
          <p:nvPr/>
        </p:nvSpPr>
        <p:spPr>
          <a:xfrm>
            <a:off x="5497317" y="5867400"/>
            <a:ext cx="1200518" cy="215444"/>
          </a:xfrm>
          <a:prstGeom prst="rect">
            <a:avLst/>
          </a:prstGeom>
          <a:noFill/>
        </p:spPr>
        <p:txBody>
          <a:bodyPr wrap="square" rtlCol="0">
            <a:spAutoFit/>
          </a:bodyPr>
          <a:lstStyle/>
          <a:p>
            <a:pPr algn="r"/>
            <a:r>
              <a:rPr lang="en-US" sz="800" dirty="0"/>
              <a:t>Source of photos: OSHA</a:t>
            </a:r>
          </a:p>
        </p:txBody>
      </p:sp>
      <p:sp>
        <p:nvSpPr>
          <p:cNvPr id="2" name="Title 1"/>
          <p:cNvSpPr>
            <a:spLocks noGrp="1"/>
          </p:cNvSpPr>
          <p:nvPr>
            <p:ph type="title"/>
          </p:nvPr>
        </p:nvSpPr>
        <p:spPr/>
        <p:txBody>
          <a:bodyPr/>
          <a:lstStyle/>
          <a:p>
            <a:r>
              <a:rPr lang="en-IN" sz="4400" b="1" i="0" u="none" strike="noStrike" baseline="0" dirty="0"/>
              <a:t>3. Ear protection</a:t>
            </a:r>
            <a:endParaRPr lang="en-US" dirty="0"/>
          </a:p>
        </p:txBody>
      </p:sp>
      <p:sp>
        <p:nvSpPr>
          <p:cNvPr id="9" name="Content Placeholder 8"/>
          <p:cNvSpPr>
            <a:spLocks noGrp="1"/>
          </p:cNvSpPr>
          <p:nvPr>
            <p:ph idx="1"/>
          </p:nvPr>
        </p:nvSpPr>
        <p:spPr/>
        <p:txBody>
          <a:bodyPr/>
          <a:lstStyle/>
          <a:p>
            <a:pPr marL="0" indent="0">
              <a:buNone/>
            </a:pPr>
            <a:r>
              <a:rPr lang="en-US" b="1" dirty="0"/>
              <a:t>Hearing protection:</a:t>
            </a:r>
          </a:p>
        </p:txBody>
      </p:sp>
    </p:spTree>
    <p:extLst>
      <p:ext uri="{BB962C8B-B14F-4D97-AF65-F5344CB8AC3E}">
        <p14:creationId xmlns:p14="http://schemas.microsoft.com/office/powerpoint/2010/main" val="428889205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b="1" i="0" u="none" strike="noStrike" baseline="0" dirty="0"/>
              <a:t>3. Ear protection</a:t>
            </a:r>
            <a:endParaRPr lang="en-US" dirty="0"/>
          </a:p>
        </p:txBody>
      </p:sp>
      <p:sp>
        <p:nvSpPr>
          <p:cNvPr id="3" name="Content Placeholder 2"/>
          <p:cNvSpPr>
            <a:spLocks noGrp="1"/>
          </p:cNvSpPr>
          <p:nvPr>
            <p:ph idx="1"/>
          </p:nvPr>
        </p:nvSpPr>
        <p:spPr>
          <a:xfrm>
            <a:off x="838200" y="1825625"/>
            <a:ext cx="6198704" cy="4351338"/>
          </a:xfrm>
        </p:spPr>
        <p:txBody>
          <a:bodyPr>
            <a:noAutofit/>
          </a:bodyPr>
          <a:lstStyle/>
          <a:p>
            <a:r>
              <a:rPr lang="en-US" dirty="0"/>
              <a:t>Exposure to noise levels over 85 dB can cause hearing loss</a:t>
            </a:r>
          </a:p>
          <a:p>
            <a:r>
              <a:rPr lang="en-US" dirty="0"/>
              <a:t>Hearing protection required at 90 dB</a:t>
            </a:r>
          </a:p>
          <a:p>
            <a:r>
              <a:rPr lang="en-US" dirty="0"/>
              <a:t>Implement effective Hearing Conservation Program</a:t>
            </a:r>
            <a:br>
              <a:rPr lang="en-US" dirty="0"/>
            </a:br>
            <a:endParaRPr lang="en-US" dirty="0"/>
          </a:p>
        </p:txBody>
      </p:sp>
      <p:pic>
        <p:nvPicPr>
          <p:cNvPr id="4" name="Picture 3" title="Noise char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307" y="1330220"/>
            <a:ext cx="3403600" cy="4064000"/>
          </a:xfrm>
          <a:prstGeom prst="rect">
            <a:avLst/>
          </a:prstGeom>
          <a:ln>
            <a:solidFill>
              <a:schemeClr val="tx1"/>
            </a:solidFill>
          </a:ln>
        </p:spPr>
      </p:pic>
      <p:sp>
        <p:nvSpPr>
          <p:cNvPr id="10" name="TextBox 9"/>
          <p:cNvSpPr txBox="1"/>
          <p:nvPr/>
        </p:nvSpPr>
        <p:spPr>
          <a:xfrm>
            <a:off x="8915400" y="5461000"/>
            <a:ext cx="1200518" cy="215444"/>
          </a:xfrm>
          <a:prstGeom prst="rect">
            <a:avLst/>
          </a:prstGeom>
          <a:noFill/>
        </p:spPr>
        <p:txBody>
          <a:bodyPr wrap="square" rtlCol="0">
            <a:spAutoFit/>
          </a:bodyPr>
          <a:lstStyle/>
          <a:p>
            <a:pPr algn="r"/>
            <a:r>
              <a:rPr lang="en-US" sz="800" dirty="0"/>
              <a:t>Source: OSHA</a:t>
            </a:r>
          </a:p>
        </p:txBody>
      </p:sp>
    </p:spTree>
    <p:extLst>
      <p:ext uri="{BB962C8B-B14F-4D97-AF65-F5344CB8AC3E}">
        <p14:creationId xmlns:p14="http://schemas.microsoft.com/office/powerpoint/2010/main" val="19482820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91"/>
          <p:cNvSpPr txBox="1">
            <a:spLocks noChangeArrowheads="1"/>
          </p:cNvSpPr>
          <p:nvPr/>
        </p:nvSpPr>
        <p:spPr bwMode="auto">
          <a:xfrm>
            <a:off x="7616781" y="5919526"/>
            <a:ext cx="373701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50000"/>
              </a:spcBef>
              <a:buClrTx/>
              <a:buFontTx/>
              <a:buNone/>
            </a:pPr>
            <a:r>
              <a:rPr lang="es-PR" sz="1400" b="1" dirty="0" err="1">
                <a:solidFill>
                  <a:srgbClr val="FF0000"/>
                </a:solidFill>
                <a:latin typeface="Tahoma" panose="020B0604030504040204" pitchFamily="34" charset="0"/>
                <a:ea typeface="Tahoma" panose="020B0604030504040204" pitchFamily="34" charset="0"/>
                <a:cs typeface="Tahoma" panose="020B0604030504040204" pitchFamily="34" charset="0"/>
              </a:rPr>
              <a:t>Impact</a:t>
            </a:r>
            <a:r>
              <a:rPr lang="es-PR" sz="1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s-PR" sz="1400" b="1" dirty="0" err="1">
                <a:solidFill>
                  <a:srgbClr val="FF0000"/>
                </a:solidFill>
                <a:latin typeface="Tahoma" panose="020B0604030504040204" pitchFamily="34" charset="0"/>
                <a:ea typeface="Tahoma" panose="020B0604030504040204" pitchFamily="34" charset="0"/>
                <a:cs typeface="Tahoma" panose="020B0604030504040204" pitchFamily="34" charset="0"/>
              </a:rPr>
              <a:t>noise</a:t>
            </a:r>
            <a:r>
              <a:rPr lang="es-PR" sz="1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s-PR" sz="1400" b="1" dirty="0" err="1">
                <a:solidFill>
                  <a:srgbClr val="FF0000"/>
                </a:solidFill>
                <a:latin typeface="Tahoma" panose="020B0604030504040204" pitchFamily="34" charset="0"/>
                <a:ea typeface="Tahoma" panose="020B0604030504040204" pitchFamily="34" charset="0"/>
                <a:cs typeface="Tahoma" panose="020B0604030504040204" pitchFamily="34" charset="0"/>
              </a:rPr>
              <a:t>should</a:t>
            </a:r>
            <a:r>
              <a:rPr lang="es-PR" sz="1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s-PR" sz="1400" b="1" dirty="0" err="1">
                <a:solidFill>
                  <a:srgbClr val="FF0000"/>
                </a:solidFill>
                <a:latin typeface="Tahoma" panose="020B0604030504040204" pitchFamily="34" charset="0"/>
                <a:ea typeface="Tahoma" panose="020B0604030504040204" pitchFamily="34" charset="0"/>
                <a:cs typeface="Tahoma" panose="020B0604030504040204" pitchFamily="34" charset="0"/>
              </a:rPr>
              <a:t>not</a:t>
            </a:r>
            <a:r>
              <a:rPr lang="es-PR" sz="1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s-PR" sz="1400" b="1" dirty="0" err="1">
                <a:solidFill>
                  <a:srgbClr val="FF0000"/>
                </a:solidFill>
                <a:latin typeface="Tahoma" panose="020B0604030504040204" pitchFamily="34" charset="0"/>
                <a:ea typeface="Tahoma" panose="020B0604030504040204" pitchFamily="34" charset="0"/>
                <a:cs typeface="Tahoma" panose="020B0604030504040204" pitchFamily="34" charset="0"/>
              </a:rPr>
              <a:t>exceed</a:t>
            </a:r>
            <a:r>
              <a:rPr lang="es-PR" sz="1400" b="1" dirty="0">
                <a:solidFill>
                  <a:srgbClr val="FF0000"/>
                </a:solidFill>
                <a:latin typeface="Tahoma" panose="020B0604030504040204" pitchFamily="34" charset="0"/>
                <a:ea typeface="Tahoma" panose="020B0604030504040204" pitchFamily="34" charset="0"/>
                <a:cs typeface="Tahoma" panose="020B0604030504040204" pitchFamily="34" charset="0"/>
              </a:rPr>
              <a:t> 140 dB</a:t>
            </a:r>
          </a:p>
        </p:txBody>
      </p:sp>
      <p:graphicFrame>
        <p:nvGraphicFramePr>
          <p:cNvPr id="13" name="Table 12" title="Chart of ear protection requirements"/>
          <p:cNvGraphicFramePr>
            <a:graphicFrameLocks noGrp="1"/>
          </p:cNvGraphicFramePr>
          <p:nvPr>
            <p:extLst>
              <p:ext uri="{D42A27DB-BD31-4B8C-83A1-F6EECF244321}">
                <p14:modId xmlns:p14="http://schemas.microsoft.com/office/powerpoint/2010/main" val="1305852320"/>
              </p:ext>
            </p:extLst>
          </p:nvPr>
        </p:nvGraphicFramePr>
        <p:xfrm>
          <a:off x="7929094" y="1513365"/>
          <a:ext cx="3701603" cy="4185920"/>
        </p:xfrm>
        <a:graphic>
          <a:graphicData uri="http://schemas.openxmlformats.org/drawingml/2006/table">
            <a:tbl>
              <a:tblPr firstRow="1" bandRow="1">
                <a:tableStyleId>{5C22544A-7EE6-4342-B048-85BDC9FD1C3A}</a:tableStyleId>
              </a:tblPr>
              <a:tblGrid>
                <a:gridCol w="1708432">
                  <a:extLst>
                    <a:ext uri="{9D8B030D-6E8A-4147-A177-3AD203B41FA5}">
                      <a16:colId xmlns:a16="http://schemas.microsoft.com/office/drawing/2014/main" val="20000"/>
                    </a:ext>
                  </a:extLst>
                </a:gridCol>
                <a:gridCol w="1993171">
                  <a:extLst>
                    <a:ext uri="{9D8B030D-6E8A-4147-A177-3AD203B41FA5}">
                      <a16:colId xmlns:a16="http://schemas.microsoft.com/office/drawing/2014/main" val="20001"/>
                    </a:ext>
                  </a:extLst>
                </a:gridCol>
              </a:tblGrid>
              <a:tr h="370840">
                <a:tc gridSpan="2">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Permissible Noise Exposure</a:t>
                      </a:r>
                    </a:p>
                    <a:p>
                      <a:pPr algn="ctr"/>
                      <a:r>
                        <a:rPr lang="en-US" sz="1400" b="0" dirty="0">
                          <a:solidFill>
                            <a:schemeClr val="tx1"/>
                          </a:solidFill>
                          <a:latin typeface="Tahoma" panose="020B0604030504040204" pitchFamily="34" charset="0"/>
                          <a:ea typeface="Tahoma" panose="020B0604030504040204" pitchFamily="34" charset="0"/>
                          <a:cs typeface="Tahoma" panose="020B0604030504040204" pitchFamily="34" charset="0"/>
                        </a:rPr>
                        <a:t>29 CFR 1910.95(b)(1)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C1E8"/>
                    </a:solidFill>
                  </a:tcPr>
                </a:tc>
                <a:tc hMerge="1">
                  <a:txBody>
                    <a:bodyPr/>
                    <a:lstStyle/>
                    <a:p>
                      <a:pPr algn="ctr"/>
                      <a:endParaRPr lang="en-US"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Duration per Day</a:t>
                      </a:r>
                      <a:r>
                        <a:rPr lang="en-US" baseline="0" dirty="0">
                          <a:solidFill>
                            <a:schemeClr val="tx1"/>
                          </a:solidFill>
                          <a:latin typeface="Tahoma" panose="020B0604030504040204" pitchFamily="34" charset="0"/>
                          <a:ea typeface="Tahoma" panose="020B0604030504040204" pitchFamily="34" charset="0"/>
                          <a:cs typeface="Tahoma" panose="020B0604030504040204" pitchFamily="34" charset="0"/>
                        </a:rPr>
                        <a:t> (hours)</a:t>
                      </a:r>
                      <a:endParaRPr lang="en-US"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C1E8"/>
                    </a:solidFill>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Sound Level (</a:t>
                      </a:r>
                      <a:r>
                        <a:rPr lang="en-US" dirty="0" err="1">
                          <a:solidFill>
                            <a:schemeClr val="tx1"/>
                          </a:solidFill>
                          <a:latin typeface="Tahoma" panose="020B0604030504040204" pitchFamily="34" charset="0"/>
                          <a:ea typeface="Tahoma" panose="020B0604030504040204" pitchFamily="34" charset="0"/>
                          <a:cs typeface="Tahoma" panose="020B0604030504040204" pitchFamily="34" charset="0"/>
                        </a:rPr>
                        <a:t>dBA</a:t>
                      </a: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0C1E8"/>
                    </a:solidFill>
                  </a:tcPr>
                </a:tc>
                <a:extLst>
                  <a:ext uri="{0D108BD9-81ED-4DB2-BD59-A6C34878D82A}">
                    <a16:rowId xmlns:a16="http://schemas.microsoft.com/office/drawing/2014/main" val="10001"/>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110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115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 name="Title 1"/>
          <p:cNvSpPr>
            <a:spLocks noGrp="1"/>
          </p:cNvSpPr>
          <p:nvPr>
            <p:ph type="title"/>
          </p:nvPr>
        </p:nvSpPr>
        <p:spPr/>
        <p:txBody>
          <a:bodyPr/>
          <a:lstStyle/>
          <a:p>
            <a:r>
              <a:rPr lang="en-IN" sz="4400" b="1" i="0" u="none" strike="noStrike" baseline="0" dirty="0"/>
              <a:t>3. Ear protection</a:t>
            </a:r>
            <a:endParaRPr lang="en-US" dirty="0"/>
          </a:p>
        </p:txBody>
      </p:sp>
      <p:pic>
        <p:nvPicPr>
          <p:cNvPr id="8" name="Content Placeholder 7" title="Woman with Ear Protection"/>
          <p:cNvPicPr>
            <a:picLocks noGrp="1" noChangeAspect="1"/>
          </p:cNvPicPr>
          <p:nvPr>
            <p:ph idx="1"/>
          </p:nvPr>
        </p:nvPicPr>
        <p:blipFill>
          <a:blip r:embed="rId3"/>
          <a:stretch>
            <a:fillRect/>
          </a:stretch>
        </p:blipFill>
        <p:spPr>
          <a:xfrm>
            <a:off x="4434180" y="3938606"/>
            <a:ext cx="3005588" cy="1780186"/>
          </a:xfrm>
          <a:prstGeom prst="rect">
            <a:avLst/>
          </a:prstGeom>
        </p:spPr>
      </p:pic>
      <p:sp>
        <p:nvSpPr>
          <p:cNvPr id="7" name="Content Placeholder 6"/>
          <p:cNvSpPr>
            <a:spLocks noGrp="1"/>
          </p:cNvSpPr>
          <p:nvPr>
            <p:ph sz="half" idx="4294967295"/>
          </p:nvPr>
        </p:nvSpPr>
        <p:spPr>
          <a:xfrm>
            <a:off x="838200" y="1690688"/>
            <a:ext cx="6601568" cy="2444750"/>
          </a:xfrm>
        </p:spPr>
        <p:txBody>
          <a:bodyPr/>
          <a:lstStyle/>
          <a:p>
            <a:r>
              <a:rPr lang="en-US" sz="2400" dirty="0">
                <a:ea typeface="Tahoma" panose="020B0604030504040204" pitchFamily="34" charset="0"/>
              </a:rPr>
              <a:t>The employer must provide ear protection when the noise level in the work area is greater than indicated in this table. </a:t>
            </a:r>
            <a:endParaRPr lang="es-PR" sz="2400" dirty="0">
              <a:ea typeface="Tahoma" panose="020B0604030504040204" pitchFamily="34" charset="0"/>
            </a:endParaRPr>
          </a:p>
          <a:p>
            <a:endParaRPr lang="en-US" dirty="0"/>
          </a:p>
        </p:txBody>
      </p:sp>
    </p:spTree>
    <p:extLst>
      <p:ext uri="{BB962C8B-B14F-4D97-AF65-F5344CB8AC3E}">
        <p14:creationId xmlns:p14="http://schemas.microsoft.com/office/powerpoint/2010/main" val="424453683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b="1" i="0" u="none" strike="noStrike" baseline="0" dirty="0"/>
              <a:t>3. Ear protection</a:t>
            </a:r>
            <a:endParaRPr lang="en-US" dirty="0"/>
          </a:p>
        </p:txBody>
      </p:sp>
      <p:sp>
        <p:nvSpPr>
          <p:cNvPr id="3" name="Content Placeholder 2"/>
          <p:cNvSpPr>
            <a:spLocks noGrp="1"/>
          </p:cNvSpPr>
          <p:nvPr>
            <p:ph idx="1"/>
          </p:nvPr>
        </p:nvSpPr>
        <p:spPr/>
        <p:txBody>
          <a:bodyPr/>
          <a:lstStyle/>
          <a:p>
            <a:r>
              <a:rPr lang="en-US" dirty="0"/>
              <a:t>Examples of hearing protection:</a:t>
            </a:r>
          </a:p>
          <a:p>
            <a:pPr lvl="1"/>
            <a:r>
              <a:rPr lang="en-US" dirty="0"/>
              <a:t>Disposable foam plugs</a:t>
            </a:r>
          </a:p>
          <a:p>
            <a:pPr lvl="1"/>
            <a:r>
              <a:rPr lang="en-US" dirty="0"/>
              <a:t>Molded ear plugs</a:t>
            </a:r>
          </a:p>
          <a:p>
            <a:pPr lvl="1"/>
            <a:r>
              <a:rPr lang="en-US" dirty="0"/>
              <a:t>Noise-cancelling ear plugs</a:t>
            </a:r>
          </a:p>
          <a:p>
            <a:pPr lvl="1"/>
            <a:r>
              <a:rPr lang="en-US" dirty="0"/>
              <a:t>Ear muffs</a:t>
            </a:r>
          </a:p>
          <a:p>
            <a:r>
              <a:rPr lang="en-US" dirty="0"/>
              <a:t>Consider Noise Reduction </a:t>
            </a:r>
            <a:br>
              <a:rPr lang="en-US" dirty="0"/>
            </a:br>
            <a:r>
              <a:rPr lang="en-US" dirty="0"/>
              <a:t>Rating (NRR) of devices </a:t>
            </a:r>
          </a:p>
          <a:p>
            <a:pPr marL="0" indent="0">
              <a:buNone/>
            </a:pPr>
            <a:endParaRPr lang="en-US" dirty="0"/>
          </a:p>
        </p:txBody>
      </p:sp>
      <p:pic>
        <p:nvPicPr>
          <p:cNvPr id="2052" name="Picture 4" descr="http://www.elcosh.org/record/images/313-72.jpg" title="Examples of hearing protection"/>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355" t="2741" r="909" b="311"/>
          <a:stretch/>
        </p:blipFill>
        <p:spPr bwMode="auto">
          <a:xfrm>
            <a:off x="7239000" y="3863577"/>
            <a:ext cx="2859874" cy="193733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Rectangle 7"/>
          <p:cNvSpPr/>
          <p:nvPr/>
        </p:nvSpPr>
        <p:spPr>
          <a:xfrm>
            <a:off x="8213933" y="5800911"/>
            <a:ext cx="1928042" cy="215444"/>
          </a:xfrm>
          <a:prstGeom prst="rect">
            <a:avLst/>
          </a:prstGeom>
        </p:spPr>
        <p:txBody>
          <a:bodyPr wrap="square">
            <a:spAutoFit/>
          </a:bodyPr>
          <a:lstStyle/>
          <a:p>
            <a:pPr algn="r"/>
            <a:r>
              <a:rPr lang="en-US" sz="800" dirty="0" err="1">
                <a:ea typeface="Tahoma" panose="020B0604030504040204" pitchFamily="34" charset="0"/>
                <a:cs typeface="Tahoma" panose="020B0604030504040204" pitchFamily="34" charset="0"/>
              </a:rPr>
              <a:t>NIOSH</a:t>
            </a:r>
            <a:r>
              <a:rPr lang="en-US" sz="800" dirty="0">
                <a:ea typeface="Tahoma" panose="020B0604030504040204" pitchFamily="34" charset="0"/>
                <a:cs typeface="Tahoma" panose="020B0604030504040204" pitchFamily="34" charset="0"/>
              </a:rPr>
              <a:t>/John Rekus/elcosh.org</a:t>
            </a:r>
          </a:p>
        </p:txBody>
      </p:sp>
      <p:pic>
        <p:nvPicPr>
          <p:cNvPr id="5" name="Picture 4" title="Examples of hearing protecti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5058" y="1810417"/>
            <a:ext cx="1810487" cy="1810487"/>
          </a:xfrm>
          <a:prstGeom prst="ellipse">
            <a:avLst/>
          </a:prstGeom>
        </p:spPr>
      </p:pic>
      <p:pic>
        <p:nvPicPr>
          <p:cNvPr id="6" name="Picture 5" title="examples of hearing protectio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65326" y="998124"/>
            <a:ext cx="1833549" cy="1136800"/>
          </a:xfrm>
          <a:prstGeom prst="rect">
            <a:avLst/>
          </a:prstGeom>
        </p:spPr>
      </p:pic>
      <p:sp>
        <p:nvSpPr>
          <p:cNvPr id="10" name="TextBox 9"/>
          <p:cNvSpPr txBox="1"/>
          <p:nvPr/>
        </p:nvSpPr>
        <p:spPr>
          <a:xfrm>
            <a:off x="8615235" y="2269876"/>
            <a:ext cx="1465445" cy="215444"/>
          </a:xfrm>
          <a:prstGeom prst="rect">
            <a:avLst/>
          </a:prstGeom>
          <a:noFill/>
        </p:spPr>
        <p:txBody>
          <a:bodyPr wrap="square" rtlCol="0">
            <a:spAutoFit/>
          </a:bodyPr>
          <a:lstStyle/>
          <a:p>
            <a:pPr algn="r"/>
            <a:r>
              <a:rPr lang="en-US" sz="800" dirty="0"/>
              <a:t>Source of photos: OSHA</a:t>
            </a:r>
          </a:p>
        </p:txBody>
      </p:sp>
    </p:spTree>
    <p:extLst>
      <p:ext uri="{BB962C8B-B14F-4D97-AF65-F5344CB8AC3E}">
        <p14:creationId xmlns:p14="http://schemas.microsoft.com/office/powerpoint/2010/main" val="40200936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title="how to insert ear plugs"/>
          <p:cNvGraphicFramePr>
            <a:graphicFrameLocks noChangeAspect="1"/>
          </p:cNvGraphicFramePr>
          <p:nvPr>
            <p:extLst>
              <p:ext uri="{D42A27DB-BD31-4B8C-83A1-F6EECF244321}">
                <p14:modId xmlns:p14="http://schemas.microsoft.com/office/powerpoint/2010/main" val="3980123045"/>
              </p:ext>
            </p:extLst>
          </p:nvPr>
        </p:nvGraphicFramePr>
        <p:xfrm>
          <a:off x="6673664" y="815010"/>
          <a:ext cx="5303279" cy="5775137"/>
        </p:xfrm>
        <a:graphic>
          <a:graphicData uri="http://schemas.openxmlformats.org/presentationml/2006/ole">
            <mc:AlternateContent xmlns:mc="http://schemas.openxmlformats.org/markup-compatibility/2006">
              <mc:Choice xmlns:v="urn:schemas-microsoft-com:vml" Requires="v">
                <p:oleObj name="Acrobat Document" r:id="rId3" imgW="4924190" imgH="5362562" progId="Acrobat.Document.11">
                  <p:embed/>
                </p:oleObj>
              </mc:Choice>
              <mc:Fallback>
                <p:oleObj name="Acrobat Document" r:id="rId3" imgW="4924190" imgH="5362562" progId="Acrobat.Document.11">
                  <p:embed/>
                  <p:pic>
                    <p:nvPicPr>
                      <p:cNvPr id="11" name="Object 10" title="how to insert ear plugs"/>
                      <p:cNvPicPr/>
                      <p:nvPr/>
                    </p:nvPicPr>
                    <p:blipFill>
                      <a:blip r:embed="rId4"/>
                      <a:stretch>
                        <a:fillRect/>
                      </a:stretch>
                    </p:blipFill>
                    <p:spPr>
                      <a:xfrm>
                        <a:off x="6673664" y="815010"/>
                        <a:ext cx="5303279" cy="5775137"/>
                      </a:xfrm>
                      <a:prstGeom prst="rect">
                        <a:avLst/>
                      </a:prstGeom>
                      <a:ln>
                        <a:solidFill>
                          <a:schemeClr val="tx1"/>
                        </a:solidFill>
                      </a:ln>
                    </p:spPr>
                  </p:pic>
                </p:oleObj>
              </mc:Fallback>
            </mc:AlternateContent>
          </a:graphicData>
        </a:graphic>
      </p:graphicFrame>
      <p:sp>
        <p:nvSpPr>
          <p:cNvPr id="13" name="Rectangle 12"/>
          <p:cNvSpPr/>
          <p:nvPr/>
        </p:nvSpPr>
        <p:spPr>
          <a:xfrm>
            <a:off x="2866696" y="5788293"/>
            <a:ext cx="1928042" cy="215444"/>
          </a:xfrm>
          <a:prstGeom prst="rect">
            <a:avLst/>
          </a:prstGeom>
        </p:spPr>
        <p:txBody>
          <a:bodyPr wrap="square">
            <a:spAutoFit/>
          </a:bodyPr>
          <a:lstStyle/>
          <a:p>
            <a:pPr algn="r"/>
            <a:r>
              <a:rPr lang="en-US" sz="800" dirty="0">
                <a:latin typeface="+mj-lt"/>
                <a:ea typeface="Tahoma" panose="020B0604030504040204" pitchFamily="34" charset="0"/>
                <a:cs typeface="Tahoma" panose="020B0604030504040204" pitchFamily="34" charset="0"/>
              </a:rPr>
              <a:t>Source: NIOSH</a:t>
            </a:r>
          </a:p>
        </p:txBody>
      </p:sp>
      <p:sp>
        <p:nvSpPr>
          <p:cNvPr id="2" name="Title 1"/>
          <p:cNvSpPr>
            <a:spLocks noGrp="1"/>
          </p:cNvSpPr>
          <p:nvPr>
            <p:ph type="title"/>
          </p:nvPr>
        </p:nvSpPr>
        <p:spPr/>
        <p:txBody>
          <a:bodyPr/>
          <a:lstStyle/>
          <a:p>
            <a:r>
              <a:rPr lang="en-IN" sz="4400" b="1" i="0" u="none" strike="noStrike" baseline="0" dirty="0"/>
              <a:t>3. Ear protection</a:t>
            </a:r>
            <a:endParaRPr lang="en-US" dirty="0"/>
          </a:p>
        </p:txBody>
      </p:sp>
      <p:sp>
        <p:nvSpPr>
          <p:cNvPr id="5" name="Content Placeholder 2"/>
          <p:cNvSpPr>
            <a:spLocks noGrp="1"/>
          </p:cNvSpPr>
          <p:nvPr>
            <p:ph idx="1"/>
          </p:nvPr>
        </p:nvSpPr>
        <p:spPr/>
        <p:txBody>
          <a:bodyPr/>
          <a:lstStyle/>
          <a:p>
            <a:r>
              <a:rPr lang="en-US" dirty="0"/>
              <a:t>How to insert ear plugs properly</a:t>
            </a:r>
          </a:p>
          <a:p>
            <a:pPr marL="0" indent="0">
              <a:buNone/>
            </a:pPr>
            <a:endParaRPr lang="en-US" dirty="0"/>
          </a:p>
        </p:txBody>
      </p:sp>
    </p:spTree>
    <p:extLst>
      <p:ext uri="{BB962C8B-B14F-4D97-AF65-F5344CB8AC3E}">
        <p14:creationId xmlns:p14="http://schemas.microsoft.com/office/powerpoint/2010/main" val="347975036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4755-C38E-024C-8892-04C7536D214F}"/>
              </a:ext>
            </a:extLst>
          </p:cNvPr>
          <p:cNvSpPr>
            <a:spLocks noGrp="1"/>
          </p:cNvSpPr>
          <p:nvPr>
            <p:ph type="title"/>
          </p:nvPr>
        </p:nvSpPr>
        <p:spPr>
          <a:xfrm>
            <a:off x="838200" y="365125"/>
            <a:ext cx="10515600" cy="797753"/>
          </a:xfrm>
        </p:spPr>
        <p:txBody>
          <a:bodyPr/>
          <a:lstStyle/>
          <a:p>
            <a:r>
              <a:rPr lang="en-IN" sz="4400" b="1" i="0" u="none" strike="noStrike" baseline="0" dirty="0"/>
              <a:t>4. Foot protection</a:t>
            </a:r>
            <a:endParaRPr lang="en-IN" dirty="0"/>
          </a:p>
        </p:txBody>
      </p:sp>
      <p:sp>
        <p:nvSpPr>
          <p:cNvPr id="3" name="Content Placeholder 2">
            <a:extLst>
              <a:ext uri="{FF2B5EF4-FFF2-40B4-BE49-F238E27FC236}">
                <a16:creationId xmlns:a16="http://schemas.microsoft.com/office/drawing/2014/main" id="{20B8A335-83D5-65D3-2D52-E5539582A939}"/>
              </a:ext>
            </a:extLst>
          </p:cNvPr>
          <p:cNvSpPr>
            <a:spLocks noGrp="1"/>
          </p:cNvSpPr>
          <p:nvPr>
            <p:ph idx="1"/>
          </p:nvPr>
        </p:nvSpPr>
        <p:spPr>
          <a:xfrm>
            <a:off x="838200" y="1264892"/>
            <a:ext cx="10515600" cy="5227983"/>
          </a:xfrm>
        </p:spPr>
        <p:txBody>
          <a:bodyPr>
            <a:noAutofit/>
          </a:bodyPr>
          <a:lstStyle/>
          <a:p>
            <a:pPr algn="l"/>
            <a:r>
              <a:rPr lang="en-US" sz="2400" b="0" i="0" u="none" strike="noStrike" baseline="0" dirty="0"/>
              <a:t>There are two common types of foot protection, and they both offer a variety of protection, these are:</a:t>
            </a:r>
          </a:p>
          <a:p>
            <a:pPr marL="800100" lvl="1" indent="-342900">
              <a:buFont typeface="+mj-lt"/>
              <a:buAutoNum type="arabicPeriod"/>
            </a:pPr>
            <a:r>
              <a:rPr lang="en-US" sz="2000" b="1" i="0" u="none" strike="noStrike" baseline="0" dirty="0"/>
              <a:t>Safety boots and shoes </a:t>
            </a:r>
            <a:r>
              <a:rPr lang="en-US" sz="2000" b="0" i="0" u="none" strike="noStrike" baseline="0" dirty="0"/>
              <a:t>– They come with slip-resistant soles, penetration-resistant midsoles, and </a:t>
            </a:r>
            <a:r>
              <a:rPr lang="en-IN" sz="2000" b="0" i="0" u="none" strike="noStrike" baseline="0" dirty="0"/>
              <a:t>protective toe caps.</a:t>
            </a:r>
          </a:p>
          <a:p>
            <a:pPr marL="800100" lvl="1" indent="-342900">
              <a:buFont typeface="+mj-lt"/>
              <a:buAutoNum type="arabicPeriod"/>
            </a:pPr>
            <a:r>
              <a:rPr lang="en-US" sz="2000" b="1" i="0" u="none" strike="noStrike" baseline="0" dirty="0"/>
              <a:t>Wellington boots </a:t>
            </a:r>
            <a:r>
              <a:rPr lang="en-US" sz="2000" b="0" i="0" u="none" strike="noStrike" baseline="0" dirty="0"/>
              <a:t>– These are suitable for people who work in wet conditions, they are normally made from rubber, and they also come with slip-resistant soles, penetration-resistant midsoles, and </a:t>
            </a:r>
            <a:r>
              <a:rPr lang="en-IN" sz="2000" b="0" i="0" u="none" strike="noStrike" baseline="0" dirty="0"/>
              <a:t>protective toe caps.</a:t>
            </a:r>
          </a:p>
          <a:p>
            <a:pPr algn="l"/>
            <a:r>
              <a:rPr lang="en-US" sz="2400" b="0" i="0" u="none" strike="noStrike" baseline="0" dirty="0"/>
              <a:t>Toe and foot injuries account for 5% of all disabling workplace injuries. Workers not wearing safety shoes have 75% of all occupational foot injuries.</a:t>
            </a:r>
          </a:p>
          <a:p>
            <a:pPr algn="l"/>
            <a:r>
              <a:rPr lang="en-US" sz="2400" b="0" i="0" u="none" strike="noStrike" baseline="0" dirty="0"/>
              <a:t>Situations where employees should wear foot/leg protection include:</a:t>
            </a:r>
          </a:p>
          <a:p>
            <a:pPr lvl="1"/>
            <a:r>
              <a:rPr lang="en-US" sz="2000" b="0" i="0" u="none" strike="noStrike" baseline="0" dirty="0"/>
              <a:t>Heavy objects such as barrels or tools might roll or fall on feet</a:t>
            </a:r>
          </a:p>
          <a:p>
            <a:pPr lvl="1"/>
            <a:r>
              <a:rPr lang="en-US" sz="2000" b="0" i="0" u="none" strike="noStrike" baseline="0" dirty="0"/>
              <a:t>Sharp objects such as nails or spikes that can pierce ordinary shoes</a:t>
            </a:r>
          </a:p>
          <a:p>
            <a:pPr lvl="1"/>
            <a:r>
              <a:rPr lang="en-US" sz="2000" b="0" i="0" u="none" strike="noStrike" baseline="0" dirty="0"/>
              <a:t>Exposure to molten metal that might splash on feet or legs</a:t>
            </a:r>
          </a:p>
          <a:p>
            <a:pPr lvl="1"/>
            <a:r>
              <a:rPr lang="en-US" sz="2000" b="0" i="0" u="none" strike="noStrike" baseline="0" dirty="0">
                <a:latin typeface="Calibri" panose="020F0502020204030204" pitchFamily="34" charset="0"/>
              </a:rPr>
              <a:t>Working on or around hot, wet, or slippery surfaces</a:t>
            </a:r>
          </a:p>
          <a:p>
            <a:pPr lvl="1"/>
            <a:r>
              <a:rPr lang="en-US" sz="2000" b="0" i="0" u="none" strike="noStrike" baseline="0" dirty="0"/>
              <a:t>Working when electrical hazards are present</a:t>
            </a:r>
            <a:endParaRPr lang="en-IN" sz="2000" dirty="0"/>
          </a:p>
          <a:p>
            <a:pPr lvl="1"/>
            <a:endParaRPr lang="en-IN" sz="2000" dirty="0"/>
          </a:p>
        </p:txBody>
      </p:sp>
    </p:spTree>
    <p:extLst>
      <p:ext uri="{BB962C8B-B14F-4D97-AF65-F5344CB8AC3E}">
        <p14:creationId xmlns:p14="http://schemas.microsoft.com/office/powerpoint/2010/main" val="22004901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36109-6339-2C1F-5EAF-B21C740EFE71}"/>
              </a:ext>
            </a:extLst>
          </p:cNvPr>
          <p:cNvSpPr>
            <a:spLocks noGrp="1"/>
          </p:cNvSpPr>
          <p:nvPr>
            <p:ph type="title"/>
          </p:nvPr>
        </p:nvSpPr>
        <p:spPr/>
        <p:txBody>
          <a:bodyPr/>
          <a:lstStyle/>
          <a:p>
            <a:r>
              <a:rPr lang="en-IN" sz="4400" b="1" i="0" u="none" strike="noStrike" baseline="0" dirty="0"/>
              <a:t>4. Foot protection</a:t>
            </a:r>
            <a:endParaRPr lang="en-IN" dirty="0"/>
          </a:p>
        </p:txBody>
      </p:sp>
      <p:sp>
        <p:nvSpPr>
          <p:cNvPr id="3" name="Content Placeholder 2">
            <a:extLst>
              <a:ext uri="{FF2B5EF4-FFF2-40B4-BE49-F238E27FC236}">
                <a16:creationId xmlns:a16="http://schemas.microsoft.com/office/drawing/2014/main" id="{2B615F8F-62B6-D214-7226-D6A2CBDB6504}"/>
              </a:ext>
            </a:extLst>
          </p:cNvPr>
          <p:cNvSpPr>
            <a:spLocks noGrp="1"/>
          </p:cNvSpPr>
          <p:nvPr>
            <p:ph idx="1"/>
          </p:nvPr>
        </p:nvSpPr>
        <p:spPr>
          <a:xfrm>
            <a:off x="838200" y="1378363"/>
            <a:ext cx="10515600" cy="5114511"/>
          </a:xfrm>
        </p:spPr>
        <p:txBody>
          <a:bodyPr>
            <a:noAutofit/>
          </a:bodyPr>
          <a:lstStyle/>
          <a:p>
            <a:pPr algn="l"/>
            <a:r>
              <a:rPr lang="en-US" sz="2400" b="0" i="0" u="none" strike="noStrike" baseline="0" dirty="0"/>
              <a:t>Safety footwear must meet ANSI minimum compression and impact performance standards in ANSI Z41-1991 (American National Standard for Personal Protection-</a:t>
            </a:r>
            <a:r>
              <a:rPr lang="en-IN" sz="2400" b="0" i="0" u="none" strike="noStrike" baseline="0" dirty="0"/>
              <a:t>Protective Footwear)</a:t>
            </a:r>
          </a:p>
          <a:p>
            <a:pPr algn="l"/>
            <a:r>
              <a:rPr lang="en-US" sz="2400" b="0" i="0" u="none" strike="noStrike" baseline="0" dirty="0"/>
              <a:t>Foot and leg protection choices</a:t>
            </a:r>
          </a:p>
          <a:p>
            <a:pPr lvl="1"/>
            <a:r>
              <a:rPr lang="en-US" sz="2000" b="1" i="0" u="none" strike="noStrike" baseline="0" dirty="0"/>
              <a:t>Leggings </a:t>
            </a:r>
            <a:r>
              <a:rPr lang="en-US" sz="2000" b="0" i="0" u="none" strike="noStrike" baseline="0" dirty="0"/>
              <a:t>protect the lower legs and feet from heat hazards such as molten metal or welding sparks. Safety snaps allow leggings to be removed quickly.</a:t>
            </a:r>
          </a:p>
          <a:p>
            <a:pPr lvl="1"/>
            <a:r>
              <a:rPr lang="en-US" sz="2000" b="1" i="0" u="none" strike="noStrike" baseline="0" dirty="0"/>
              <a:t>Metatarsal guards </a:t>
            </a:r>
            <a:r>
              <a:rPr lang="en-US" sz="2000" b="0" i="0" u="none" strike="noStrike" baseline="0" dirty="0"/>
              <a:t>protect the instep area from impact and compression. Made of aluminum, steel, fiber, or plastic, these guards may be strapped to the outside of shoes.</a:t>
            </a:r>
          </a:p>
          <a:p>
            <a:pPr lvl="1"/>
            <a:r>
              <a:rPr lang="en-US" sz="2000" b="1" i="0" u="none" strike="noStrike" baseline="0" dirty="0"/>
              <a:t>Toe guards </a:t>
            </a:r>
            <a:r>
              <a:rPr lang="en-US" sz="2000" b="0" i="0" u="none" strike="noStrike" baseline="0" dirty="0"/>
              <a:t>fit over the toes of regular shoes to protect the toes from impact and compression hazards. They may be made of steel, aluminum, or plastic.</a:t>
            </a:r>
          </a:p>
          <a:p>
            <a:pPr lvl="1"/>
            <a:r>
              <a:rPr lang="en-US" sz="2000" b="1" i="0" u="none" strike="noStrike" baseline="0" dirty="0"/>
              <a:t>Combination foot and shin guards </a:t>
            </a:r>
            <a:r>
              <a:rPr lang="en-US" sz="2000" b="0" i="0" u="none" strike="noStrike" baseline="0" dirty="0"/>
              <a:t>protect the lower legs and feet and may be used in combination with toe guards when greater protection is needed.</a:t>
            </a:r>
          </a:p>
          <a:p>
            <a:pPr lvl="1"/>
            <a:r>
              <a:rPr lang="en-US" sz="2000" b="1" i="0" u="none" strike="noStrike" baseline="0" dirty="0"/>
              <a:t>Safety shoes </a:t>
            </a:r>
            <a:r>
              <a:rPr lang="en-US" sz="2000" b="0" i="0" u="none" strike="noStrike" baseline="0" dirty="0"/>
              <a:t>have impact-resistant toes and heat-resistant soles that protect the feet against hot work surfaces common in roofing, paving, and hot metal industries. The metal </a:t>
            </a:r>
            <a:r>
              <a:rPr lang="en-US" sz="2000" b="0" i="0" u="none" strike="noStrike" baseline="0" dirty="0">
                <a:latin typeface="Calibri" panose="020F0502020204030204" pitchFamily="34" charset="0"/>
              </a:rPr>
              <a:t>insoles in some safety shoes protect against puncture wounds.</a:t>
            </a:r>
          </a:p>
        </p:txBody>
      </p:sp>
    </p:spTree>
    <p:extLst>
      <p:ext uri="{BB962C8B-B14F-4D97-AF65-F5344CB8AC3E}">
        <p14:creationId xmlns:p14="http://schemas.microsoft.com/office/powerpoint/2010/main" val="295199619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36109-6339-2C1F-5EAF-B21C740EFE71}"/>
              </a:ext>
            </a:extLst>
          </p:cNvPr>
          <p:cNvSpPr>
            <a:spLocks noGrp="1"/>
          </p:cNvSpPr>
          <p:nvPr>
            <p:ph type="title"/>
          </p:nvPr>
        </p:nvSpPr>
        <p:spPr/>
        <p:txBody>
          <a:bodyPr/>
          <a:lstStyle/>
          <a:p>
            <a:r>
              <a:rPr lang="en-IN" sz="4400" b="1" i="0" u="none" strike="noStrike" baseline="0" dirty="0"/>
              <a:t>4. Foot protection</a:t>
            </a:r>
            <a:endParaRPr lang="en-IN" dirty="0"/>
          </a:p>
        </p:txBody>
      </p:sp>
      <p:sp>
        <p:nvSpPr>
          <p:cNvPr id="3" name="Content Placeholder 2">
            <a:extLst>
              <a:ext uri="{FF2B5EF4-FFF2-40B4-BE49-F238E27FC236}">
                <a16:creationId xmlns:a16="http://schemas.microsoft.com/office/drawing/2014/main" id="{2B615F8F-62B6-D214-7226-D6A2CBDB6504}"/>
              </a:ext>
            </a:extLst>
          </p:cNvPr>
          <p:cNvSpPr>
            <a:spLocks noGrp="1"/>
          </p:cNvSpPr>
          <p:nvPr>
            <p:ph idx="1"/>
          </p:nvPr>
        </p:nvSpPr>
        <p:spPr>
          <a:xfrm>
            <a:off x="838200" y="1467816"/>
            <a:ext cx="10515600" cy="4351338"/>
          </a:xfrm>
        </p:spPr>
        <p:txBody>
          <a:bodyPr>
            <a:noAutofit/>
          </a:bodyPr>
          <a:lstStyle/>
          <a:p>
            <a:pPr algn="l"/>
            <a:r>
              <a:rPr lang="en-IN" sz="2400" b="0" i="0" u="none" strike="noStrike" baseline="0" dirty="0"/>
              <a:t>Special Purpose Shoes</a:t>
            </a:r>
          </a:p>
          <a:p>
            <a:pPr marL="914400" lvl="1" indent="-457200">
              <a:buFont typeface="+mj-lt"/>
              <a:buAutoNum type="arabicPeriod"/>
            </a:pPr>
            <a:r>
              <a:rPr lang="en-US" sz="2000" b="1" i="0" u="none" strike="noStrike" baseline="0" dirty="0"/>
              <a:t>Safety shoes </a:t>
            </a:r>
            <a:r>
              <a:rPr lang="en-US" sz="2000" b="0" i="0" u="none" strike="noStrike" baseline="0" dirty="0"/>
              <a:t>may also be designed to be electrically conductive to prevent the buildup of static electricity in areas with the potential for explosive atmospheres or nonconductive to protect workers from workplace electrical hazards.</a:t>
            </a:r>
          </a:p>
          <a:p>
            <a:pPr marL="914400" lvl="1" indent="-457200">
              <a:buFont typeface="+mj-lt"/>
              <a:buAutoNum type="arabicPeriod"/>
            </a:pPr>
            <a:r>
              <a:rPr lang="en-US" sz="2000" b="1" i="0" u="none" strike="noStrike" baseline="0" dirty="0"/>
              <a:t>Electrically conductive shoes </a:t>
            </a:r>
            <a:r>
              <a:rPr lang="en-US" sz="2000" b="0" i="0" u="none" strike="noStrike" baseline="0" dirty="0"/>
              <a:t>provide protection against the buildup of static electricity. </a:t>
            </a:r>
            <a:r>
              <a:rPr lang="en-US" b="0" i="0" u="none" strike="noStrike" baseline="0" dirty="0"/>
              <a:t>Workers in explosive and hazardous locations such as explosives manufacturing facilities </a:t>
            </a:r>
            <a:r>
              <a:rPr lang="en-US" sz="2400" b="0" i="0" u="none" strike="noStrike" baseline="0" dirty="0"/>
              <a:t>or grain elevators must wear conductive shoes to reduce the risk of static electricity </a:t>
            </a:r>
            <a:r>
              <a:rPr lang="en-IN" sz="2400" b="0" i="0" u="none" strike="noStrike" baseline="0" dirty="0"/>
              <a:t>buildup.</a:t>
            </a:r>
          </a:p>
          <a:p>
            <a:pPr marL="914400" lvl="1" indent="-457200">
              <a:buFont typeface="+mj-lt"/>
              <a:buAutoNum type="arabicPeriod"/>
            </a:pPr>
            <a:r>
              <a:rPr lang="en-US" sz="2000" b="1" i="0" u="none" strike="noStrike" baseline="0" dirty="0"/>
              <a:t>Electrical hazard, safety-toe shoes </a:t>
            </a:r>
            <a:r>
              <a:rPr lang="en-US" sz="2000" b="0" i="0" u="none" strike="noStrike" baseline="0" dirty="0"/>
              <a:t>are nonconductive and will prevent the wearers’ feet </a:t>
            </a:r>
            <a:r>
              <a:rPr lang="en-US" sz="2400" b="0" i="0" u="none" strike="noStrike" baseline="0" dirty="0"/>
              <a:t>from completing an electrical circuit to the ground. These shoes can protect against open circuits of up to 600 volts in dry conditions.</a:t>
            </a:r>
          </a:p>
          <a:p>
            <a:pPr marL="914400" lvl="1" indent="-457200">
              <a:buFont typeface="+mj-lt"/>
              <a:buAutoNum type="arabicPeriod"/>
            </a:pPr>
            <a:r>
              <a:rPr lang="en-US" sz="2000" b="1" i="0" u="none" strike="noStrike" baseline="0" dirty="0"/>
              <a:t>Foundry Shoes </a:t>
            </a:r>
            <a:r>
              <a:rPr lang="en-US" sz="2000" b="0" i="0" u="none" strike="noStrike" baseline="0" dirty="0"/>
              <a:t>insulate the feet from extreme heat and keep hot metal from lodging in </a:t>
            </a:r>
            <a:r>
              <a:rPr lang="en-US" sz="2400" b="0" i="0" u="none" strike="noStrike" baseline="0" dirty="0"/>
              <a:t>shoe eyelets, tongues or other shoe parts.</a:t>
            </a:r>
            <a:endParaRPr lang="en-IN" sz="2400" dirty="0"/>
          </a:p>
        </p:txBody>
      </p:sp>
    </p:spTree>
    <p:extLst>
      <p:ext uri="{BB962C8B-B14F-4D97-AF65-F5344CB8AC3E}">
        <p14:creationId xmlns:p14="http://schemas.microsoft.com/office/powerpoint/2010/main" val="24550089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title="Foot and Leg protection"/>
          <p:cNvPicPr>
            <a:picLocks noChangeAspect="1"/>
          </p:cNvPicPr>
          <p:nvPr/>
        </p:nvPicPr>
        <p:blipFill rotWithShape="1">
          <a:blip r:embed="rId3">
            <a:extLst>
              <a:ext uri="{28A0092B-C50C-407E-A947-70E740481C1C}">
                <a14:useLocalDpi xmlns:a14="http://schemas.microsoft.com/office/drawing/2010/main" val="0"/>
              </a:ext>
            </a:extLst>
          </a:blip>
          <a:srcRect l="7214" r="9451"/>
          <a:stretch/>
        </p:blipFill>
        <p:spPr>
          <a:xfrm flipH="1">
            <a:off x="8341038" y="2057400"/>
            <a:ext cx="1600200" cy="2743200"/>
          </a:xfrm>
          <a:prstGeom prst="rect">
            <a:avLst/>
          </a:prstGeom>
          <a:ln>
            <a:solidFill>
              <a:schemeClr val="tx1"/>
            </a:solidFill>
          </a:ln>
        </p:spPr>
      </p:pic>
      <p:sp>
        <p:nvSpPr>
          <p:cNvPr id="2" name="Title 1"/>
          <p:cNvSpPr>
            <a:spLocks noGrp="1"/>
          </p:cNvSpPr>
          <p:nvPr>
            <p:ph type="title"/>
          </p:nvPr>
        </p:nvSpPr>
        <p:spPr/>
        <p:txBody>
          <a:bodyPr/>
          <a:lstStyle/>
          <a:p>
            <a:r>
              <a:rPr lang="en-US" sz="4400" b="1" dirty="0"/>
              <a:t>4. Foot and leg protection</a:t>
            </a:r>
            <a:endParaRPr lang="en-US" dirty="0"/>
          </a:p>
        </p:txBody>
      </p:sp>
      <p:sp>
        <p:nvSpPr>
          <p:cNvPr id="3" name="Content Placeholder 2"/>
          <p:cNvSpPr>
            <a:spLocks noGrp="1"/>
          </p:cNvSpPr>
          <p:nvPr>
            <p:ph idx="1"/>
          </p:nvPr>
        </p:nvSpPr>
        <p:spPr/>
        <p:txBody>
          <a:bodyPr>
            <a:normAutofit/>
          </a:bodyPr>
          <a:lstStyle/>
          <a:p>
            <a:r>
              <a:rPr lang="en-US" sz="3000" dirty="0"/>
              <a:t>Causes of foot injuries:</a:t>
            </a:r>
          </a:p>
          <a:p>
            <a:pPr lvl="1">
              <a:spcBef>
                <a:spcPct val="30000"/>
              </a:spcBef>
            </a:pPr>
            <a:r>
              <a:rPr lang="en-US" sz="2600" dirty="0"/>
              <a:t>Falling or rolling of heavy objects</a:t>
            </a:r>
          </a:p>
          <a:p>
            <a:pPr lvl="1">
              <a:spcBef>
                <a:spcPct val="30000"/>
              </a:spcBef>
            </a:pPr>
            <a:r>
              <a:rPr lang="en-US" sz="2600" dirty="0"/>
              <a:t>Crushing or penetrating materials</a:t>
            </a:r>
          </a:p>
          <a:p>
            <a:pPr lvl="1">
              <a:spcBef>
                <a:spcPct val="30000"/>
              </a:spcBef>
            </a:pPr>
            <a:r>
              <a:rPr lang="en-US" sz="2600" dirty="0"/>
              <a:t>Sharp objects that can penetrate </a:t>
            </a:r>
            <a:br>
              <a:rPr lang="en-US" sz="2600" dirty="0"/>
            </a:br>
            <a:r>
              <a:rPr lang="en-US" sz="2600" dirty="0"/>
              <a:t>the sole</a:t>
            </a:r>
          </a:p>
          <a:p>
            <a:pPr lvl="1">
              <a:spcBef>
                <a:spcPct val="30000"/>
              </a:spcBef>
            </a:pPr>
            <a:r>
              <a:rPr lang="en-US" sz="2600" dirty="0"/>
              <a:t>Exposure to molten metal </a:t>
            </a:r>
          </a:p>
          <a:p>
            <a:pPr lvl="1">
              <a:spcBef>
                <a:spcPct val="30000"/>
              </a:spcBef>
            </a:pPr>
            <a:r>
              <a:rPr lang="en-US" sz="2600" dirty="0"/>
              <a:t>Working on, or around, hot, wet, or slippery surfaces </a:t>
            </a:r>
          </a:p>
          <a:p>
            <a:pPr lvl="1">
              <a:spcBef>
                <a:spcPct val="30000"/>
              </a:spcBef>
            </a:pPr>
            <a:r>
              <a:rPr lang="en-US" sz="2600" dirty="0"/>
              <a:t>Working when electrical </a:t>
            </a:r>
            <a:br>
              <a:rPr lang="en-US" sz="2600" dirty="0"/>
            </a:br>
            <a:r>
              <a:rPr lang="en-US" sz="2600" dirty="0"/>
              <a:t>hazards are present.</a:t>
            </a:r>
          </a:p>
        </p:txBody>
      </p:sp>
      <p:sp>
        <p:nvSpPr>
          <p:cNvPr id="5" name="TextBox 4"/>
          <p:cNvSpPr txBox="1"/>
          <p:nvPr/>
        </p:nvSpPr>
        <p:spPr>
          <a:xfrm>
            <a:off x="8723508" y="4800600"/>
            <a:ext cx="1428749" cy="215444"/>
          </a:xfrm>
          <a:prstGeom prst="rect">
            <a:avLst/>
          </a:prstGeom>
          <a:noFill/>
        </p:spPr>
        <p:txBody>
          <a:bodyPr wrap="square" rtlCol="0">
            <a:spAutoFit/>
          </a:bodyPr>
          <a:lstStyle/>
          <a:p>
            <a:pPr lvl="1" algn="ctr"/>
            <a:r>
              <a:rPr lang="en-US" sz="800" dirty="0"/>
              <a:t>Source: OSHA</a:t>
            </a:r>
          </a:p>
        </p:txBody>
      </p:sp>
    </p:spTree>
    <p:extLst>
      <p:ext uri="{BB962C8B-B14F-4D97-AF65-F5344CB8AC3E}">
        <p14:creationId xmlns:p14="http://schemas.microsoft.com/office/powerpoint/2010/main" val="14964387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title="People holding heavy object"/>
          <p:cNvPicPr>
            <a:picLocks noChangeAspect="1"/>
          </p:cNvPicPr>
          <p:nvPr/>
        </p:nvPicPr>
        <p:blipFill rotWithShape="1">
          <a:blip r:embed="rId3">
            <a:extLst>
              <a:ext uri="{28A0092B-C50C-407E-A947-70E740481C1C}">
                <a14:useLocalDpi xmlns:a14="http://schemas.microsoft.com/office/drawing/2010/main" val="0"/>
              </a:ext>
            </a:extLst>
          </a:blip>
          <a:srcRect r="4366" b="1489"/>
          <a:stretch/>
        </p:blipFill>
        <p:spPr>
          <a:xfrm>
            <a:off x="8159539" y="2723233"/>
            <a:ext cx="3305908" cy="2853141"/>
          </a:xfrm>
          <a:prstGeom prst="rect">
            <a:avLst/>
          </a:prstGeom>
          <a:ln>
            <a:solidFill>
              <a:schemeClr val="tx1"/>
            </a:solidFill>
          </a:ln>
        </p:spPr>
      </p:pic>
      <p:sp>
        <p:nvSpPr>
          <p:cNvPr id="7" name="TextBox 6"/>
          <p:cNvSpPr txBox="1"/>
          <p:nvPr/>
        </p:nvSpPr>
        <p:spPr>
          <a:xfrm>
            <a:off x="8383744" y="4445027"/>
            <a:ext cx="1428749" cy="215444"/>
          </a:xfrm>
          <a:prstGeom prst="rect">
            <a:avLst/>
          </a:prstGeom>
          <a:noFill/>
        </p:spPr>
        <p:txBody>
          <a:bodyPr wrap="square" rtlCol="0">
            <a:spAutoFit/>
          </a:bodyPr>
          <a:lstStyle/>
          <a:p>
            <a:pPr lvl="1" algn="r"/>
            <a:r>
              <a:rPr lang="en-US" sz="800" dirty="0"/>
              <a:t>Source: OSHA</a:t>
            </a:r>
          </a:p>
        </p:txBody>
      </p:sp>
      <p:sp>
        <p:nvSpPr>
          <p:cNvPr id="6" name="Title 5"/>
          <p:cNvSpPr>
            <a:spLocks noGrp="1"/>
          </p:cNvSpPr>
          <p:nvPr>
            <p:ph type="title"/>
          </p:nvPr>
        </p:nvSpPr>
        <p:spPr/>
        <p:txBody>
          <a:bodyPr/>
          <a:lstStyle/>
          <a:p>
            <a:r>
              <a:rPr lang="en-US" sz="4400" b="1" dirty="0"/>
              <a:t>4. Foot and leg protection</a:t>
            </a:r>
            <a:endParaRPr lang="en-US" dirty="0"/>
          </a:p>
        </p:txBody>
      </p:sp>
      <p:sp>
        <p:nvSpPr>
          <p:cNvPr id="8" name="Content Placeholder 7"/>
          <p:cNvSpPr>
            <a:spLocks noGrp="1"/>
          </p:cNvSpPr>
          <p:nvPr>
            <p:ph idx="1"/>
          </p:nvPr>
        </p:nvSpPr>
        <p:spPr>
          <a:xfrm>
            <a:off x="1106555" y="1997074"/>
            <a:ext cx="6248401" cy="4495801"/>
          </a:xfrm>
        </p:spPr>
        <p:txBody>
          <a:bodyPr/>
          <a:lstStyle/>
          <a:p>
            <a:pPr marL="514350" indent="-457200"/>
            <a:r>
              <a:rPr lang="en-US" dirty="0">
                <a:ea typeface="Tahoma" panose="020B0604030504040204" pitchFamily="34" charset="0"/>
              </a:rPr>
              <a:t>Conditions requiring foot protection</a:t>
            </a:r>
          </a:p>
          <a:p>
            <a:pPr lvl="1"/>
            <a:r>
              <a:rPr lang="en-US" dirty="0">
                <a:ea typeface="Tahoma" panose="020B0604030504040204" pitchFamily="34" charset="0"/>
              </a:rPr>
              <a:t>Impacts</a:t>
            </a:r>
          </a:p>
          <a:p>
            <a:pPr lvl="1"/>
            <a:r>
              <a:rPr lang="en-US" dirty="0">
                <a:ea typeface="Tahoma" panose="020B0604030504040204" pitchFamily="34" charset="0"/>
              </a:rPr>
              <a:t>Compressions</a:t>
            </a:r>
          </a:p>
          <a:p>
            <a:pPr lvl="1"/>
            <a:r>
              <a:rPr lang="en-US" dirty="0">
                <a:ea typeface="Tahoma" panose="020B0604030504040204" pitchFamily="34" charset="0"/>
              </a:rPr>
              <a:t>Cuts/punctures</a:t>
            </a:r>
          </a:p>
          <a:p>
            <a:pPr lvl="1"/>
            <a:r>
              <a:rPr lang="en-US" dirty="0">
                <a:ea typeface="Tahoma" panose="020B0604030504040204" pitchFamily="34" charset="0"/>
              </a:rPr>
              <a:t>Chemicals</a:t>
            </a:r>
          </a:p>
          <a:p>
            <a:pPr lvl="1"/>
            <a:r>
              <a:rPr lang="en-US" dirty="0">
                <a:ea typeface="Tahoma" panose="020B0604030504040204" pitchFamily="34" charset="0"/>
              </a:rPr>
              <a:t>Temperatures</a:t>
            </a:r>
          </a:p>
        </p:txBody>
      </p:sp>
    </p:spTree>
    <p:extLst>
      <p:ext uri="{BB962C8B-B14F-4D97-AF65-F5344CB8AC3E}">
        <p14:creationId xmlns:p14="http://schemas.microsoft.com/office/powerpoint/2010/main" val="7332665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t>4. Foot and leg protection</a:t>
            </a:r>
            <a:endParaRPr lang="en-US" dirty="0"/>
          </a:p>
        </p:txBody>
      </p:sp>
      <p:sp>
        <p:nvSpPr>
          <p:cNvPr id="3" name="Content Placeholder 2"/>
          <p:cNvSpPr>
            <a:spLocks noGrp="1"/>
          </p:cNvSpPr>
          <p:nvPr>
            <p:ph idx="1"/>
          </p:nvPr>
        </p:nvSpPr>
        <p:spPr/>
        <p:txBody>
          <a:bodyPr>
            <a:normAutofit/>
          </a:bodyPr>
          <a:lstStyle/>
          <a:p>
            <a:pPr>
              <a:lnSpc>
                <a:spcPct val="90000"/>
              </a:lnSpc>
            </a:pPr>
            <a:r>
              <a:rPr lang="en-US" dirty="0">
                <a:solidFill>
                  <a:srgbClr val="000000"/>
                </a:solidFill>
              </a:rPr>
              <a:t>Examples of foot and leg protection</a:t>
            </a:r>
          </a:p>
          <a:p>
            <a:pPr lvl="1">
              <a:lnSpc>
                <a:spcPct val="90000"/>
              </a:lnSpc>
            </a:pPr>
            <a:r>
              <a:rPr lang="en-US" dirty="0">
                <a:solidFill>
                  <a:srgbClr val="000000"/>
                </a:solidFill>
              </a:rPr>
              <a:t>Impact-resistant toe and/or instep</a:t>
            </a:r>
          </a:p>
          <a:p>
            <a:pPr lvl="2">
              <a:lnSpc>
                <a:spcPct val="90000"/>
              </a:lnSpc>
            </a:pPr>
            <a:r>
              <a:rPr lang="en-US" dirty="0">
                <a:solidFill>
                  <a:srgbClr val="000000"/>
                </a:solidFill>
              </a:rPr>
              <a:t>Steel</a:t>
            </a:r>
          </a:p>
          <a:p>
            <a:pPr lvl="2">
              <a:lnSpc>
                <a:spcPct val="90000"/>
              </a:lnSpc>
            </a:pPr>
            <a:r>
              <a:rPr lang="en-US" dirty="0">
                <a:solidFill>
                  <a:srgbClr val="000000"/>
                </a:solidFill>
              </a:rPr>
              <a:t>Composite</a:t>
            </a:r>
          </a:p>
          <a:p>
            <a:pPr lvl="1">
              <a:lnSpc>
                <a:spcPct val="90000"/>
              </a:lnSpc>
            </a:pPr>
            <a:r>
              <a:rPr lang="en-US" dirty="0">
                <a:solidFill>
                  <a:srgbClr val="000000"/>
                </a:solidFill>
              </a:rPr>
              <a:t>Heat-resistant soles</a:t>
            </a:r>
          </a:p>
          <a:p>
            <a:pPr lvl="1">
              <a:lnSpc>
                <a:spcPct val="90000"/>
              </a:lnSpc>
            </a:pPr>
            <a:r>
              <a:rPr lang="en-US" dirty="0">
                <a:solidFill>
                  <a:srgbClr val="000000"/>
                </a:solidFill>
              </a:rPr>
              <a:t>Metal shanks</a:t>
            </a:r>
          </a:p>
          <a:p>
            <a:pPr lvl="1">
              <a:lnSpc>
                <a:spcPct val="90000"/>
              </a:lnSpc>
            </a:pPr>
            <a:r>
              <a:rPr lang="en-US" dirty="0">
                <a:solidFill>
                  <a:srgbClr val="000000"/>
                </a:solidFill>
              </a:rPr>
              <a:t>Specialty footwear may be needed</a:t>
            </a:r>
          </a:p>
          <a:p>
            <a:pPr lvl="2">
              <a:lnSpc>
                <a:spcPct val="90000"/>
              </a:lnSpc>
            </a:pPr>
            <a:r>
              <a:rPr lang="en-US" dirty="0">
                <a:solidFill>
                  <a:srgbClr val="000000"/>
                </a:solidFill>
              </a:rPr>
              <a:t>Metatarsal guards</a:t>
            </a:r>
          </a:p>
          <a:p>
            <a:pPr lvl="2">
              <a:lnSpc>
                <a:spcPct val="90000"/>
              </a:lnSpc>
            </a:pPr>
            <a:r>
              <a:rPr lang="en-US" dirty="0">
                <a:solidFill>
                  <a:srgbClr val="000000"/>
                </a:solidFill>
              </a:rPr>
              <a:t>Liquid- or chemical-resistant</a:t>
            </a:r>
          </a:p>
          <a:p>
            <a:pPr lvl="2">
              <a:lnSpc>
                <a:spcPct val="90000"/>
              </a:lnSpc>
            </a:pPr>
            <a:r>
              <a:rPr lang="en-US" dirty="0">
                <a:solidFill>
                  <a:srgbClr val="000000"/>
                </a:solidFill>
              </a:rPr>
              <a:t>Conductive or nonconductive</a:t>
            </a:r>
            <a:endParaRPr lang="en-US" dirty="0">
              <a:solidFill>
                <a:srgbClr val="000000"/>
              </a:solidFill>
              <a:latin typeface="+mj-lt"/>
            </a:endParaRPr>
          </a:p>
          <a:p>
            <a:pPr marL="0" indent="0">
              <a:buNone/>
            </a:pPr>
            <a:endParaRPr lang="en-US" dirty="0"/>
          </a:p>
        </p:txBody>
      </p:sp>
      <p:sp>
        <p:nvSpPr>
          <p:cNvPr id="4" name="AutoShape 6" descr="data:image/jpeg;base64,/9j/4AAQSkZJRgABAQAAAQABAAD/2wCEAAkGBxMSEhUTExMVFhUXFxkaFxgYGBcXGhoWGxgXFhcWFRUYHSggGBonHRgVIjEhJSkrLi4uFx8zODMtNygtLisBCgoKDg0OGxAQGi0fHR8tLS0tLS0tLS0tKy0tLS0tLS0rKy0tLS0tLS0tLS0tLS0tLS0rLS0tNzcrLSs3Kys3Lf/AABEIAJUAyAMBIgACEQEDEQH/xAAcAAACAgMBAQAAAAAAAAAAAAAEBQMGAAIHAQj/xAA6EAABAwIEAwYEBQMEAwEAAAABAAIRAyEEEjFBBVFhBhMicYGhMpGx8EJiwdHhBxRSIzOy8XKSohX/xAAZAQADAQEBAAAAAAAAAAAAAAABAgMEAAX/xAAjEQACAgIDAAIDAQEAAAAAAAAAAQIRAyESMUFRcSIy8EKB/9oADAMBAAIRAxEAPwCzUJtdSPsJm3uoqbeXqtq9S90EbWGcLxeWsxovJAPkbfWFbe4OoXOqOOFOtRB1dVpz6uAXTw+HERZV3EyylbAmvkgDUXROFw5Fy4mVI6gJkWK8qVyDGU+eyDlfQtktQwh40kyQt2C0u9Vq6qBpcoIBKAknakWpz/kR7T+icUnkpB22cRTpc85/4lDoeP7HHP6nPArsA0FNvuXKu9mu1NfAvOQ52O1puJym4Ntcp6hWH+p2DfFKuLiHMf0IcXMPkQ4j0XN3V9k0XQuT9jtPD/6w4XKBVbWpuAgj4hPmDceibs/q1w0tINSq4nQCm9cArMFQTo7Tz6FDYd+V1/VNy+RT6QxH9RqTqQfh2szEO/3n93lIIAkQSd7BVrFYh9dxxFesazXNfTpMpAhrTAD3NLj4jBgGNyqb2fxOGzNc8WkTIzR6b+SteBx7q9d39sf9JjGtc+1PKIN2NN9Q8wOSzZefzr+9NGKUf+j/AIUKpbFSg+k1rW5S4zIi0mxnmiqhEWH30VeqYdlR7sT3j/A1zmta4m0tAD3GwNxbqtuCdoGVg5vdvY+fC0yZAs4g+cac0Mcvkq3QyxO6TYumnjr6ffNAYumqiMrNeRI5aeSlpPHdjmHR5TK34hT35IGgAXgE2Dgfv3WHPjp2XxztDD+6GYsc02+HrMkofFggyAbx817Qpue54JiDAvMawZR+I4a5jAZJBGp56SmjPktnNNMM7L8XDXZCfC+Aejvwu94KxVR1Q03C0DdeKkJyxrjQsoqWzqTnDYwEJiKskjZqkr1IBPTluk3F8YKdEk6m60416RzS1Qix1Z2IrgM/AQ71BBb7hd++NoPMT87rh3ZXCOjPHicbk+y7H2axWeg0bt8J9NPaFzlbsnKFKw6hV2Oq2qVYMQV7UpAhC4xzx8MQI80Uk2IbYmqXWbr96qbD0Mo6qOhAFviP1U9MHcrm9UA3AVb7bf7dOP8AM/8AEqyFVbtzU8NJu+ZzvQCP1SjR7OcdqsbDA3wgEwZu11jZ0/ei5hxLhVMk5Xd07/B92n/wfy810zj+BZXpuYXEWseR8lzfiDq+GPdvZ3jBoSDp57JXfhWVf6FFfh9ZmrCQdx4h8whc/MJtTx9HYVKRP+Jt/KCq1HEkjxNmxIuUVJiOEfGE8NrAGZsrtwriwY0im8eMAOsNLxBOhubjmueACdMvRMMLRcDLSnTvsm1R1gmkMMMjmue8087JJLi0uJa4RYfDpqpuNVsQKbXUqraGWlelTY0F1RxlrOYaGxJ6qm9neIVKT2uJBIIdld0Mq508V/cOL4DQGtYBJNhOpNyeqR4eTKRy0gDhfFK9b425Y189D9JTWrUzC9itsHhxMqXEUOatwVCqbQlxdAn/AKSLEt8R2mY++StVTDkWuTFrbJRxbh7xbKQYkW26fJQyQtUWjKtgPBwRmB1n91ZcM8VKTmH4meIdW/x+oVQwFbKS376pzhcbkqNcIgag6EGxn5rzY3HJTNd3EFxmHkQRrefVYmePoFsllztygg/ssW1yojVjjFEmGg/Efoq/2kd3lWnSbzv5KwNM1TyaB7qt4aX4tx1y2WnqJnl+Uyy8OoZW/omGC7UNwuLo0nmKdVpzE7OLgGGdhZwPmEPRcqj29Yc9J35THof5CSPZTJ+h3vvtb8jH7c0NXYXgS7Lta8/d1ybsb25qYdgbWDqtIDKCLvbYRB3Hmui8H7SYXEsD6VZhP+JIDgZghzdRvsq1RmQbSwtTYn1sjqdB/wCJ59LLc1tIj+OaGx3FaFITUrMYOZcG6ISm2dQaGxuVSO1+KDqsD8LQD7n9VLxz+oNGi1vdU31i9riwhpDSGwJk7Gbc4KqnDsfUxFPvKg/1CT3giIdPLYRCS1RWEaeyKrSnfrCXYzDt+EXBAOx1F5Vg7mOeiBOGHJLaKOLKvX7N0TcsGny/ZA1+CNAgNCufcyoKmGnbVIw8UjnGM4T+VLWYd7CcpIP4evMea6XiuHAyVXOKcIlpix1B5ELoyoEogfC+Nl1LuXZcubPIAnNGXU3FlbOHY9oaGtiyoZwJqklgy1mjx0zafzM5rbCcTcw5XAt5yFojIzzg0dPwvEcsRB3RdLHNBBd8o+UyueYfj4BA16qx8K42x/jqCRMecRI+RVFIXZdKOLDm9bX85SjtHiwQ1ty5uh/Lpln71UXFeKscM9EZcoNuYjRLmY3vG5iOebz5JJOykStcUokeIc0XhXSBbUIzF4eQeSW0JbZYM8P9I045VosOEqSBJJMhv/tOUn1geqxD0MzmFrQZ/lpueVl6khkm10Ukop9jjCGe8JOpInysl3Z2jL3mfxG/lZHYOrFJ7iJufqtOyw8HqfqVvydGXGvyHZZHRKe03DO+oxbM0y2etiPonGIaLJN2kc7uXFuoIdHODMKa0WklRUeF1NaRsYFjrIJH7JfVw2SsRFijcfV7wsrN10tbMIFz+cRceqlc1tVocInZWjLkrMc4uLHnZ/iVOiKneOc8w002uL3CQH2sYaJyTOo8lPg8TRaDiMU1kudFMub4qroNmzowdBvGqV8JaGOa9zcxa5roOhggkHzgKw1qZrVGVs9RlOkGt7whua0SBAy5zO1rqOaHv99FcU30RlmMrNL6L64axs/Dl7xxMBrA6IaBJnyUmCfiRVccQzL3uUNiLuaDyJuRJ9FFjadXGjw0XtY4ZA95LWsYTdxLiMxvJKip8KqWp0a1NwpnwN71jnHLafDo4i8HnCnFpPdfS8KtvvY3q5j8LbW31UrWmL+y1oVQ4AgyCJHkpaJ6J2U7ISFC6mZ0t+qP7sTMKN4QOaAnYa078kDVwIITkN+7LDSXNI6il8X7Nir4gSx4+Fwsq1ia9WkcmKoiqNnAGY8wurub0QGJwAdqAUyQjVdHOKbcBUgd4+nFoMW53TpnB8JY08YIEyDETa/rATh3ZXDvnNTseVrkzf3QFXsVTDpY5w6ahNdCVfhLUFJjb1w6ws0ddLof/wDQD4p0xYO2vebyiB2Y8Ul7rxy25Jlg+FMp/C2N+s9SuuzuJo+hLUtdgpPTmnVc5bRdQUsK92otttKMYX2CcqeiFrTlyssN3feqxbY/BPdbvGU2+cn9lirpEewrhtLPSI9vVTdnmeAWQvAanxtnQorghguadnFJPorj/Yb12Wt6pfimzYplqhxTlRei7VnMuN4d+EFQs8VMib7OnUdVpweuXNa4AiZkcnb+ivPFsG17SCJBSCtg+7BIiGwb8j4beyMJKyOSDr6NcLiDvunOEx9Z1N1BjG+KQXOMQy73AycoggnNrAKDw1BlWC2zjFtL8vmjXVv7cnN4HsJaQdZ3A5/ytDVmdNrYfULKLe4ql7swDnRJ7wwHd3TcbMpjwkneUmxNKtnJpUqbGGMrGS3LAg+L8U7zuiKWIfVd3lSd4B1uAJ6aCyLfioskhhUd+jzyuWgPguJqUyWVWw06XmDyVlY9V3EU84umfCsTmGQ6gb7hDJCtlcM/GOA77814WcllFvM6ohikkXsEbT5rIFxyE++6JrCLhDOYJDiYF99RIMeyJxqdjb75ryyk6nqPZahOkBsidTMR7ddB9Vp3UQdZ3U9Rukbz891pkIi42j72XNCrs8dTSjivE2UWyfS3t1RfEOIhuUXh0hxGx2BQWJxFHu5dBGrd4PPzRhH5J5J/Anq8YrOEhgYObrW8kPg6uJq+Jz8rNoFz/CZ4Lh7q3jqSGfhGmbqeiPq04tt96LpSoEIXtldrsg7nzWIzHUtQsUpR5bHT46PcBVLK7mzqndERXJGjgHDz0P6JBxtpp1WVORgp06rLWvH4T/8AJVo/lEm3xmPWu2UTqfi1sd5sp8M4loMBZiGiFD01C3EUQSCdEvxGED5ZYZmlsnaRY/OE6LCQhcTQlpEJZLdgKXhcRlOR4yuaYPMEJvSoMc7OSXOO5MpfxHC/3DnOpn/XpmHt/wAwNHD80RKT4fjDmHK+WkbFa4TsxThX0XQ0uSjdh+YuNEDguIgi5TzAszkRe/nfWFSyZBh6RdaPRbHBOaWvAm8WTF0AxlNPWJ3iM0n71U9RzQAad4ufruuYyQVQBNiCHWkHY8vdZVcRcShcTjgcQSHfED5GLD2RlMSIPL2WaWmbIu0ZSZIk7qOoOaIptMc1FXF7aIBBw+5t+qwt9L/JbObGq1rDTQgi/TWxCZHNmpqE+K0gz56beiFxNYtGkuIt7X5LapUDdRqb87ckr4nxIMBceVky2SnKgXE8QZRBD/icDA3kJV2ewRxFU1XSKbdG83eXL90IOH1MVVaS4gnbkzclXjCYYUqTWNFm+53JQb8BCN7Z7lUDm21RDXGVqKUg+ZSSKwFOKpysRlajqsSjUQdocD3lMjbbz2QXZzFZ2FjtRYp89oInY/VVHGzh63eD4Sb+aeGmRyK9lz4TXAljttPLZHubbkkVCsHgVGkTr/CcYavnFrIZI1sfFO1RghY6nZbPpwf2UhAA0S1ZSxFxThQeM7D3dRpkOFjPWNVW+IUqOJPd4kChX/C8fC885Giv2QxolPE+D06wh7RvB3C7oVqyjV+D4vDTnbnYNHNgz8kRwbjrwC1lnBxcW6WygTHPwhMH4bG4MHuHmo2Zg3jpB1QLu04Mtr4Jhd/kAWuE9QqKZF419Fjx3aMVWtzkEgZhrc5Yh2UWnRQYXij6sG4GgaBEQeW50SFnFcOZLWPEcyLATN4TlnEWsbIZDibnUmYEorJYvCvRtgcPkyBwAcSABqQBMgp7SDhZJeCYdzpqOm4EAnzvHqrLQYBrf9lCUrZpgqiRnS2hULoG10Y/SFGWSJ8tUydBoXyZWjmWJGgifXRS4iA7kgcS/bc/ROhW6BMVWbM6Aa9VVzVNd5ef9tpt1IRXaDElzhRZqdT0UtDDiWUmiwufLkqdIyu5DLgeGytzuF3ezdh9U3cbXUVEWgKX+3Btp96qN72a0qWiIO5LajeQpG0SvXW09U8loSJBUpwsW+YE7rFOitkVLlrZCcUwDajSNZR9AWuIK3ATImyj8NxD8NUNN/wzIJ5K4UcZo4aWBgbc0t4/wkVGk76gpNwniLqZ7up5XVE7VMg04u0X97w5ogXvJHLYLwCLJZhMR3ZGpYfby6J212fSCOdvqptOLLxkpI0pjkFrUZfTzWMxEbW5qepBbIMGxGlxcffmhsYFrUByQGK4Ux4u2ZTXMYWrZ8kOJ1lZPZWjEZbHW9r6phgeBU2AQNt/0Tx+FFjOv05rBTA+iDRyPKNGALIgEKI1ZClaSlqg2eOMLQmQVJlUNQRdMjgbENsTCQYrEw1zzr+FOcc+RHP6bqqdoKmaKY3t+/yCrjVbIZpeAHCWTmru30nkNE14WzV25+myhq0bNpgR+ydYPDaaRFkZvwGKPoZRZCMDABtyKhFh96aLdvNSZpNmh528I9x1QdUmeiaT4Y/Xa9kHWoSqKSom4vwHAsCBM6rFubdAsUyiQBJJI0FuhO2vVHNZ1giLcxz+iAbl1/n7ui34lrModmg2cRBjkT0VSCZ7VZaOqrXHeEl/ibYi/wD2rO7Fte7wsIbzMX9ApO5BjTrOiWQ1WUfg3F3U/BV29v4Vlw2Ji7DLTtP05Jdx7grXkubYqu0MbUoOAfMeyMZp9kpRcXo6TSrd50IHy9ESL6GwVPwPF2uuDB2vdOqGOJ1v1/dFwGjlvTGQJ/ReyT5KKnVB0UoF0KKWSNeSFgn3W9IiIy76/p5L23LVKceMbKlbotIWZzPNdR1k3d8r87qLEgROv/SmbEckBjsRlBnklGFVapdx2GnRVnDHvKrn7M08zc/om+OrBlIk73PlqUqwLctH8z7+putC0ZJO3Ydwtmd7nHyCesGURFwoOD4LKxoi9vnumzsP4v1WeUt2a4RpA7achShkAWUhphbSfIJGPZHSde/opHUwZhauqDVauJKF7DQPUb7LFtWZGhXqKO7K1356DyEcke1osBy13K9WK5mQTTap26LFiPg8TWswFKOJ8NY8GQPkvVijIdlHx9HuHeAnyTXhHFnkXWLFbE9GPItlnwlbNfQphTxJa6DdYsTz6GxsZ0XSAVIxYsUixrUfBWtIfVerEQonSbinLnCxYkXaC+mVrtG7whuziB6SFLSpDvKbdp/lerFZ9MzR8LZTZ8KkqWherFBGtnsZtVEXbLFiSQYmjRK8qmAFixKMQVnSFixYnQUf/9k="/>
          <p:cNvSpPr>
            <a:spLocks noChangeAspect="1" noChangeArrowheads="1"/>
          </p:cNvSpPr>
          <p:nvPr/>
        </p:nvSpPr>
        <p:spPr bwMode="auto">
          <a:xfrm>
            <a:off x="1640681" y="748904"/>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sp>
        <p:nvSpPr>
          <p:cNvPr id="10" name="TextBox 9"/>
          <p:cNvSpPr txBox="1"/>
          <p:nvPr/>
        </p:nvSpPr>
        <p:spPr>
          <a:xfrm>
            <a:off x="8408023" y="5137124"/>
            <a:ext cx="1614070" cy="215444"/>
          </a:xfrm>
          <a:prstGeom prst="rect">
            <a:avLst/>
          </a:prstGeom>
          <a:noFill/>
        </p:spPr>
        <p:txBody>
          <a:bodyPr wrap="square" rtlCol="0">
            <a:spAutoFit/>
          </a:bodyPr>
          <a:lstStyle/>
          <a:p>
            <a:pPr algn="r"/>
            <a:r>
              <a:rPr lang="en-US" sz="800" dirty="0"/>
              <a:t>Source of photos: OSHA</a:t>
            </a:r>
          </a:p>
        </p:txBody>
      </p:sp>
      <p:pic>
        <p:nvPicPr>
          <p:cNvPr id="5" name="Picture 4" title="examples of foot and leg protec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1495" y="3721850"/>
            <a:ext cx="1820599" cy="1361808"/>
          </a:xfrm>
          <a:prstGeom prst="rect">
            <a:avLst/>
          </a:prstGeom>
          <a:ln>
            <a:solidFill>
              <a:schemeClr val="tx1"/>
            </a:solidFill>
          </a:ln>
        </p:spPr>
      </p:pic>
      <p:pic>
        <p:nvPicPr>
          <p:cNvPr id="6" name="Picture 5" title="foot and leg protecti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9497" y="1936083"/>
            <a:ext cx="1722597" cy="1492917"/>
          </a:xfrm>
          <a:prstGeom prst="rect">
            <a:avLst/>
          </a:prstGeom>
          <a:ln>
            <a:solidFill>
              <a:schemeClr val="tx1"/>
            </a:solidFill>
          </a:ln>
        </p:spPr>
      </p:pic>
    </p:spTree>
    <p:extLst>
      <p:ext uri="{BB962C8B-B14F-4D97-AF65-F5344CB8AC3E}">
        <p14:creationId xmlns:p14="http://schemas.microsoft.com/office/powerpoint/2010/main" val="27821797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b="1" dirty="0"/>
              <a:t>4. Foot and leg protection</a:t>
            </a:r>
            <a:endParaRPr lang="en-US" dirty="0"/>
          </a:p>
        </p:txBody>
      </p:sp>
      <p:sp>
        <p:nvSpPr>
          <p:cNvPr id="7" name="Content Placeholder 2"/>
          <p:cNvSpPr>
            <a:spLocks noGrp="1"/>
          </p:cNvSpPr>
          <p:nvPr>
            <p:ph idx="1"/>
          </p:nvPr>
        </p:nvSpPr>
        <p:spPr/>
        <p:txBody>
          <a:bodyPr>
            <a:normAutofit/>
          </a:bodyPr>
          <a:lstStyle/>
          <a:p>
            <a:pPr>
              <a:lnSpc>
                <a:spcPct val="90000"/>
              </a:lnSpc>
            </a:pPr>
            <a:r>
              <a:rPr lang="en-US" dirty="0">
                <a:solidFill>
                  <a:srgbClr val="000000"/>
                </a:solidFill>
              </a:rPr>
              <a:t>Protection from hazards</a:t>
            </a:r>
          </a:p>
          <a:p>
            <a:pPr lvl="1">
              <a:lnSpc>
                <a:spcPct val="90000"/>
              </a:lnSpc>
            </a:pPr>
            <a:r>
              <a:rPr lang="en-US" dirty="0">
                <a:solidFill>
                  <a:srgbClr val="000000"/>
                </a:solidFill>
              </a:rPr>
              <a:t>Shoes with metal toe-cap protects against knocks, falling objects</a:t>
            </a:r>
          </a:p>
          <a:p>
            <a:pPr lvl="1">
              <a:lnSpc>
                <a:spcPct val="90000"/>
              </a:lnSpc>
            </a:pPr>
            <a:r>
              <a:rPr lang="en-US" dirty="0">
                <a:solidFill>
                  <a:srgbClr val="000000"/>
                </a:solidFill>
                <a:ea typeface="Tahoma" panose="020B0604030504040204" pitchFamily="34" charset="0"/>
              </a:rPr>
              <a:t>Rubber shoes protect against chemical materials, as directed </a:t>
            </a:r>
            <a:br>
              <a:rPr lang="en-US" dirty="0">
                <a:solidFill>
                  <a:srgbClr val="000000"/>
                </a:solidFill>
                <a:ea typeface="Tahoma" panose="020B0604030504040204" pitchFamily="34" charset="0"/>
              </a:rPr>
            </a:br>
            <a:r>
              <a:rPr lang="en-US" dirty="0">
                <a:solidFill>
                  <a:srgbClr val="000000"/>
                </a:solidFill>
                <a:ea typeface="Tahoma" panose="020B0604030504040204" pitchFamily="34" charset="0"/>
              </a:rPr>
              <a:t>by the SDS</a:t>
            </a:r>
          </a:p>
        </p:txBody>
      </p:sp>
      <p:pic>
        <p:nvPicPr>
          <p:cNvPr id="2" name="Picture 1" title="foot and leg protec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800" y="1524000"/>
            <a:ext cx="1905000" cy="1536700"/>
          </a:xfrm>
          <a:prstGeom prst="rect">
            <a:avLst/>
          </a:prstGeom>
          <a:ln>
            <a:solidFill>
              <a:schemeClr val="tx1"/>
            </a:solidFill>
          </a:ln>
        </p:spPr>
      </p:pic>
      <p:pic>
        <p:nvPicPr>
          <p:cNvPr id="3" name="Picture 2" title="foot and leg protecti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4800" y="3233184"/>
            <a:ext cx="1905000" cy="2215116"/>
          </a:xfrm>
          <a:prstGeom prst="rect">
            <a:avLst/>
          </a:prstGeom>
          <a:ln>
            <a:solidFill>
              <a:schemeClr val="tx1"/>
            </a:solidFill>
          </a:ln>
        </p:spPr>
      </p:pic>
      <p:pic>
        <p:nvPicPr>
          <p:cNvPr id="5" name="Picture 4" title="foot and leg protectio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81413" y="4013200"/>
            <a:ext cx="1905000" cy="1435100"/>
          </a:xfrm>
          <a:prstGeom prst="rect">
            <a:avLst/>
          </a:prstGeom>
          <a:ln>
            <a:solidFill>
              <a:schemeClr val="tx1"/>
            </a:solidFill>
          </a:ln>
        </p:spPr>
      </p:pic>
      <p:sp>
        <p:nvSpPr>
          <p:cNvPr id="8" name="TextBox 7"/>
          <p:cNvSpPr txBox="1"/>
          <p:nvPr/>
        </p:nvSpPr>
        <p:spPr>
          <a:xfrm>
            <a:off x="5486401" y="5867400"/>
            <a:ext cx="1428749" cy="215444"/>
          </a:xfrm>
          <a:prstGeom prst="rect">
            <a:avLst/>
          </a:prstGeom>
          <a:noFill/>
        </p:spPr>
        <p:txBody>
          <a:bodyPr wrap="square" rtlCol="0">
            <a:spAutoFit/>
          </a:bodyPr>
          <a:lstStyle/>
          <a:p>
            <a:pPr algn="ctr"/>
            <a:r>
              <a:rPr lang="en-US" sz="800" dirty="0"/>
              <a:t>Source of photos: OSHA</a:t>
            </a:r>
          </a:p>
        </p:txBody>
      </p:sp>
    </p:spTree>
    <p:extLst>
      <p:ext uri="{BB962C8B-B14F-4D97-AF65-F5344CB8AC3E}">
        <p14:creationId xmlns:p14="http://schemas.microsoft.com/office/powerpoint/2010/main" val="8202338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8063B-B7A9-98AC-2AB0-DDE3F31770F8}"/>
              </a:ext>
            </a:extLst>
          </p:cNvPr>
          <p:cNvSpPr>
            <a:spLocks noGrp="1"/>
          </p:cNvSpPr>
          <p:nvPr>
            <p:ph type="title"/>
          </p:nvPr>
        </p:nvSpPr>
        <p:spPr>
          <a:xfrm>
            <a:off x="838200" y="365126"/>
            <a:ext cx="10515600" cy="817632"/>
          </a:xfrm>
        </p:spPr>
        <p:txBody>
          <a:bodyPr/>
          <a:lstStyle/>
          <a:p>
            <a:r>
              <a:rPr lang="en-IN" sz="4400" b="1" i="0" u="none" strike="noStrike" baseline="0" dirty="0"/>
              <a:t>5. Hand and arm protection</a:t>
            </a:r>
            <a:endParaRPr lang="en-IN" dirty="0"/>
          </a:p>
        </p:txBody>
      </p:sp>
      <p:sp>
        <p:nvSpPr>
          <p:cNvPr id="3" name="Content Placeholder 2">
            <a:extLst>
              <a:ext uri="{FF2B5EF4-FFF2-40B4-BE49-F238E27FC236}">
                <a16:creationId xmlns:a16="http://schemas.microsoft.com/office/drawing/2014/main" id="{A03F7E6C-C2AC-C333-A61B-159B4E757349}"/>
              </a:ext>
            </a:extLst>
          </p:cNvPr>
          <p:cNvSpPr>
            <a:spLocks noGrp="1"/>
          </p:cNvSpPr>
          <p:nvPr>
            <p:ph idx="1"/>
          </p:nvPr>
        </p:nvSpPr>
        <p:spPr>
          <a:xfrm>
            <a:off x="838200" y="1302026"/>
            <a:ext cx="10515600" cy="5426765"/>
          </a:xfrm>
        </p:spPr>
        <p:txBody>
          <a:bodyPr>
            <a:normAutofit fontScale="92500" lnSpcReduction="10000"/>
          </a:bodyPr>
          <a:lstStyle/>
          <a:p>
            <a:pPr algn="l"/>
            <a:r>
              <a:rPr lang="en-US" sz="2600" b="0" i="0" u="none" strike="noStrike" baseline="0" dirty="0">
                <a:latin typeface="Calibri" panose="020F0502020204030204" pitchFamily="34" charset="0"/>
              </a:rPr>
              <a:t>Hand and finger injuries account for 18% of all disabling injuries and about 25% of all industrial </a:t>
            </a:r>
            <a:r>
              <a:rPr lang="en-IN" sz="2600" b="0" i="0" u="none" strike="noStrike" baseline="0" dirty="0">
                <a:latin typeface="Calibri" panose="020F0502020204030204" pitchFamily="34" charset="0"/>
              </a:rPr>
              <a:t>workplace accidents</a:t>
            </a:r>
          </a:p>
          <a:p>
            <a:pPr algn="l"/>
            <a:r>
              <a:rPr lang="en-US" sz="2600" b="0" i="0" u="none" strike="noStrike" baseline="0" dirty="0">
                <a:latin typeface="Calibri" panose="020F0502020204030204" pitchFamily="34" charset="0"/>
              </a:rPr>
              <a:t>Some factors that influence the selection of protective gloves:</a:t>
            </a:r>
            <a:endParaRPr lang="en-US" b="0" i="0" u="none" strike="noStrike" baseline="0" dirty="0">
              <a:latin typeface="Calibri" panose="020F0502020204030204" pitchFamily="34" charset="0"/>
            </a:endParaRPr>
          </a:p>
          <a:p>
            <a:pPr lvl="1"/>
            <a:r>
              <a:rPr lang="en-IN" sz="2200" b="0" i="0" u="none" strike="noStrike" baseline="0" dirty="0">
                <a:latin typeface="Calibri" panose="020F0502020204030204" pitchFamily="34" charset="0"/>
              </a:rPr>
              <a:t>Type of chemicals handled.</a:t>
            </a:r>
          </a:p>
          <a:p>
            <a:pPr lvl="1"/>
            <a:r>
              <a:rPr lang="en-US" sz="2200" b="0" i="0" u="none" strike="noStrike" baseline="0" dirty="0">
                <a:latin typeface="Calibri" panose="020F0502020204030204" pitchFamily="34" charset="0"/>
              </a:rPr>
              <a:t>Nature of contact (total immersion, splash, etc.).</a:t>
            </a:r>
          </a:p>
          <a:p>
            <a:pPr lvl="1"/>
            <a:r>
              <a:rPr lang="en-IN" sz="2200" b="0" i="0" u="none" strike="noStrike" baseline="0" dirty="0">
                <a:latin typeface="Calibri" panose="020F0502020204030204" pitchFamily="34" charset="0"/>
              </a:rPr>
              <a:t>Duration of contact. </a:t>
            </a:r>
          </a:p>
          <a:p>
            <a:pPr lvl="1"/>
            <a:r>
              <a:rPr lang="en-US" sz="2200" b="0" i="0" u="none" strike="noStrike" baseline="0" dirty="0">
                <a:latin typeface="Calibri" panose="020F0502020204030204" pitchFamily="34" charset="0"/>
              </a:rPr>
              <a:t>Area requiring protection (hand only, forearm, arm).</a:t>
            </a:r>
          </a:p>
          <a:p>
            <a:pPr lvl="1"/>
            <a:r>
              <a:rPr lang="en-US" sz="2200" b="0" i="0" u="none" strike="noStrike" baseline="0" dirty="0">
                <a:latin typeface="Calibri" panose="020F0502020204030204" pitchFamily="34" charset="0"/>
              </a:rPr>
              <a:t>Grip requirements (dry, wet, oily).</a:t>
            </a:r>
          </a:p>
          <a:p>
            <a:pPr lvl="1"/>
            <a:r>
              <a:rPr lang="en-IN" sz="2200" b="0" i="0" u="none" strike="noStrike" baseline="0" dirty="0">
                <a:latin typeface="Calibri" panose="020F0502020204030204" pitchFamily="34" charset="0"/>
              </a:rPr>
              <a:t>Thermal protection.</a:t>
            </a:r>
          </a:p>
          <a:p>
            <a:pPr lvl="1"/>
            <a:r>
              <a:rPr lang="en-IN" sz="2200" b="0" i="0" u="none" strike="noStrike" baseline="0" dirty="0">
                <a:latin typeface="Calibri" panose="020F0502020204030204" pitchFamily="34" charset="0"/>
              </a:rPr>
              <a:t>Size and comfort.</a:t>
            </a:r>
          </a:p>
          <a:p>
            <a:pPr lvl="1"/>
            <a:r>
              <a:rPr lang="en-IN" sz="2200" b="0" i="0" u="none" strike="noStrike" baseline="0" dirty="0">
                <a:latin typeface="Calibri" panose="020F0502020204030204" pitchFamily="34" charset="0"/>
              </a:rPr>
              <a:t>Abrasion/resistance requirements.</a:t>
            </a:r>
          </a:p>
          <a:p>
            <a:pPr algn="l"/>
            <a:r>
              <a:rPr lang="en-US" b="0" i="0" u="none" strike="noStrike" baseline="0" dirty="0">
                <a:latin typeface="Calibri" panose="020F0502020204030204" pitchFamily="34" charset="0"/>
              </a:rPr>
              <a:t> </a:t>
            </a:r>
            <a:r>
              <a:rPr lang="en-US" sz="2600" b="0" i="0" u="none" strike="noStrike" baseline="0" dirty="0">
                <a:latin typeface="Calibri" panose="020F0502020204030204" pitchFamily="34" charset="0"/>
              </a:rPr>
              <a:t>Glove materials fall into 4 groups</a:t>
            </a:r>
            <a:endParaRPr lang="en-US" b="0" i="0" u="none" strike="noStrike" baseline="0" dirty="0">
              <a:latin typeface="Calibri" panose="020F0502020204030204" pitchFamily="34" charset="0"/>
            </a:endParaRPr>
          </a:p>
          <a:p>
            <a:pPr lvl="1"/>
            <a:r>
              <a:rPr lang="en-US" sz="2200" b="0" i="0" u="none" strike="noStrike" baseline="0" dirty="0">
                <a:latin typeface="Calibri" panose="020F0502020204030204" pitchFamily="34" charset="0"/>
              </a:rPr>
              <a:t>Leather, canvas, or metal mesh</a:t>
            </a:r>
          </a:p>
          <a:p>
            <a:pPr lvl="1"/>
            <a:r>
              <a:rPr lang="en-US" sz="2200" b="0" i="0" u="none" strike="noStrike" baseline="0" dirty="0">
                <a:latin typeface="Calibri" panose="020F0502020204030204" pitchFamily="34" charset="0"/>
              </a:rPr>
              <a:t>Fabric and coated fabric gloves</a:t>
            </a:r>
          </a:p>
          <a:p>
            <a:pPr lvl="1"/>
            <a:r>
              <a:rPr lang="en-IN" sz="2200" b="0" i="0" u="none" strike="noStrike" baseline="0" dirty="0">
                <a:latin typeface="Calibri" panose="020F0502020204030204" pitchFamily="34" charset="0"/>
              </a:rPr>
              <a:t>Chemical- and liquid-resistant gloves</a:t>
            </a:r>
          </a:p>
          <a:p>
            <a:pPr lvl="1"/>
            <a:r>
              <a:rPr lang="en-IN" sz="2200" b="0" i="0" u="none" strike="noStrike" baseline="0" dirty="0">
                <a:latin typeface="Calibri" panose="020F0502020204030204" pitchFamily="34" charset="0"/>
              </a:rPr>
              <a:t>Insulating rubber gloves</a:t>
            </a:r>
            <a:endParaRPr lang="en-IN" sz="3900" dirty="0"/>
          </a:p>
        </p:txBody>
      </p:sp>
    </p:spTree>
    <p:extLst>
      <p:ext uri="{BB962C8B-B14F-4D97-AF65-F5344CB8AC3E}">
        <p14:creationId xmlns:p14="http://schemas.microsoft.com/office/powerpoint/2010/main" val="38518870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896A8-DE9A-E2FA-7AF2-EC4AB58C7FCC}"/>
              </a:ext>
            </a:extLst>
          </p:cNvPr>
          <p:cNvSpPr>
            <a:spLocks noGrp="1"/>
          </p:cNvSpPr>
          <p:nvPr>
            <p:ph type="title"/>
          </p:nvPr>
        </p:nvSpPr>
        <p:spPr/>
        <p:txBody>
          <a:bodyPr/>
          <a:lstStyle/>
          <a:p>
            <a:r>
              <a:rPr lang="en-IN" sz="4400" b="1" i="0" u="none" strike="noStrike" baseline="0" dirty="0"/>
              <a:t>5. Hand and arm protection</a:t>
            </a:r>
            <a:endParaRPr lang="en-IN" dirty="0"/>
          </a:p>
        </p:txBody>
      </p:sp>
      <p:sp>
        <p:nvSpPr>
          <p:cNvPr id="3" name="Content Placeholder 2">
            <a:extLst>
              <a:ext uri="{FF2B5EF4-FFF2-40B4-BE49-F238E27FC236}">
                <a16:creationId xmlns:a16="http://schemas.microsoft.com/office/drawing/2014/main" id="{543BB479-4211-B7D4-D3AB-08D6ABF8D480}"/>
              </a:ext>
            </a:extLst>
          </p:cNvPr>
          <p:cNvSpPr>
            <a:spLocks noGrp="1"/>
          </p:cNvSpPr>
          <p:nvPr>
            <p:ph idx="1"/>
          </p:nvPr>
        </p:nvSpPr>
        <p:spPr/>
        <p:txBody>
          <a:bodyPr>
            <a:normAutofit/>
          </a:bodyPr>
          <a:lstStyle/>
          <a:p>
            <a:pPr algn="l"/>
            <a:r>
              <a:rPr lang="en-US" sz="2400" b="0" i="0" u="none" strike="noStrike" baseline="0" dirty="0"/>
              <a:t>There are four main types of hand and arm protection, these include:</a:t>
            </a:r>
          </a:p>
          <a:p>
            <a:pPr marL="914400" lvl="1" indent="-457200">
              <a:buFont typeface="+mj-lt"/>
              <a:buAutoNum type="arabicPeriod"/>
            </a:pPr>
            <a:r>
              <a:rPr lang="en-US" sz="2000" b="1" i="0" u="none" strike="noStrike" baseline="0" dirty="0"/>
              <a:t>Gloves </a:t>
            </a:r>
            <a:r>
              <a:rPr lang="en-US" sz="2000" b="0" i="0" u="none" strike="noStrike" baseline="0" dirty="0"/>
              <a:t>– These protect the hands, they can prevent blisters from occurring, and people from burning </a:t>
            </a:r>
            <a:r>
              <a:rPr lang="en-US" sz="2400" b="0" i="0" u="none" strike="noStrike" baseline="0" dirty="0"/>
              <a:t>themselves or getting splinters in their hands.</a:t>
            </a:r>
          </a:p>
          <a:p>
            <a:pPr marL="914400" lvl="1" indent="-457200">
              <a:buFont typeface="+mj-lt"/>
              <a:buAutoNum type="arabicPeriod"/>
            </a:pPr>
            <a:r>
              <a:rPr lang="en-US" sz="2000" b="1" i="0" u="none" strike="noStrike" baseline="0" dirty="0"/>
              <a:t>Gloves with cuffs </a:t>
            </a:r>
            <a:r>
              <a:rPr lang="en-US" sz="2000" b="0" i="0" u="none" strike="noStrike" baseline="0" dirty="0"/>
              <a:t>– These protect both the hand and the wrists</a:t>
            </a:r>
          </a:p>
          <a:p>
            <a:pPr marL="914400" lvl="1" indent="-457200">
              <a:buFont typeface="+mj-lt"/>
              <a:buAutoNum type="arabicPeriod"/>
            </a:pPr>
            <a:r>
              <a:rPr lang="en-US" sz="2000" b="1" i="0" u="none" strike="noStrike" baseline="0" dirty="0"/>
              <a:t>Gauntlets, sleeves, and long gloves</a:t>
            </a:r>
            <a:r>
              <a:rPr lang="en-US" sz="2000" b="0" i="0" u="none" strike="noStrike" baseline="0" dirty="0"/>
              <a:t> – These provide protection for the hands, wrists, and parts of </a:t>
            </a:r>
            <a:r>
              <a:rPr lang="en-IN" sz="2400" b="0" i="0" u="none" strike="noStrike" baseline="0" dirty="0"/>
              <a:t>the forearms.</a:t>
            </a:r>
          </a:p>
          <a:p>
            <a:pPr marL="914400" lvl="1" indent="-457200">
              <a:buFont typeface="+mj-lt"/>
              <a:buAutoNum type="arabicPeriod"/>
            </a:pPr>
            <a:r>
              <a:rPr lang="en-US" sz="2000" b="1" i="0" u="none" strike="noStrike" baseline="0" dirty="0"/>
              <a:t>Sleeves and arm protection</a:t>
            </a:r>
            <a:r>
              <a:rPr lang="en-US" sz="2000" b="0" i="0" u="none" strike="noStrike" baseline="0" dirty="0"/>
              <a:t> – These can provide protection for the whole forearms and upper </a:t>
            </a:r>
            <a:r>
              <a:rPr lang="en-IN" sz="2000" b="0" i="0" u="none" strike="noStrike" baseline="0" dirty="0"/>
              <a:t>arms.</a:t>
            </a:r>
            <a:endParaRPr lang="en-IN" sz="3200" dirty="0"/>
          </a:p>
        </p:txBody>
      </p:sp>
    </p:spTree>
    <p:extLst>
      <p:ext uri="{BB962C8B-B14F-4D97-AF65-F5344CB8AC3E}">
        <p14:creationId xmlns:p14="http://schemas.microsoft.com/office/powerpoint/2010/main" val="19485777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4" title="hand protection"/>
          <p:cNvSpPr>
            <a:spLocks noChangeArrowheads="1"/>
          </p:cNvSpPr>
          <p:nvPr/>
        </p:nvSpPr>
        <p:spPr bwMode="auto">
          <a:xfrm>
            <a:off x="2667002" y="2793184"/>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1204" name="Rectangle 5" title="hand protection"/>
          <p:cNvSpPr>
            <a:spLocks noChangeArrowheads="1"/>
          </p:cNvSpPr>
          <p:nvPr/>
        </p:nvSpPr>
        <p:spPr bwMode="auto">
          <a:xfrm>
            <a:off x="2667002" y="2846763"/>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1205" name="Rectangle 7" title="hand protection"/>
          <p:cNvSpPr>
            <a:spLocks noChangeArrowheads="1"/>
          </p:cNvSpPr>
          <p:nvPr/>
        </p:nvSpPr>
        <p:spPr bwMode="auto">
          <a:xfrm>
            <a:off x="2667002" y="2864622"/>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1206" name="Rectangle 9" title="hand protection"/>
          <p:cNvSpPr>
            <a:spLocks noChangeArrowheads="1"/>
          </p:cNvSpPr>
          <p:nvPr/>
        </p:nvSpPr>
        <p:spPr bwMode="auto">
          <a:xfrm>
            <a:off x="2667002" y="2746750"/>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1207" name="Rectangle 10" title="hand protection"/>
          <p:cNvSpPr>
            <a:spLocks noChangeArrowheads="1"/>
          </p:cNvSpPr>
          <p:nvPr/>
        </p:nvSpPr>
        <p:spPr bwMode="auto">
          <a:xfrm>
            <a:off x="2667002" y="2800328"/>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4" name="Title 3"/>
          <p:cNvSpPr>
            <a:spLocks noGrp="1"/>
          </p:cNvSpPr>
          <p:nvPr>
            <p:ph type="title"/>
          </p:nvPr>
        </p:nvSpPr>
        <p:spPr/>
        <p:txBody>
          <a:bodyPr>
            <a:noAutofit/>
          </a:bodyPr>
          <a:lstStyle/>
          <a:p>
            <a:pPr algn="l"/>
            <a:r>
              <a:rPr lang="en-IN" sz="4800" b="1" i="0" u="none" strike="noStrike" baseline="0" dirty="0"/>
              <a:t>5. Hand and arm protection</a:t>
            </a:r>
            <a:endParaRPr lang="en-US" sz="4800" dirty="0"/>
          </a:p>
        </p:txBody>
      </p:sp>
      <p:sp>
        <p:nvSpPr>
          <p:cNvPr id="14" name="Content Placeholder 2"/>
          <p:cNvSpPr>
            <a:spLocks noGrp="1"/>
          </p:cNvSpPr>
          <p:nvPr>
            <p:ph idx="1"/>
          </p:nvPr>
        </p:nvSpPr>
        <p:spPr/>
        <p:txBody>
          <a:bodyPr/>
          <a:lstStyle/>
          <a:p>
            <a:r>
              <a:rPr lang="en-US" dirty="0"/>
              <a:t>Potential hazards for hands</a:t>
            </a:r>
          </a:p>
          <a:p>
            <a:pPr lvl="1"/>
            <a:r>
              <a:rPr lang="en-US" dirty="0"/>
              <a:t>Skin absorption of hazardous substances</a:t>
            </a:r>
          </a:p>
          <a:p>
            <a:pPr lvl="1"/>
            <a:r>
              <a:rPr lang="en-US" dirty="0"/>
              <a:t>Lacerations or severe cuts</a:t>
            </a:r>
          </a:p>
          <a:p>
            <a:pPr lvl="1"/>
            <a:r>
              <a:rPr lang="en-US" dirty="0"/>
              <a:t>Punctures</a:t>
            </a:r>
          </a:p>
          <a:p>
            <a:pPr lvl="1"/>
            <a:r>
              <a:rPr lang="en-US" dirty="0"/>
              <a:t>Chemical burns</a:t>
            </a:r>
          </a:p>
          <a:p>
            <a:pPr lvl="1"/>
            <a:r>
              <a:rPr lang="en-US" dirty="0"/>
              <a:t>Thermal burns</a:t>
            </a:r>
          </a:p>
          <a:p>
            <a:pPr lvl="1"/>
            <a:r>
              <a:rPr lang="en-US" dirty="0"/>
              <a:t>Extreme temperatures</a:t>
            </a:r>
          </a:p>
        </p:txBody>
      </p:sp>
      <p:grpSp>
        <p:nvGrpSpPr>
          <p:cNvPr id="3" name="Group 2" title="hand protection"/>
          <p:cNvGrpSpPr/>
          <p:nvPr/>
        </p:nvGrpSpPr>
        <p:grpSpPr>
          <a:xfrm>
            <a:off x="7351409" y="1027906"/>
            <a:ext cx="3859930" cy="5149057"/>
            <a:chOff x="6393938" y="1270273"/>
            <a:chExt cx="2151245" cy="4736371"/>
          </a:xfrm>
        </p:grpSpPr>
        <p:sp>
          <p:nvSpPr>
            <p:cNvPr id="2" name="TextBox 1"/>
            <p:cNvSpPr txBox="1"/>
            <p:nvPr/>
          </p:nvSpPr>
          <p:spPr>
            <a:xfrm>
              <a:off x="7079738" y="5791200"/>
              <a:ext cx="1465445" cy="215444"/>
            </a:xfrm>
            <a:prstGeom prst="rect">
              <a:avLst/>
            </a:prstGeom>
            <a:noFill/>
          </p:spPr>
          <p:txBody>
            <a:bodyPr wrap="square" rtlCol="0">
              <a:spAutoFit/>
            </a:bodyPr>
            <a:lstStyle/>
            <a:p>
              <a:pPr algn="r"/>
              <a:r>
                <a:rPr lang="en-US" sz="800" dirty="0"/>
                <a:t>Source of photos: OSHA</a:t>
              </a:r>
            </a:p>
          </p:txBody>
        </p:sp>
        <p:pic>
          <p:nvPicPr>
            <p:cNvPr id="6" name="Picture 5" title="hand protec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5961" y="4527822"/>
              <a:ext cx="1579222" cy="1263378"/>
            </a:xfrm>
            <a:prstGeom prst="rect">
              <a:avLst/>
            </a:prstGeom>
          </p:spPr>
        </p:pic>
        <p:pic>
          <p:nvPicPr>
            <p:cNvPr id="8" name="Picture 7" title="hand protection"/>
            <p:cNvPicPr>
              <a:picLocks noChangeAspect="1"/>
            </p:cNvPicPr>
            <p:nvPr/>
          </p:nvPicPr>
          <p:blipFill rotWithShape="1">
            <a:blip r:embed="rId4">
              <a:extLst>
                <a:ext uri="{28A0092B-C50C-407E-A947-70E740481C1C}">
                  <a14:useLocalDpi xmlns:a14="http://schemas.microsoft.com/office/drawing/2010/main" val="0"/>
                </a:ext>
              </a:extLst>
            </a:blip>
            <a:srcRect l="23930" r="11399"/>
            <a:stretch/>
          </p:blipFill>
          <p:spPr>
            <a:xfrm>
              <a:off x="6393938" y="2800328"/>
              <a:ext cx="1371600" cy="1586433"/>
            </a:xfrm>
            <a:prstGeom prst="rect">
              <a:avLst/>
            </a:prstGeom>
            <a:ln>
              <a:solidFill>
                <a:schemeClr val="tx1"/>
              </a:solidFill>
            </a:ln>
          </p:spPr>
        </p:pic>
        <p:pic>
          <p:nvPicPr>
            <p:cNvPr id="9" name="Picture 8" title="hand protectio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6380" y="1270273"/>
              <a:ext cx="1788803" cy="1341602"/>
            </a:xfrm>
            <a:prstGeom prst="rect">
              <a:avLst/>
            </a:prstGeom>
            <a:ln>
              <a:solidFill>
                <a:schemeClr val="tx1"/>
              </a:solidFill>
            </a:ln>
          </p:spPr>
        </p:pic>
      </p:grpSp>
    </p:spTree>
    <p:extLst>
      <p:ext uri="{BB962C8B-B14F-4D97-AF65-F5344CB8AC3E}">
        <p14:creationId xmlns:p14="http://schemas.microsoft.com/office/powerpoint/2010/main" val="264531598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73229" y="5906784"/>
            <a:ext cx="1428749" cy="215444"/>
          </a:xfrm>
          <a:prstGeom prst="rect">
            <a:avLst/>
          </a:prstGeom>
          <a:noFill/>
        </p:spPr>
        <p:txBody>
          <a:bodyPr wrap="square" rtlCol="0">
            <a:spAutoFit/>
          </a:bodyPr>
          <a:lstStyle/>
          <a:p>
            <a:pPr algn="ctr"/>
            <a:r>
              <a:rPr lang="en-US" sz="800" dirty="0"/>
              <a:t>Source of photos: OSHA</a:t>
            </a:r>
          </a:p>
        </p:txBody>
      </p:sp>
      <p:grpSp>
        <p:nvGrpSpPr>
          <p:cNvPr id="2" name="Group 1" title="Types of Gloves"/>
          <p:cNvGrpSpPr/>
          <p:nvPr/>
        </p:nvGrpSpPr>
        <p:grpSpPr>
          <a:xfrm>
            <a:off x="2282298" y="1910058"/>
            <a:ext cx="7531122" cy="4061027"/>
            <a:chOff x="758298" y="1910057"/>
            <a:chExt cx="7531122" cy="4061027"/>
          </a:xfrm>
        </p:grpSpPr>
        <p:sp>
          <p:nvSpPr>
            <p:cNvPr id="7" name="Rectangle 4"/>
            <p:cNvSpPr>
              <a:spLocks noChangeArrowheads="1"/>
            </p:cNvSpPr>
            <p:nvPr/>
          </p:nvSpPr>
          <p:spPr bwMode="auto">
            <a:xfrm>
              <a:off x="1104860" y="3204710"/>
              <a:ext cx="16573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p>
              <a:pPr algn="ctr" eaLnBrk="0" hangingPunct="0">
                <a:spcBef>
                  <a:spcPct val="50000"/>
                </a:spcBef>
              </a:pPr>
              <a:r>
                <a:rPr lang="en-US" sz="1500" dirty="0">
                  <a:solidFill>
                    <a:srgbClr val="000000"/>
                  </a:solidFill>
                  <a:latin typeface="Tahoma" panose="020B0604030504040204" pitchFamily="34" charset="0"/>
                  <a:ea typeface="Tahoma" panose="020B0604030504040204" pitchFamily="34" charset="0"/>
                  <a:cs typeface="Tahoma" panose="020B0604030504040204" pitchFamily="34" charset="0"/>
                </a:rPr>
                <a:t>Anti-vibration</a:t>
              </a:r>
            </a:p>
          </p:txBody>
        </p:sp>
        <p:sp>
          <p:nvSpPr>
            <p:cNvPr id="8" name="Rectangle 5"/>
            <p:cNvSpPr>
              <a:spLocks noChangeArrowheads="1"/>
            </p:cNvSpPr>
            <p:nvPr/>
          </p:nvSpPr>
          <p:spPr bwMode="auto">
            <a:xfrm>
              <a:off x="3668443" y="5447741"/>
              <a:ext cx="15430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eaLnBrk="0" hangingPunct="0">
                <a:spcBef>
                  <a:spcPct val="50000"/>
                </a:spcBef>
              </a:pPr>
              <a:r>
                <a:rPr lang="en-US" sz="1500" dirty="0">
                  <a:solidFill>
                    <a:srgbClr val="000000"/>
                  </a:solidFill>
                  <a:latin typeface="Tahoma" panose="020B0604030504040204" pitchFamily="34" charset="0"/>
                  <a:ea typeface="Tahoma" panose="020B0604030504040204" pitchFamily="34" charset="0"/>
                  <a:cs typeface="Tahoma" panose="020B0604030504040204" pitchFamily="34" charset="0"/>
                </a:rPr>
                <a:t>Heat-resistant</a:t>
              </a:r>
            </a:p>
          </p:txBody>
        </p:sp>
        <p:sp>
          <p:nvSpPr>
            <p:cNvPr id="9" name="Rectangle 9"/>
            <p:cNvSpPr>
              <a:spLocks noChangeArrowheads="1"/>
            </p:cNvSpPr>
            <p:nvPr/>
          </p:nvSpPr>
          <p:spPr bwMode="auto">
            <a:xfrm>
              <a:off x="6060570" y="3354993"/>
              <a:ext cx="22288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p>
              <a:pPr algn="ctr" eaLnBrk="0" hangingPunct="0">
                <a:spcBef>
                  <a:spcPct val="50000"/>
                </a:spcBef>
              </a:pPr>
              <a:r>
                <a:rPr lang="en-US" sz="1500" dirty="0">
                  <a:solidFill>
                    <a:srgbClr val="000000"/>
                  </a:solidFill>
                  <a:latin typeface="Tahoma" panose="020B0604030504040204" pitchFamily="34" charset="0"/>
                  <a:ea typeface="Tahoma" panose="020B0604030504040204" pitchFamily="34" charset="0"/>
                  <a:cs typeface="Tahoma" panose="020B0604030504040204" pitchFamily="34" charset="0"/>
                </a:rPr>
                <a:t>Leather Palm</a:t>
              </a:r>
            </a:p>
          </p:txBody>
        </p:sp>
        <p:sp>
          <p:nvSpPr>
            <p:cNvPr id="10" name="Rectangle 14"/>
            <p:cNvSpPr>
              <a:spLocks noChangeArrowheads="1"/>
            </p:cNvSpPr>
            <p:nvPr/>
          </p:nvSpPr>
          <p:spPr bwMode="auto">
            <a:xfrm>
              <a:off x="6346320" y="5540873"/>
              <a:ext cx="194310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eaLnBrk="0" hangingPunct="0">
                <a:spcBef>
                  <a:spcPct val="50000"/>
                </a:spcBef>
              </a:pPr>
              <a:r>
                <a:rPr lang="en-US" sz="1500" dirty="0">
                  <a:solidFill>
                    <a:srgbClr val="000000"/>
                  </a:solidFill>
                  <a:latin typeface="Tahoma" panose="020B0604030504040204" pitchFamily="34" charset="0"/>
                  <a:ea typeface="Tahoma" panose="020B0604030504040204" pitchFamily="34" charset="0"/>
                  <a:cs typeface="Tahoma" panose="020B0604030504040204" pitchFamily="34" charset="0"/>
                </a:rPr>
                <a:t>Cut-resistant</a:t>
              </a:r>
            </a:p>
          </p:txBody>
        </p:sp>
        <p:sp>
          <p:nvSpPr>
            <p:cNvPr id="17" name="Rectangle 14"/>
            <p:cNvSpPr>
              <a:spLocks noChangeArrowheads="1"/>
            </p:cNvSpPr>
            <p:nvPr/>
          </p:nvSpPr>
          <p:spPr bwMode="auto">
            <a:xfrm>
              <a:off x="758298" y="5670519"/>
              <a:ext cx="22288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eaLnBrk="0" hangingPunct="0">
                <a:spcBef>
                  <a:spcPct val="50000"/>
                </a:spcBef>
              </a:pPr>
              <a:r>
                <a:rPr lang="en-US" sz="1500" dirty="0">
                  <a:solidFill>
                    <a:srgbClr val="000000"/>
                  </a:solidFill>
                  <a:latin typeface="Tahoma" panose="020B0604030504040204" pitchFamily="34" charset="0"/>
                  <a:ea typeface="Tahoma" panose="020B0604030504040204" pitchFamily="34" charset="0"/>
                  <a:cs typeface="Tahoma" panose="020B0604030504040204" pitchFamily="34" charset="0"/>
                </a:rPr>
                <a:t>Permeation-resistant</a:t>
              </a:r>
            </a:p>
          </p:txBody>
        </p:sp>
        <p:sp>
          <p:nvSpPr>
            <p:cNvPr id="4" name="TextBox 3"/>
            <p:cNvSpPr txBox="1"/>
            <p:nvPr/>
          </p:nvSpPr>
          <p:spPr>
            <a:xfrm>
              <a:off x="3648235" y="3417241"/>
              <a:ext cx="2020201" cy="323165"/>
            </a:xfrm>
            <a:prstGeom prst="rect">
              <a:avLst/>
            </a:prstGeom>
            <a:noFill/>
          </p:spPr>
          <p:txBody>
            <a:bodyPr wrap="square" rtlCol="0">
              <a:spAutoFit/>
            </a:bodyPr>
            <a:lstStyle/>
            <a:p>
              <a:r>
                <a:rPr lang="en-US" sz="1500" dirty="0">
                  <a:latin typeface="Tahoma" panose="020B0604030504040204" pitchFamily="34" charset="0"/>
                  <a:ea typeface="Tahoma" panose="020B0604030504040204" pitchFamily="34" charset="0"/>
                  <a:cs typeface="Tahoma" panose="020B0604030504040204" pitchFamily="34" charset="0"/>
                </a:rPr>
                <a:t>Chemical-resistant</a:t>
              </a:r>
            </a:p>
          </p:txBody>
        </p:sp>
        <p:pic>
          <p:nvPicPr>
            <p:cNvPr id="5" name="Picture 4" title="Types of Glov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2717" y="4026398"/>
              <a:ext cx="1562100" cy="1514475"/>
            </a:xfrm>
            <a:prstGeom prst="rect">
              <a:avLst/>
            </a:prstGeom>
            <a:ln>
              <a:solidFill>
                <a:schemeClr val="tx1"/>
              </a:solidFill>
            </a:ln>
          </p:spPr>
        </p:pic>
        <p:pic>
          <p:nvPicPr>
            <p:cNvPr id="6" name="Picture 5" title="Types of Glove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6040" y="4026398"/>
              <a:ext cx="1895124" cy="1421343"/>
            </a:xfrm>
            <a:prstGeom prst="rect">
              <a:avLst/>
            </a:prstGeom>
            <a:ln>
              <a:solidFill>
                <a:schemeClr val="tx1"/>
              </a:solidFill>
            </a:ln>
          </p:spPr>
        </p:pic>
        <p:pic>
          <p:nvPicPr>
            <p:cNvPr id="18" name="Picture 17" title="Types of Gloves"/>
            <p:cNvPicPr>
              <a:picLocks noChangeAspect="1"/>
            </p:cNvPicPr>
            <p:nvPr/>
          </p:nvPicPr>
          <p:blipFill rotWithShape="1">
            <a:blip r:embed="rId5">
              <a:extLst>
                <a:ext uri="{28A0092B-C50C-407E-A947-70E740481C1C}">
                  <a14:useLocalDpi xmlns:a14="http://schemas.microsoft.com/office/drawing/2010/main" val="0"/>
                </a:ext>
              </a:extLst>
            </a:blip>
            <a:srcRect l="13220" t="9068" r="8618" b="8173"/>
            <a:stretch/>
          </p:blipFill>
          <p:spPr>
            <a:xfrm>
              <a:off x="1122445" y="1923796"/>
              <a:ext cx="1841257" cy="1299711"/>
            </a:xfrm>
            <a:prstGeom prst="rect">
              <a:avLst/>
            </a:prstGeom>
            <a:ln>
              <a:solidFill>
                <a:schemeClr val="tx1"/>
              </a:solidFill>
            </a:ln>
          </p:spPr>
        </p:pic>
        <p:pic>
          <p:nvPicPr>
            <p:cNvPr id="19" name="Picture 18" title="Types of Gloves"/>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1771" y="1910057"/>
              <a:ext cx="1593046" cy="1473568"/>
            </a:xfrm>
            <a:prstGeom prst="rect">
              <a:avLst/>
            </a:prstGeom>
            <a:ln>
              <a:solidFill>
                <a:schemeClr val="tx1"/>
              </a:solidFill>
            </a:ln>
          </p:spPr>
        </p:pic>
        <p:pic>
          <p:nvPicPr>
            <p:cNvPr id="20" name="Picture 19" title="Types of Glove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92004" y="1923796"/>
              <a:ext cx="1759991" cy="1459233"/>
            </a:xfrm>
            <a:prstGeom prst="rect">
              <a:avLst/>
            </a:prstGeom>
            <a:ln>
              <a:solidFill>
                <a:schemeClr val="tx1"/>
              </a:solidFill>
            </a:ln>
          </p:spPr>
        </p:pic>
        <p:pic>
          <p:nvPicPr>
            <p:cNvPr id="21" name="Picture 20" title="Types of Glove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52485" y="3803619"/>
              <a:ext cx="1428750" cy="1866900"/>
            </a:xfrm>
            <a:prstGeom prst="rect">
              <a:avLst/>
            </a:prstGeom>
            <a:ln>
              <a:solidFill>
                <a:schemeClr val="tx1"/>
              </a:solidFill>
            </a:ln>
          </p:spPr>
        </p:pic>
      </p:grpSp>
      <p:sp>
        <p:nvSpPr>
          <p:cNvPr id="13" name="Content Placeholder 12"/>
          <p:cNvSpPr>
            <a:spLocks noGrp="1"/>
          </p:cNvSpPr>
          <p:nvPr>
            <p:ph idx="1"/>
          </p:nvPr>
        </p:nvSpPr>
        <p:spPr>
          <a:xfrm>
            <a:off x="2438400" y="1086939"/>
            <a:ext cx="7315200" cy="1026270"/>
          </a:xfrm>
        </p:spPr>
        <p:txBody>
          <a:bodyPr/>
          <a:lstStyle/>
          <a:p>
            <a:r>
              <a:rPr lang="en-US" dirty="0"/>
              <a:t>Types of gloves</a:t>
            </a:r>
          </a:p>
        </p:txBody>
      </p:sp>
      <p:sp>
        <p:nvSpPr>
          <p:cNvPr id="11" name="Title 10"/>
          <p:cNvSpPr>
            <a:spLocks noGrp="1"/>
          </p:cNvSpPr>
          <p:nvPr>
            <p:ph type="title"/>
          </p:nvPr>
        </p:nvSpPr>
        <p:spPr>
          <a:xfrm>
            <a:off x="612058" y="177975"/>
            <a:ext cx="10515600" cy="952001"/>
          </a:xfrm>
        </p:spPr>
        <p:txBody>
          <a:bodyPr/>
          <a:lstStyle/>
          <a:p>
            <a:r>
              <a:rPr lang="en-IN" sz="4400" b="1" i="0" u="none" strike="noStrike" baseline="0" dirty="0"/>
              <a:t>5. Hand and arm protection</a:t>
            </a:r>
            <a:endParaRPr lang="en-US" dirty="0"/>
          </a:p>
        </p:txBody>
      </p:sp>
    </p:spTree>
    <p:extLst>
      <p:ext uri="{BB962C8B-B14F-4D97-AF65-F5344CB8AC3E}">
        <p14:creationId xmlns:p14="http://schemas.microsoft.com/office/powerpoint/2010/main" val="26421059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Body protection</a:t>
            </a:r>
          </a:p>
        </p:txBody>
      </p:sp>
      <p:sp>
        <p:nvSpPr>
          <p:cNvPr id="7" name="Content Placeholder 6"/>
          <p:cNvSpPr>
            <a:spLocks noGrp="1"/>
          </p:cNvSpPr>
          <p:nvPr>
            <p:ph idx="1"/>
          </p:nvPr>
        </p:nvSpPr>
        <p:spPr>
          <a:xfrm>
            <a:off x="1480931" y="2233776"/>
            <a:ext cx="4371973" cy="1905000"/>
          </a:xfrm>
        </p:spPr>
        <p:txBody>
          <a:bodyPr/>
          <a:lstStyle/>
          <a:p>
            <a:pPr marL="0" indent="0">
              <a:buNone/>
            </a:pPr>
            <a:r>
              <a:rPr lang="en-US" dirty="0"/>
              <a:t>protective clothing</a:t>
            </a:r>
          </a:p>
        </p:txBody>
      </p:sp>
      <p:pic>
        <p:nvPicPr>
          <p:cNvPr id="3" name="Picture 2" title="Body Protecti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4082" y="3429000"/>
            <a:ext cx="2540000" cy="1905000"/>
          </a:xfrm>
          <a:prstGeom prst="rect">
            <a:avLst/>
          </a:prstGeom>
          <a:ln>
            <a:solidFill>
              <a:schemeClr val="tx1"/>
            </a:solidFill>
          </a:ln>
        </p:spPr>
      </p:pic>
      <p:pic>
        <p:nvPicPr>
          <p:cNvPr id="4" name="Picture 3" title="Body Protection"/>
          <p:cNvPicPr>
            <a:picLocks noChangeAspect="1"/>
          </p:cNvPicPr>
          <p:nvPr/>
        </p:nvPicPr>
        <p:blipFill rotWithShape="1">
          <a:blip r:embed="rId3">
            <a:extLst>
              <a:ext uri="{28A0092B-C50C-407E-A947-70E740481C1C}">
                <a14:useLocalDpi xmlns:a14="http://schemas.microsoft.com/office/drawing/2010/main" val="0"/>
              </a:ext>
            </a:extLst>
          </a:blip>
          <a:srcRect b="30580"/>
          <a:stretch/>
        </p:blipFill>
        <p:spPr>
          <a:xfrm>
            <a:off x="7304282" y="1473842"/>
            <a:ext cx="2209801" cy="1534045"/>
          </a:xfrm>
          <a:prstGeom prst="rect">
            <a:avLst/>
          </a:prstGeom>
          <a:ln>
            <a:solidFill>
              <a:schemeClr val="tx1"/>
            </a:solidFill>
          </a:ln>
        </p:spPr>
      </p:pic>
      <p:pic>
        <p:nvPicPr>
          <p:cNvPr id="6" name="Picture 5" title="Body Protecti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5601" y="3458308"/>
            <a:ext cx="2041071" cy="1905000"/>
          </a:xfrm>
          <a:prstGeom prst="rect">
            <a:avLst/>
          </a:prstGeom>
          <a:ln>
            <a:solidFill>
              <a:schemeClr val="tx1"/>
            </a:solidFill>
          </a:ln>
        </p:spPr>
      </p:pic>
      <p:sp>
        <p:nvSpPr>
          <p:cNvPr id="10" name="TextBox 9"/>
          <p:cNvSpPr txBox="1"/>
          <p:nvPr/>
        </p:nvSpPr>
        <p:spPr>
          <a:xfrm>
            <a:off x="5381625" y="5791200"/>
            <a:ext cx="1428749" cy="215444"/>
          </a:xfrm>
          <a:prstGeom prst="rect">
            <a:avLst/>
          </a:prstGeom>
          <a:noFill/>
        </p:spPr>
        <p:txBody>
          <a:bodyPr wrap="square" rtlCol="0">
            <a:spAutoFit/>
          </a:bodyPr>
          <a:lstStyle/>
          <a:p>
            <a:pPr algn="ctr"/>
            <a:r>
              <a:rPr lang="en-US" sz="800" dirty="0"/>
              <a:t>Source of photos: OSHA</a:t>
            </a:r>
          </a:p>
        </p:txBody>
      </p:sp>
    </p:spTree>
    <p:extLst>
      <p:ext uri="{BB962C8B-B14F-4D97-AF65-F5344CB8AC3E}">
        <p14:creationId xmlns:p14="http://schemas.microsoft.com/office/powerpoint/2010/main" val="9735627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824949" y="1550504"/>
            <a:ext cx="7064344" cy="4316896"/>
          </a:xfrm>
          <a:noFill/>
        </p:spPr>
        <p:txBody>
          <a:bodyPr vert="horz" lIns="69056" tIns="34529" rIns="69056" bIns="34529" rtlCol="0">
            <a:normAutofit/>
          </a:bodyPr>
          <a:lstStyle/>
          <a:p>
            <a:pPr>
              <a:lnSpc>
                <a:spcPct val="90000"/>
              </a:lnSpc>
            </a:pPr>
            <a:r>
              <a:rPr lang="en-US" sz="2400" dirty="0"/>
              <a:t>Provide protective clothing for those parts of the body exposed to possible injuries</a:t>
            </a:r>
          </a:p>
          <a:p>
            <a:pPr>
              <a:lnSpc>
                <a:spcPct val="90000"/>
              </a:lnSpc>
            </a:pPr>
            <a:r>
              <a:rPr lang="en-US" sz="2400" dirty="0"/>
              <a:t>Types of body protection</a:t>
            </a:r>
            <a:endParaRPr lang="en-US" dirty="0"/>
          </a:p>
          <a:p>
            <a:pPr lvl="1">
              <a:lnSpc>
                <a:spcPct val="90000"/>
              </a:lnSpc>
            </a:pPr>
            <a:r>
              <a:rPr lang="en-US" dirty="0"/>
              <a:t>Laboratory coats</a:t>
            </a:r>
          </a:p>
          <a:p>
            <a:pPr lvl="1">
              <a:lnSpc>
                <a:spcPct val="90000"/>
              </a:lnSpc>
            </a:pPr>
            <a:r>
              <a:rPr lang="en-US" dirty="0"/>
              <a:t>Coveralls</a:t>
            </a:r>
          </a:p>
          <a:p>
            <a:pPr lvl="1">
              <a:lnSpc>
                <a:spcPct val="90000"/>
              </a:lnSpc>
            </a:pPr>
            <a:r>
              <a:rPr lang="en-US" dirty="0"/>
              <a:t>Vests</a:t>
            </a:r>
          </a:p>
          <a:p>
            <a:pPr lvl="1">
              <a:lnSpc>
                <a:spcPct val="90000"/>
              </a:lnSpc>
            </a:pPr>
            <a:r>
              <a:rPr lang="en-US" dirty="0"/>
              <a:t>Jackets</a:t>
            </a:r>
          </a:p>
          <a:p>
            <a:pPr lvl="1">
              <a:lnSpc>
                <a:spcPct val="90000"/>
              </a:lnSpc>
            </a:pPr>
            <a:r>
              <a:rPr lang="en-US" dirty="0"/>
              <a:t>Aprons</a:t>
            </a:r>
          </a:p>
          <a:p>
            <a:pPr lvl="1">
              <a:lnSpc>
                <a:spcPct val="90000"/>
              </a:lnSpc>
            </a:pPr>
            <a:r>
              <a:rPr lang="en-US" dirty="0"/>
              <a:t>Surgical gowns</a:t>
            </a:r>
          </a:p>
          <a:p>
            <a:pPr lvl="1">
              <a:lnSpc>
                <a:spcPct val="90000"/>
              </a:lnSpc>
            </a:pPr>
            <a:r>
              <a:rPr lang="en-US" dirty="0"/>
              <a:t>Full-body suits</a:t>
            </a:r>
            <a:endParaRPr lang="en-US" b="1" dirty="0"/>
          </a:p>
        </p:txBody>
      </p:sp>
      <p:pic>
        <p:nvPicPr>
          <p:cNvPr id="57348" name="Picture 4" title="Body Protection"/>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01000" y="1219201"/>
            <a:ext cx="1888770" cy="1548493"/>
          </a:xfrm>
          <a:prstGeom prst="rect">
            <a:avLst/>
          </a:prstGeom>
          <a:solidFill>
            <a:srgbClr val="FFFFFF">
              <a:shade val="85000"/>
            </a:srgbClr>
          </a:solidFill>
          <a:ln w="12700" cap="sq">
            <a:solidFill>
              <a:schemeClr val="tx1"/>
            </a:solidFill>
            <a:miter lim="800000"/>
          </a:ln>
          <a:effectLst/>
          <a:scene3d>
            <a:camera prst="orthographicFront"/>
            <a:lightRig rig="twoPt" dir="t">
              <a:rot lat="0" lon="0" rev="7200000"/>
            </a:lightRig>
          </a:scene3d>
          <a:sp3d>
            <a:bevelT w="25400" h="19050"/>
            <a:contourClr>
              <a:srgbClr val="FFFFFF"/>
            </a:contourClr>
          </a:sp3d>
        </p:spPr>
      </p:pic>
      <p:sp>
        <p:nvSpPr>
          <p:cNvPr id="2" name="Rectangle 1"/>
          <p:cNvSpPr/>
          <p:nvPr/>
        </p:nvSpPr>
        <p:spPr>
          <a:xfrm>
            <a:off x="8520008" y="5029444"/>
            <a:ext cx="1436213" cy="215444"/>
          </a:xfrm>
          <a:prstGeom prst="rect">
            <a:avLst/>
          </a:prstGeom>
        </p:spPr>
        <p:txBody>
          <a:bodyPr wrap="square">
            <a:spAutoFit/>
          </a:bodyPr>
          <a:lstStyle/>
          <a:p>
            <a:pPr algn="r"/>
            <a:r>
              <a:rPr lang="en-US" sz="800" dirty="0"/>
              <a:t>Source of photos: OSHA</a:t>
            </a:r>
          </a:p>
        </p:txBody>
      </p:sp>
      <p:pic>
        <p:nvPicPr>
          <p:cNvPr id="9" name="Picture 8" title="Body Protecti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5742" y="3095416"/>
            <a:ext cx="1934029" cy="1934029"/>
          </a:xfrm>
          <a:prstGeom prst="rect">
            <a:avLst/>
          </a:prstGeom>
          <a:ln>
            <a:solidFill>
              <a:schemeClr val="tx1"/>
            </a:solidFill>
          </a:ln>
        </p:spPr>
      </p:pic>
      <p:sp>
        <p:nvSpPr>
          <p:cNvPr id="3" name="Title 2"/>
          <p:cNvSpPr>
            <a:spLocks noGrp="1"/>
          </p:cNvSpPr>
          <p:nvPr>
            <p:ph type="title"/>
          </p:nvPr>
        </p:nvSpPr>
        <p:spPr>
          <a:xfrm>
            <a:off x="553491" y="464441"/>
            <a:ext cx="10515600" cy="854075"/>
          </a:xfrm>
        </p:spPr>
        <p:txBody>
          <a:bodyPr/>
          <a:lstStyle/>
          <a:p>
            <a:r>
              <a:rPr lang="en-US" dirty="0"/>
              <a:t>6. Body protection</a:t>
            </a:r>
          </a:p>
        </p:txBody>
      </p:sp>
    </p:spTree>
    <p:extLst>
      <p:ext uri="{BB962C8B-B14F-4D97-AF65-F5344CB8AC3E}">
        <p14:creationId xmlns:p14="http://schemas.microsoft.com/office/powerpoint/2010/main" val="21694069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2342979" y="1082034"/>
            <a:ext cx="5546313" cy="5013966"/>
          </a:xfrm>
          <a:noFill/>
        </p:spPr>
        <p:txBody>
          <a:bodyPr vert="horz" lIns="69056" tIns="34529" rIns="69056" bIns="34529" rtlCol="0">
            <a:normAutofit/>
          </a:bodyPr>
          <a:lstStyle/>
          <a:p>
            <a:pPr marL="514350" indent="-457200"/>
            <a:r>
              <a:rPr lang="en-US" dirty="0"/>
              <a:t>Selection of body protection – </a:t>
            </a:r>
            <a:r>
              <a:rPr lang="en-US" sz="2600" dirty="0"/>
              <a:t>variety of materials effective against particular hazard</a:t>
            </a:r>
          </a:p>
          <a:p>
            <a:pPr marL="914400" lvl="1" indent="-457200"/>
            <a:r>
              <a:rPr lang="en-US" dirty="0"/>
              <a:t>Paper-like fiber – dust and splashes</a:t>
            </a:r>
          </a:p>
          <a:p>
            <a:pPr marL="914400" lvl="1" indent="-457200"/>
            <a:r>
              <a:rPr lang="en-US" dirty="0"/>
              <a:t>Treated wool and cotton – fire-resistant; dust, abrasions, rough/irritating surfaces</a:t>
            </a:r>
          </a:p>
          <a:p>
            <a:pPr marL="914400" lvl="1" indent="-457200"/>
            <a:r>
              <a:rPr lang="en-US" dirty="0"/>
              <a:t>Duck – cuts, bruises</a:t>
            </a:r>
          </a:p>
          <a:p>
            <a:pPr marL="914400" lvl="1" indent="-457200"/>
            <a:r>
              <a:rPr lang="en-US" dirty="0"/>
              <a:t>Leather – dry heat, flames</a:t>
            </a:r>
          </a:p>
          <a:p>
            <a:pPr marL="914400" lvl="1" indent="-457200"/>
            <a:r>
              <a:rPr lang="en-US" dirty="0"/>
              <a:t>Rubber, rubberized fabrics, neoprene, and plastics – certain chemicals and physical hazards</a:t>
            </a:r>
          </a:p>
        </p:txBody>
      </p:sp>
      <p:sp>
        <p:nvSpPr>
          <p:cNvPr id="2" name="Rectangle 1"/>
          <p:cNvSpPr/>
          <p:nvPr/>
        </p:nvSpPr>
        <p:spPr>
          <a:xfrm>
            <a:off x="8576061" y="5481405"/>
            <a:ext cx="1436213" cy="215444"/>
          </a:xfrm>
          <a:prstGeom prst="rect">
            <a:avLst/>
          </a:prstGeom>
        </p:spPr>
        <p:txBody>
          <a:bodyPr wrap="square">
            <a:spAutoFit/>
          </a:bodyPr>
          <a:lstStyle/>
          <a:p>
            <a:pPr algn="r"/>
            <a:r>
              <a:rPr lang="en-US" sz="800" dirty="0"/>
              <a:t>Source of photos: OSHA</a:t>
            </a:r>
          </a:p>
        </p:txBody>
      </p:sp>
      <p:graphicFrame>
        <p:nvGraphicFramePr>
          <p:cNvPr id="10" name="Object 5" title="Body Protection"/>
          <p:cNvGraphicFramePr>
            <a:graphicFrameLocks noChangeAspect="1"/>
          </p:cNvGraphicFramePr>
          <p:nvPr/>
        </p:nvGraphicFramePr>
        <p:xfrm>
          <a:off x="8863491" y="2819401"/>
          <a:ext cx="1148782" cy="2662005"/>
        </p:xfrm>
        <a:graphic>
          <a:graphicData uri="http://schemas.openxmlformats.org/presentationml/2006/ole">
            <mc:AlternateContent xmlns:mc="http://schemas.openxmlformats.org/markup-compatibility/2006">
              <mc:Choice xmlns:v="urn:schemas-microsoft-com:vml" Requires="v">
                <p:oleObj name="Bitmap Image" r:id="rId3" imgW="1333333" imgH="3095238" progId="Paint.Picture">
                  <p:embed/>
                </p:oleObj>
              </mc:Choice>
              <mc:Fallback>
                <p:oleObj name="Bitmap Image" r:id="rId3" imgW="1333333" imgH="3095238" progId="Paint.Picture">
                  <p:embed/>
                  <p:pic>
                    <p:nvPicPr>
                      <p:cNvPr id="10" name="Object 5" title="Body Protec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63491" y="2819401"/>
                        <a:ext cx="1148782" cy="2662005"/>
                      </a:xfrm>
                      <a:prstGeom prst="rect">
                        <a:avLst/>
                      </a:prstGeom>
                      <a:noFill/>
                      <a:ln>
                        <a:solidFill>
                          <a:schemeClr val="tx1"/>
                        </a:solidFill>
                      </a:ln>
                    </p:spPr>
                  </p:pic>
                </p:oleObj>
              </mc:Fallback>
            </mc:AlternateContent>
          </a:graphicData>
        </a:graphic>
      </p:graphicFrame>
      <p:graphicFrame>
        <p:nvGraphicFramePr>
          <p:cNvPr id="8" name="Object 11" title="Body Protection"/>
          <p:cNvGraphicFramePr>
            <a:graphicFrameLocks noChangeAspect="1"/>
          </p:cNvGraphicFramePr>
          <p:nvPr/>
        </p:nvGraphicFramePr>
        <p:xfrm>
          <a:off x="7980044" y="1052727"/>
          <a:ext cx="1073205" cy="2494154"/>
        </p:xfrm>
        <a:graphic>
          <a:graphicData uri="http://schemas.openxmlformats.org/presentationml/2006/ole">
            <mc:AlternateContent xmlns:mc="http://schemas.openxmlformats.org/markup-compatibility/2006">
              <mc:Choice xmlns:v="urn:schemas-microsoft-com:vml" Requires="v">
                <p:oleObj name="Bitmap Image" r:id="rId5" imgW="819048" imgH="1905266" progId="Paint.Picture">
                  <p:embed/>
                </p:oleObj>
              </mc:Choice>
              <mc:Fallback>
                <p:oleObj name="Bitmap Image" r:id="rId5" imgW="819048" imgH="1905266" progId="Paint.Picture">
                  <p:embed/>
                  <p:pic>
                    <p:nvPicPr>
                      <p:cNvPr id="8" name="Object 11" title="Body Protec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80044" y="1052727"/>
                        <a:ext cx="1073205" cy="2494154"/>
                      </a:xfrm>
                      <a:prstGeom prst="rect">
                        <a:avLst/>
                      </a:prstGeom>
                      <a:noFill/>
                      <a:ln>
                        <a:solidFill>
                          <a:schemeClr val="tx1"/>
                        </a:solidFill>
                      </a:ln>
                    </p:spPr>
                  </p:pic>
                </p:oleObj>
              </mc:Fallback>
            </mc:AlternateContent>
          </a:graphicData>
        </a:graphic>
      </p:graphicFrame>
      <p:sp>
        <p:nvSpPr>
          <p:cNvPr id="3" name="Title 2"/>
          <p:cNvSpPr>
            <a:spLocks noGrp="1"/>
          </p:cNvSpPr>
          <p:nvPr>
            <p:ph type="title"/>
          </p:nvPr>
        </p:nvSpPr>
        <p:spPr>
          <a:xfrm>
            <a:off x="533400" y="148816"/>
            <a:ext cx="10515600" cy="796026"/>
          </a:xfrm>
        </p:spPr>
        <p:txBody>
          <a:bodyPr/>
          <a:lstStyle/>
          <a:p>
            <a:r>
              <a:rPr lang="en-US" dirty="0"/>
              <a:t>6. Body protection</a:t>
            </a:r>
          </a:p>
        </p:txBody>
      </p:sp>
    </p:spTree>
    <p:extLst>
      <p:ext uri="{BB962C8B-B14F-4D97-AF65-F5344CB8AC3E}">
        <p14:creationId xmlns:p14="http://schemas.microsoft.com/office/powerpoint/2010/main" val="18844349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6" title="Level A PPE"/>
          <p:cNvSpPr>
            <a:spLocks noChangeArrowheads="1"/>
          </p:cNvSpPr>
          <p:nvPr/>
        </p:nvSpPr>
        <p:spPr bwMode="auto">
          <a:xfrm>
            <a:off x="2667002" y="2053806"/>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8" name="Rectangle 8" title="Level A PPE"/>
          <p:cNvSpPr>
            <a:spLocks noChangeArrowheads="1"/>
          </p:cNvSpPr>
          <p:nvPr/>
        </p:nvSpPr>
        <p:spPr bwMode="auto">
          <a:xfrm>
            <a:off x="2667002" y="266459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9" name="Rectangle 10" title="Level A PPE"/>
          <p:cNvSpPr>
            <a:spLocks noChangeArrowheads="1"/>
          </p:cNvSpPr>
          <p:nvPr/>
        </p:nvSpPr>
        <p:spPr bwMode="auto">
          <a:xfrm>
            <a:off x="2667002" y="289676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400" name="Rectangle 12" title="Level A PPE"/>
          <p:cNvSpPr>
            <a:spLocks noChangeArrowheads="1"/>
          </p:cNvSpPr>
          <p:nvPr/>
        </p:nvSpPr>
        <p:spPr bwMode="auto">
          <a:xfrm>
            <a:off x="2667002" y="215024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14" name="Rectangle 3"/>
          <p:cNvSpPr>
            <a:spLocks noGrp="1" noChangeArrowheads="1"/>
          </p:cNvSpPr>
          <p:nvPr>
            <p:ph idx="1"/>
          </p:nvPr>
        </p:nvSpPr>
        <p:spPr>
          <a:xfrm>
            <a:off x="2209800" y="1219890"/>
            <a:ext cx="7772401" cy="4723711"/>
          </a:xfrm>
          <a:noFill/>
        </p:spPr>
        <p:txBody>
          <a:bodyPr vert="horz" lIns="69056" tIns="34529" rIns="69056" bIns="34529" rtlCol="0">
            <a:normAutofit/>
          </a:bodyPr>
          <a:lstStyle/>
          <a:p>
            <a:pPr>
              <a:lnSpc>
                <a:spcPct val="90000"/>
              </a:lnSpc>
            </a:pPr>
            <a:r>
              <a:rPr lang="en-US" dirty="0"/>
              <a:t>Protective clothing is required for HAZWOPER activities</a:t>
            </a:r>
          </a:p>
          <a:p>
            <a:pPr>
              <a:lnSpc>
                <a:spcPct val="90000"/>
              </a:lnSpc>
            </a:pPr>
            <a:r>
              <a:rPr lang="en-US" dirty="0"/>
              <a:t>EPA’s levels of PPE</a:t>
            </a:r>
          </a:p>
          <a:p>
            <a:pPr lvl="1">
              <a:lnSpc>
                <a:spcPct val="90000"/>
              </a:lnSpc>
            </a:pPr>
            <a:r>
              <a:rPr lang="en-US" b="1" dirty="0"/>
              <a:t>Level A</a:t>
            </a:r>
          </a:p>
          <a:p>
            <a:pPr lvl="2">
              <a:lnSpc>
                <a:spcPct val="90000"/>
              </a:lnSpc>
            </a:pPr>
            <a:r>
              <a:rPr lang="en-US" dirty="0"/>
              <a:t>Provides highest level of protection</a:t>
            </a:r>
          </a:p>
          <a:p>
            <a:pPr lvl="2">
              <a:lnSpc>
                <a:spcPct val="90000"/>
              </a:lnSpc>
            </a:pPr>
            <a:r>
              <a:rPr lang="en-US" dirty="0"/>
              <a:t>Required when greatest potential for exposure exists and greatest level of skin, respiratory, and eye protection is required</a:t>
            </a:r>
          </a:p>
          <a:p>
            <a:pPr lvl="2">
              <a:lnSpc>
                <a:spcPct val="90000"/>
              </a:lnSpc>
            </a:pPr>
            <a:r>
              <a:rPr lang="en-US" dirty="0"/>
              <a:t>Examples</a:t>
            </a:r>
          </a:p>
          <a:p>
            <a:pPr lvl="3">
              <a:lnSpc>
                <a:spcPct val="90000"/>
              </a:lnSpc>
            </a:pPr>
            <a:r>
              <a:rPr lang="en-US" sz="1600" dirty="0"/>
              <a:t>Positive pressure, full </a:t>
            </a:r>
            <a:r>
              <a:rPr lang="en-US" sz="1600" dirty="0" err="1"/>
              <a:t>facepiece</a:t>
            </a:r>
            <a:r>
              <a:rPr lang="en-US" sz="1600" dirty="0"/>
              <a:t> SCBA, or positive pressure supplied air respirator with escape SCBA</a:t>
            </a:r>
          </a:p>
          <a:p>
            <a:pPr lvl="3">
              <a:lnSpc>
                <a:spcPct val="90000"/>
              </a:lnSpc>
            </a:pPr>
            <a:r>
              <a:rPr lang="en-US" sz="1600" dirty="0"/>
              <a:t>Totally encapsulated chemical- and vapor-protective suit</a:t>
            </a:r>
          </a:p>
          <a:p>
            <a:pPr lvl="3">
              <a:lnSpc>
                <a:spcPct val="90000"/>
              </a:lnSpc>
            </a:pPr>
            <a:r>
              <a:rPr lang="en-US" sz="1600" dirty="0"/>
              <a:t>Inner and outer chemical-resistant gloves</a:t>
            </a:r>
          </a:p>
          <a:p>
            <a:pPr lvl="3">
              <a:lnSpc>
                <a:spcPct val="90000"/>
              </a:lnSpc>
            </a:pPr>
            <a:r>
              <a:rPr lang="en-US" sz="1600" dirty="0"/>
              <a:t>Disposable protective suit, gloves, and boots </a:t>
            </a:r>
          </a:p>
        </p:txBody>
      </p:sp>
      <p:sp>
        <p:nvSpPr>
          <p:cNvPr id="2" name="Title 1"/>
          <p:cNvSpPr>
            <a:spLocks noGrp="1"/>
          </p:cNvSpPr>
          <p:nvPr>
            <p:ph type="title"/>
          </p:nvPr>
        </p:nvSpPr>
        <p:spPr/>
        <p:txBody>
          <a:bodyPr/>
          <a:lstStyle/>
          <a:p>
            <a:r>
              <a:rPr lang="en-US" dirty="0"/>
              <a:t>6. Body protection</a:t>
            </a:r>
          </a:p>
        </p:txBody>
      </p:sp>
    </p:spTree>
    <p:extLst>
      <p:ext uri="{BB962C8B-B14F-4D97-AF65-F5344CB8AC3E}">
        <p14:creationId xmlns:p14="http://schemas.microsoft.com/office/powerpoint/2010/main" val="19721174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6" title="Level B PPE"/>
          <p:cNvSpPr>
            <a:spLocks noChangeArrowheads="1"/>
          </p:cNvSpPr>
          <p:nvPr/>
        </p:nvSpPr>
        <p:spPr bwMode="auto">
          <a:xfrm>
            <a:off x="2667002" y="2053806"/>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8" name="Rectangle 8" title="Level B PPE"/>
          <p:cNvSpPr>
            <a:spLocks noChangeArrowheads="1"/>
          </p:cNvSpPr>
          <p:nvPr/>
        </p:nvSpPr>
        <p:spPr bwMode="auto">
          <a:xfrm>
            <a:off x="2667002" y="266459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9" name="Rectangle 10" title="Level B PPE"/>
          <p:cNvSpPr>
            <a:spLocks noChangeArrowheads="1"/>
          </p:cNvSpPr>
          <p:nvPr/>
        </p:nvSpPr>
        <p:spPr bwMode="auto">
          <a:xfrm>
            <a:off x="2667002" y="289676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400" name="Rectangle 12" title="Level B PPE"/>
          <p:cNvSpPr>
            <a:spLocks noChangeArrowheads="1"/>
          </p:cNvSpPr>
          <p:nvPr/>
        </p:nvSpPr>
        <p:spPr bwMode="auto">
          <a:xfrm>
            <a:off x="2667002" y="215024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14" name="Rectangle 3"/>
          <p:cNvSpPr>
            <a:spLocks noGrp="1" noChangeArrowheads="1"/>
          </p:cNvSpPr>
          <p:nvPr>
            <p:ph idx="1"/>
          </p:nvPr>
        </p:nvSpPr>
        <p:spPr>
          <a:xfrm>
            <a:off x="2438400" y="1219890"/>
            <a:ext cx="7315200" cy="4578765"/>
          </a:xfrm>
          <a:noFill/>
        </p:spPr>
        <p:txBody>
          <a:bodyPr vert="horz" lIns="69056" tIns="34529" rIns="69056" bIns="34529" rtlCol="0">
            <a:normAutofit/>
          </a:bodyPr>
          <a:lstStyle/>
          <a:p>
            <a:pPr lvl="1">
              <a:lnSpc>
                <a:spcPct val="90000"/>
              </a:lnSpc>
            </a:pPr>
            <a:r>
              <a:rPr lang="en-US" b="1" dirty="0"/>
              <a:t>Level B</a:t>
            </a:r>
          </a:p>
          <a:p>
            <a:pPr lvl="2">
              <a:lnSpc>
                <a:spcPct val="90000"/>
              </a:lnSpc>
            </a:pPr>
            <a:r>
              <a:rPr lang="en-US" dirty="0"/>
              <a:t>Required for highest level of respiratory protection and lesser level of skin protection</a:t>
            </a:r>
          </a:p>
          <a:p>
            <a:pPr lvl="2">
              <a:lnSpc>
                <a:spcPct val="90000"/>
              </a:lnSpc>
            </a:pPr>
            <a:r>
              <a:rPr lang="en-US" dirty="0"/>
              <a:t>Examples</a:t>
            </a:r>
          </a:p>
          <a:p>
            <a:pPr lvl="3">
              <a:lnSpc>
                <a:spcPct val="90000"/>
              </a:lnSpc>
            </a:pPr>
            <a:r>
              <a:rPr lang="en-US" sz="1600" dirty="0"/>
              <a:t>Positive pressure, full </a:t>
            </a:r>
            <a:r>
              <a:rPr lang="en-US" sz="1600" dirty="0" err="1"/>
              <a:t>facepiece</a:t>
            </a:r>
            <a:r>
              <a:rPr lang="en-US" sz="1600" dirty="0"/>
              <a:t> SCBA, or positive pressure supplied air respirator with escape SCBA</a:t>
            </a:r>
          </a:p>
          <a:p>
            <a:pPr lvl="3">
              <a:lnSpc>
                <a:spcPct val="90000"/>
              </a:lnSpc>
            </a:pPr>
            <a:r>
              <a:rPr lang="en-US" sz="1600" dirty="0"/>
              <a:t>Inner and outer chemical-resistant gloves</a:t>
            </a:r>
          </a:p>
          <a:p>
            <a:pPr lvl="3">
              <a:lnSpc>
                <a:spcPct val="90000"/>
              </a:lnSpc>
            </a:pPr>
            <a:r>
              <a:rPr lang="en-US" sz="1600" dirty="0"/>
              <a:t>Face shield</a:t>
            </a:r>
          </a:p>
          <a:p>
            <a:pPr lvl="3">
              <a:lnSpc>
                <a:spcPct val="90000"/>
              </a:lnSpc>
            </a:pPr>
            <a:r>
              <a:rPr lang="en-US" sz="1600" dirty="0"/>
              <a:t>Hooded chemical-resistant clothing</a:t>
            </a:r>
          </a:p>
          <a:p>
            <a:pPr lvl="3">
              <a:lnSpc>
                <a:spcPct val="90000"/>
              </a:lnSpc>
            </a:pPr>
            <a:r>
              <a:rPr lang="en-US" sz="1600" dirty="0"/>
              <a:t>Coveralls</a:t>
            </a:r>
          </a:p>
          <a:p>
            <a:pPr lvl="3">
              <a:lnSpc>
                <a:spcPct val="90000"/>
              </a:lnSpc>
            </a:pPr>
            <a:r>
              <a:rPr lang="en-US" sz="1600" dirty="0"/>
              <a:t>Outer chemical-resistant boots</a:t>
            </a:r>
          </a:p>
        </p:txBody>
      </p:sp>
      <p:sp>
        <p:nvSpPr>
          <p:cNvPr id="2" name="Title 1"/>
          <p:cNvSpPr>
            <a:spLocks noGrp="1"/>
          </p:cNvSpPr>
          <p:nvPr>
            <p:ph type="title"/>
          </p:nvPr>
        </p:nvSpPr>
        <p:spPr/>
        <p:txBody>
          <a:bodyPr/>
          <a:lstStyle/>
          <a:p>
            <a:r>
              <a:rPr lang="en-US" dirty="0"/>
              <a:t>6. Body protection</a:t>
            </a:r>
          </a:p>
        </p:txBody>
      </p:sp>
    </p:spTree>
    <p:extLst>
      <p:ext uri="{BB962C8B-B14F-4D97-AF65-F5344CB8AC3E}">
        <p14:creationId xmlns:p14="http://schemas.microsoft.com/office/powerpoint/2010/main" val="41582190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6" title="Level C PPE"/>
          <p:cNvSpPr>
            <a:spLocks noChangeArrowheads="1"/>
          </p:cNvSpPr>
          <p:nvPr/>
        </p:nvSpPr>
        <p:spPr bwMode="auto">
          <a:xfrm>
            <a:off x="2667002" y="2053806"/>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8" name="Rectangle 8" title="Level C PPE"/>
          <p:cNvSpPr>
            <a:spLocks noChangeArrowheads="1"/>
          </p:cNvSpPr>
          <p:nvPr/>
        </p:nvSpPr>
        <p:spPr bwMode="auto">
          <a:xfrm>
            <a:off x="2667002" y="266459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9" name="Rectangle 10" title="Level C PPE"/>
          <p:cNvSpPr>
            <a:spLocks noChangeArrowheads="1"/>
          </p:cNvSpPr>
          <p:nvPr/>
        </p:nvSpPr>
        <p:spPr bwMode="auto">
          <a:xfrm>
            <a:off x="2667002" y="289676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400" name="Rectangle 12" title="Level C PPE"/>
          <p:cNvSpPr>
            <a:spLocks noChangeArrowheads="1"/>
          </p:cNvSpPr>
          <p:nvPr/>
        </p:nvSpPr>
        <p:spPr bwMode="auto">
          <a:xfrm>
            <a:off x="2667002" y="215024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14" name="Rectangle 3"/>
          <p:cNvSpPr>
            <a:spLocks noGrp="1" noChangeArrowheads="1"/>
          </p:cNvSpPr>
          <p:nvPr>
            <p:ph idx="1"/>
          </p:nvPr>
        </p:nvSpPr>
        <p:spPr>
          <a:xfrm>
            <a:off x="2438400" y="1219890"/>
            <a:ext cx="7315200" cy="4578765"/>
          </a:xfrm>
          <a:noFill/>
        </p:spPr>
        <p:txBody>
          <a:bodyPr vert="horz" lIns="69056" tIns="34529" rIns="69056" bIns="34529" rtlCol="0">
            <a:normAutofit/>
          </a:bodyPr>
          <a:lstStyle/>
          <a:p>
            <a:pPr lvl="1">
              <a:lnSpc>
                <a:spcPct val="90000"/>
              </a:lnSpc>
            </a:pPr>
            <a:r>
              <a:rPr lang="en-US" b="1" dirty="0"/>
              <a:t>Level C</a:t>
            </a:r>
          </a:p>
          <a:p>
            <a:pPr lvl="2">
              <a:lnSpc>
                <a:spcPct val="90000"/>
              </a:lnSpc>
            </a:pPr>
            <a:r>
              <a:rPr lang="en-US" dirty="0"/>
              <a:t>Required when concentration and type of airborne substances are known and criteria for using APR is met</a:t>
            </a:r>
          </a:p>
          <a:p>
            <a:pPr lvl="2">
              <a:lnSpc>
                <a:spcPct val="90000"/>
              </a:lnSpc>
            </a:pPr>
            <a:r>
              <a:rPr lang="en-US" dirty="0"/>
              <a:t>Examples</a:t>
            </a:r>
          </a:p>
          <a:p>
            <a:pPr lvl="3">
              <a:lnSpc>
                <a:spcPct val="90000"/>
              </a:lnSpc>
            </a:pPr>
            <a:r>
              <a:rPr lang="en-US" sz="1600" dirty="0"/>
              <a:t>Full-face air-purifying respirators</a:t>
            </a:r>
          </a:p>
          <a:p>
            <a:pPr lvl="3">
              <a:lnSpc>
                <a:spcPct val="90000"/>
              </a:lnSpc>
            </a:pPr>
            <a:r>
              <a:rPr lang="en-US" sz="1600" dirty="0"/>
              <a:t>Inner and outer chemical-resistant gloves</a:t>
            </a:r>
          </a:p>
          <a:p>
            <a:pPr lvl="3">
              <a:lnSpc>
                <a:spcPct val="90000"/>
              </a:lnSpc>
            </a:pPr>
            <a:r>
              <a:rPr lang="en-US" sz="1600" dirty="0"/>
              <a:t>Hard hat</a:t>
            </a:r>
          </a:p>
          <a:p>
            <a:pPr lvl="3">
              <a:lnSpc>
                <a:spcPct val="90000"/>
              </a:lnSpc>
            </a:pPr>
            <a:r>
              <a:rPr lang="en-US" sz="1600" dirty="0"/>
              <a:t>Escape mask</a:t>
            </a:r>
          </a:p>
          <a:p>
            <a:pPr lvl="3">
              <a:lnSpc>
                <a:spcPct val="90000"/>
              </a:lnSpc>
            </a:pPr>
            <a:r>
              <a:rPr lang="en-US" sz="1600" dirty="0"/>
              <a:t>Disposable chemical-resistant outer boots</a:t>
            </a:r>
          </a:p>
        </p:txBody>
      </p:sp>
      <p:sp>
        <p:nvSpPr>
          <p:cNvPr id="2" name="Title 1"/>
          <p:cNvSpPr>
            <a:spLocks noGrp="1"/>
          </p:cNvSpPr>
          <p:nvPr>
            <p:ph type="title"/>
          </p:nvPr>
        </p:nvSpPr>
        <p:spPr/>
        <p:txBody>
          <a:bodyPr/>
          <a:lstStyle/>
          <a:p>
            <a:r>
              <a:rPr lang="en-US" dirty="0"/>
              <a:t>6. Body protection</a:t>
            </a:r>
          </a:p>
        </p:txBody>
      </p:sp>
    </p:spTree>
    <p:extLst>
      <p:ext uri="{BB962C8B-B14F-4D97-AF65-F5344CB8AC3E}">
        <p14:creationId xmlns:p14="http://schemas.microsoft.com/office/powerpoint/2010/main" val="34071868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6" title="Level D PPE"/>
          <p:cNvSpPr>
            <a:spLocks noChangeArrowheads="1"/>
          </p:cNvSpPr>
          <p:nvPr/>
        </p:nvSpPr>
        <p:spPr bwMode="auto">
          <a:xfrm>
            <a:off x="2667002" y="2053806"/>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8" name="Rectangle 8" title="Level D PPE"/>
          <p:cNvSpPr>
            <a:spLocks noChangeArrowheads="1"/>
          </p:cNvSpPr>
          <p:nvPr/>
        </p:nvSpPr>
        <p:spPr bwMode="auto">
          <a:xfrm>
            <a:off x="2667002" y="266459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399" name="Rectangle 10" title="Level D PPE"/>
          <p:cNvSpPr>
            <a:spLocks noChangeArrowheads="1"/>
          </p:cNvSpPr>
          <p:nvPr/>
        </p:nvSpPr>
        <p:spPr bwMode="auto">
          <a:xfrm>
            <a:off x="2667002" y="2896769"/>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59400" name="Rectangle 12" title="Level D PPE"/>
          <p:cNvSpPr>
            <a:spLocks noChangeArrowheads="1"/>
          </p:cNvSpPr>
          <p:nvPr/>
        </p:nvSpPr>
        <p:spPr bwMode="auto">
          <a:xfrm>
            <a:off x="2667002" y="215024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chemeClr val="tx1"/>
                </a:solidFill>
                <a:latin typeface="Times New Roman" panose="02020603050405020304" pitchFamily="18" charset="0"/>
              </a:defRPr>
            </a:lvl1pPr>
            <a:lvl2pPr marL="742950" indent="-285750">
              <a:spcBef>
                <a:spcPct val="20000"/>
              </a:spcBef>
              <a:buClr>
                <a:schemeClr val="accent2"/>
              </a:buClr>
              <a:buSzPct val="55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a:spcBef>
                <a:spcPct val="20000"/>
              </a:spcBef>
              <a:buClr>
                <a:schemeClr val="accent2"/>
              </a:buClr>
              <a:buSzPct val="85000"/>
              <a:buFont typeface="Wingdings" panose="05000000000000000000" pitchFamily="2" charset="2"/>
              <a:buChar char="w"/>
              <a:defRPr sz="2000">
                <a:solidFill>
                  <a:schemeClr val="tx1"/>
                </a:solidFill>
                <a:latin typeface="Times New Roman" panose="02020603050405020304" pitchFamily="18" charset="0"/>
              </a:defRPr>
            </a:lvl4pPr>
            <a:lvl5pPr marL="2057400" indent="-228600">
              <a:spcBef>
                <a:spcPct val="20000"/>
              </a:spcBef>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a:solidFill>
                  <a:schemeClr val="tx1"/>
                </a:solidFill>
                <a:latin typeface="Times New Roman" panose="02020603050405020304" pitchFamily="18" charset="0"/>
              </a:defRPr>
            </a:lvl9pPr>
          </a:lstStyle>
          <a:p>
            <a:pPr>
              <a:spcBef>
                <a:spcPct val="0"/>
              </a:spcBef>
              <a:buClrTx/>
              <a:buFontTx/>
              <a:buNone/>
            </a:pPr>
            <a:endParaRPr lang="es-PR" sz="1350">
              <a:latin typeface="Arial" panose="020B0604020202020204" pitchFamily="34" charset="0"/>
            </a:endParaRPr>
          </a:p>
        </p:txBody>
      </p:sp>
      <p:sp>
        <p:nvSpPr>
          <p:cNvPr id="14" name="Rectangle 3"/>
          <p:cNvSpPr>
            <a:spLocks noGrp="1" noChangeArrowheads="1"/>
          </p:cNvSpPr>
          <p:nvPr>
            <p:ph idx="1"/>
          </p:nvPr>
        </p:nvSpPr>
        <p:spPr>
          <a:xfrm>
            <a:off x="2438400" y="1219890"/>
            <a:ext cx="7315200" cy="4578765"/>
          </a:xfrm>
          <a:noFill/>
        </p:spPr>
        <p:txBody>
          <a:bodyPr vert="horz" lIns="69056" tIns="34529" rIns="69056" bIns="34529" rtlCol="0">
            <a:normAutofit/>
          </a:bodyPr>
          <a:lstStyle/>
          <a:p>
            <a:pPr lvl="1">
              <a:lnSpc>
                <a:spcPct val="90000"/>
              </a:lnSpc>
            </a:pPr>
            <a:r>
              <a:rPr lang="en-US" b="1" dirty="0"/>
              <a:t>Level D</a:t>
            </a:r>
          </a:p>
          <a:p>
            <a:pPr lvl="2">
              <a:lnSpc>
                <a:spcPct val="90000"/>
              </a:lnSpc>
            </a:pPr>
            <a:r>
              <a:rPr lang="en-US" dirty="0"/>
              <a:t>Required when minimum protection is needed</a:t>
            </a:r>
          </a:p>
          <a:p>
            <a:pPr lvl="2">
              <a:lnSpc>
                <a:spcPct val="90000"/>
              </a:lnSpc>
            </a:pPr>
            <a:r>
              <a:rPr lang="en-US" dirty="0"/>
              <a:t>Sufficient when no contaminants are present or work operations preclude splashes, immersion, or potential for unexpected inhalation or contact</a:t>
            </a:r>
          </a:p>
          <a:p>
            <a:pPr lvl="2">
              <a:lnSpc>
                <a:spcPct val="90000"/>
              </a:lnSpc>
            </a:pPr>
            <a:r>
              <a:rPr lang="en-US" dirty="0"/>
              <a:t>Examples</a:t>
            </a:r>
          </a:p>
          <a:p>
            <a:pPr lvl="3">
              <a:lnSpc>
                <a:spcPct val="90000"/>
              </a:lnSpc>
            </a:pPr>
            <a:r>
              <a:rPr lang="en-US" sz="1600" dirty="0"/>
              <a:t>Gloves</a:t>
            </a:r>
          </a:p>
          <a:p>
            <a:pPr lvl="3">
              <a:lnSpc>
                <a:spcPct val="90000"/>
              </a:lnSpc>
            </a:pPr>
            <a:r>
              <a:rPr lang="en-US" sz="1600" dirty="0"/>
              <a:t>Coveralls</a:t>
            </a:r>
          </a:p>
          <a:p>
            <a:pPr lvl="3">
              <a:lnSpc>
                <a:spcPct val="90000"/>
              </a:lnSpc>
            </a:pPr>
            <a:r>
              <a:rPr lang="en-US" sz="1600" dirty="0"/>
              <a:t>Safety glasses</a:t>
            </a:r>
          </a:p>
          <a:p>
            <a:pPr lvl="3">
              <a:lnSpc>
                <a:spcPct val="90000"/>
              </a:lnSpc>
            </a:pPr>
            <a:r>
              <a:rPr lang="en-US" sz="1600" dirty="0"/>
              <a:t>Face shield</a:t>
            </a:r>
          </a:p>
          <a:p>
            <a:pPr lvl="3">
              <a:lnSpc>
                <a:spcPct val="90000"/>
              </a:lnSpc>
            </a:pPr>
            <a:r>
              <a:rPr lang="en-US" sz="1600" dirty="0"/>
              <a:t>Chemical-resistant, steel-toe boots or shoes</a:t>
            </a:r>
          </a:p>
        </p:txBody>
      </p:sp>
      <p:sp>
        <p:nvSpPr>
          <p:cNvPr id="2" name="Title 1"/>
          <p:cNvSpPr>
            <a:spLocks noGrp="1"/>
          </p:cNvSpPr>
          <p:nvPr>
            <p:ph type="title"/>
          </p:nvPr>
        </p:nvSpPr>
        <p:spPr/>
        <p:txBody>
          <a:bodyPr/>
          <a:lstStyle/>
          <a:p>
            <a:r>
              <a:rPr lang="en-US" dirty="0"/>
              <a:t>6. Body protection</a:t>
            </a:r>
          </a:p>
        </p:txBody>
      </p:sp>
    </p:spTree>
    <p:extLst>
      <p:ext uri="{BB962C8B-B14F-4D97-AF65-F5344CB8AC3E}">
        <p14:creationId xmlns:p14="http://schemas.microsoft.com/office/powerpoint/2010/main" val="1996392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3D25-7426-6165-0A90-A0C0DFD36E81}"/>
              </a:ext>
            </a:extLst>
          </p:cNvPr>
          <p:cNvSpPr>
            <a:spLocks noGrp="1"/>
          </p:cNvSpPr>
          <p:nvPr>
            <p:ph type="title"/>
          </p:nvPr>
        </p:nvSpPr>
        <p:spPr/>
        <p:txBody>
          <a:bodyPr/>
          <a:lstStyle/>
          <a:p>
            <a:r>
              <a:rPr lang="en-IN" sz="4400" i="0" u="none" strike="noStrike" baseline="0" dirty="0"/>
              <a:t>7. Fall protection systems</a:t>
            </a:r>
            <a:endParaRPr lang="en-IN" dirty="0"/>
          </a:p>
        </p:txBody>
      </p:sp>
      <p:sp>
        <p:nvSpPr>
          <p:cNvPr id="3" name="Content Placeholder 2">
            <a:extLst>
              <a:ext uri="{FF2B5EF4-FFF2-40B4-BE49-F238E27FC236}">
                <a16:creationId xmlns:a16="http://schemas.microsoft.com/office/drawing/2014/main" id="{73544615-4B2F-85CD-1D79-6D5830EE1EF7}"/>
              </a:ext>
            </a:extLst>
          </p:cNvPr>
          <p:cNvSpPr>
            <a:spLocks noGrp="1"/>
          </p:cNvSpPr>
          <p:nvPr>
            <p:ph idx="1"/>
          </p:nvPr>
        </p:nvSpPr>
        <p:spPr/>
        <p:txBody>
          <a:bodyPr>
            <a:normAutofit/>
          </a:bodyPr>
          <a:lstStyle/>
          <a:p>
            <a:pPr algn="l"/>
            <a:r>
              <a:rPr lang="en-US" sz="2400" b="0" i="0" u="none" strike="noStrike" baseline="0" dirty="0"/>
              <a:t>These can be used by individuals when they are working at height, and they can wear the harness, there are two main types of fall protection systems, these include:</a:t>
            </a:r>
          </a:p>
          <a:p>
            <a:pPr lvl="1"/>
            <a:r>
              <a:rPr lang="en-US" sz="2000" b="1" i="0" u="none" strike="noStrike" baseline="0" dirty="0"/>
              <a:t>Work restraint systems</a:t>
            </a:r>
            <a:r>
              <a:rPr lang="en-US" sz="2000" b="0" i="0" u="none" strike="noStrike" baseline="0" dirty="0"/>
              <a:t> – These prevent the user from reaching zones where the risk of a fall </a:t>
            </a:r>
            <a:r>
              <a:rPr lang="en-US" sz="2400" b="0" i="0" u="none" strike="noStrike" baseline="0" dirty="0"/>
              <a:t>exists, this means they will be protected from falling and hurting themselves</a:t>
            </a:r>
          </a:p>
          <a:p>
            <a:pPr lvl="1"/>
            <a:r>
              <a:rPr lang="en-US" sz="2000" b="1" i="0" u="none" strike="noStrike" baseline="0" dirty="0"/>
              <a:t>Work positioning systems</a:t>
            </a:r>
            <a:r>
              <a:rPr lang="en-US" sz="2000" b="0" i="0" u="none" strike="noStrike" baseline="0" dirty="0"/>
              <a:t> – These are similar to work restraint systems and allow the user to </a:t>
            </a:r>
            <a:r>
              <a:rPr lang="en-IN" sz="2000" b="0" i="0" u="none" strike="noStrike" baseline="0" dirty="0"/>
              <a:t>have </a:t>
            </a:r>
            <a:r>
              <a:rPr lang="en-US" sz="2000" b="0" i="0" u="none" strike="noStrike" baseline="0" dirty="0"/>
              <a:t>both hands for working. If using this system, you must always have a back up system in </a:t>
            </a:r>
            <a:r>
              <a:rPr lang="en-IN" sz="2000" b="0" i="0" u="none" strike="noStrike" baseline="0" dirty="0"/>
              <a:t>place.</a:t>
            </a:r>
            <a:endParaRPr lang="en-IN" sz="2000" dirty="0"/>
          </a:p>
        </p:txBody>
      </p:sp>
    </p:spTree>
    <p:extLst>
      <p:ext uri="{BB962C8B-B14F-4D97-AF65-F5344CB8AC3E}">
        <p14:creationId xmlns:p14="http://schemas.microsoft.com/office/powerpoint/2010/main" val="162948829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1036-CE44-FE66-D966-303CEBAF8A74}"/>
              </a:ext>
            </a:extLst>
          </p:cNvPr>
          <p:cNvSpPr>
            <a:spLocks noGrp="1"/>
          </p:cNvSpPr>
          <p:nvPr>
            <p:ph type="title"/>
          </p:nvPr>
        </p:nvSpPr>
        <p:spPr/>
        <p:txBody>
          <a:bodyPr/>
          <a:lstStyle/>
          <a:p>
            <a:r>
              <a:rPr lang="en-IN" sz="4400" b="1" i="0" u="none" strike="noStrike" baseline="0" dirty="0"/>
              <a:t>8. Skin protection</a:t>
            </a:r>
            <a:endParaRPr lang="en-IN" dirty="0"/>
          </a:p>
        </p:txBody>
      </p:sp>
      <p:sp>
        <p:nvSpPr>
          <p:cNvPr id="3" name="Content Placeholder 2">
            <a:extLst>
              <a:ext uri="{FF2B5EF4-FFF2-40B4-BE49-F238E27FC236}">
                <a16:creationId xmlns:a16="http://schemas.microsoft.com/office/drawing/2014/main" id="{CEAE3247-EB9D-5B75-896D-85CCFCB90F27}"/>
              </a:ext>
            </a:extLst>
          </p:cNvPr>
          <p:cNvSpPr>
            <a:spLocks noGrp="1"/>
          </p:cNvSpPr>
          <p:nvPr>
            <p:ph idx="1"/>
          </p:nvPr>
        </p:nvSpPr>
        <p:spPr/>
        <p:txBody>
          <a:bodyPr>
            <a:normAutofit/>
          </a:bodyPr>
          <a:lstStyle/>
          <a:p>
            <a:pPr algn="l"/>
            <a:r>
              <a:rPr lang="en-IN" sz="2400" b="1" i="0" u="none" strike="noStrike" baseline="0" dirty="0"/>
              <a:t>Types of skin protection</a:t>
            </a:r>
          </a:p>
          <a:p>
            <a:pPr algn="l"/>
            <a:r>
              <a:rPr lang="en-US" sz="2400" b="0" i="0" u="none" strike="noStrike" baseline="0" dirty="0"/>
              <a:t>There are three main types of whole-body skin protection</a:t>
            </a:r>
          </a:p>
          <a:p>
            <a:pPr lvl="1"/>
            <a:r>
              <a:rPr lang="en-US" sz="2000" b="0" i="0" u="none" strike="noStrike" baseline="0" dirty="0"/>
              <a:t>Separates – these only cover part of the body (e.g. jackets or trousers).</a:t>
            </a:r>
          </a:p>
          <a:p>
            <a:pPr lvl="1"/>
            <a:r>
              <a:rPr lang="en-US" sz="2000" b="0" i="0" u="none" strike="noStrike" baseline="0" dirty="0"/>
              <a:t>Aprons – these only cover part of the body.</a:t>
            </a:r>
          </a:p>
          <a:p>
            <a:pPr lvl="1"/>
            <a:r>
              <a:rPr lang="en-US" sz="2000" b="0" i="0" u="none" strike="noStrike" baseline="0" dirty="0"/>
              <a:t>Overalls, coveralls, body suits, boiler suits, and chemical suits – these cover the whole body,  </a:t>
            </a:r>
            <a:r>
              <a:rPr lang="en-US" sz="2800" b="0" i="0" u="none" strike="noStrike" baseline="0" dirty="0"/>
              <a:t>and may be reusable or disposable.</a:t>
            </a:r>
          </a:p>
          <a:p>
            <a:pPr algn="l"/>
            <a:r>
              <a:rPr lang="en-US" sz="2400" b="0" i="0" u="none" strike="noStrike" baseline="0" dirty="0"/>
              <a:t>For leg protection (as well as trousers), there is also;</a:t>
            </a:r>
            <a:endParaRPr lang="en-US" b="0" i="0" u="none" strike="noStrike" baseline="0" dirty="0"/>
          </a:p>
          <a:p>
            <a:pPr lvl="1"/>
            <a:r>
              <a:rPr lang="en-IN" sz="2000" b="0" i="0" u="none" strike="noStrike" baseline="0" dirty="0"/>
              <a:t>Knee pads.</a:t>
            </a:r>
          </a:p>
          <a:p>
            <a:pPr lvl="1"/>
            <a:r>
              <a:rPr lang="en-US" sz="2000" b="0" i="0" u="none" strike="noStrike" baseline="0" dirty="0"/>
              <a:t>Gaiters – these cover the shins.</a:t>
            </a:r>
          </a:p>
          <a:p>
            <a:pPr lvl="1"/>
            <a:r>
              <a:rPr lang="en-US" sz="2000" b="0" i="0" u="none" strike="noStrike" baseline="0" dirty="0"/>
              <a:t>Hard </a:t>
            </a:r>
            <a:r>
              <a:rPr lang="en-US" sz="2000" b="0" i="0" u="none" strike="noStrike" baseline="0" dirty="0" err="1"/>
              <a:t>fibre</a:t>
            </a:r>
            <a:r>
              <a:rPr lang="en-US" sz="2000" b="0" i="0" u="none" strike="noStrike" baseline="0" dirty="0"/>
              <a:t> or metal guards, which help to protect against some impact hazards.</a:t>
            </a:r>
          </a:p>
        </p:txBody>
      </p:sp>
    </p:spTree>
    <p:extLst>
      <p:ext uri="{BB962C8B-B14F-4D97-AF65-F5344CB8AC3E}">
        <p14:creationId xmlns:p14="http://schemas.microsoft.com/office/powerpoint/2010/main" val="16035617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1036-CE44-FE66-D966-303CEBAF8A74}"/>
              </a:ext>
            </a:extLst>
          </p:cNvPr>
          <p:cNvSpPr>
            <a:spLocks noGrp="1"/>
          </p:cNvSpPr>
          <p:nvPr>
            <p:ph type="title"/>
          </p:nvPr>
        </p:nvSpPr>
        <p:spPr/>
        <p:txBody>
          <a:bodyPr/>
          <a:lstStyle/>
          <a:p>
            <a:r>
              <a:rPr lang="en-IN" sz="4400" b="1" i="0" u="none" strike="noStrike" baseline="0" dirty="0"/>
              <a:t>8. Skin protection</a:t>
            </a:r>
            <a:endParaRPr lang="en-IN" dirty="0"/>
          </a:p>
        </p:txBody>
      </p:sp>
      <p:sp>
        <p:nvSpPr>
          <p:cNvPr id="3" name="Content Placeholder 2">
            <a:extLst>
              <a:ext uri="{FF2B5EF4-FFF2-40B4-BE49-F238E27FC236}">
                <a16:creationId xmlns:a16="http://schemas.microsoft.com/office/drawing/2014/main" id="{CEAE3247-EB9D-5B75-896D-85CCFCB90F27}"/>
              </a:ext>
            </a:extLst>
          </p:cNvPr>
          <p:cNvSpPr>
            <a:spLocks noGrp="1"/>
          </p:cNvSpPr>
          <p:nvPr>
            <p:ph idx="1"/>
          </p:nvPr>
        </p:nvSpPr>
        <p:spPr/>
        <p:txBody>
          <a:bodyPr>
            <a:normAutofit/>
          </a:bodyPr>
          <a:lstStyle/>
          <a:p>
            <a:pPr algn="l"/>
            <a:r>
              <a:rPr lang="en-US" sz="2400" b="0" i="0" u="none" strike="noStrike" baseline="0" dirty="0"/>
              <a:t>For skin protection to be effective;</a:t>
            </a:r>
          </a:p>
          <a:p>
            <a:pPr lvl="1"/>
            <a:r>
              <a:rPr lang="en-US" sz="2000" b="0" i="0" u="none" strike="noStrike" baseline="0" dirty="0"/>
              <a:t>Protective clothing must be suitable for the hazard (e.g. chemical resistance and protection against physical hazards can vary widely).</a:t>
            </a:r>
          </a:p>
          <a:p>
            <a:pPr lvl="1"/>
            <a:r>
              <a:rPr lang="en-US" sz="2000" b="0" i="0" u="none" strike="noStrike" baseline="0" dirty="0"/>
              <a:t>Manufacturer’s instructions must be followed (e.g. do not use chemical resistance for longer than the recommended breakthrough times, and clean as to not damage its effectiveness).</a:t>
            </a:r>
          </a:p>
          <a:p>
            <a:pPr lvl="1"/>
            <a:r>
              <a:rPr lang="en-US" sz="2000" b="0" i="0" u="none" strike="noStrike" baseline="0" dirty="0"/>
              <a:t>Worn or contaminated clothing must be stored separately from clean clothing.</a:t>
            </a:r>
          </a:p>
          <a:p>
            <a:pPr lvl="1"/>
            <a:r>
              <a:rPr lang="en-US" sz="2000" b="0" i="0" u="none" strike="noStrike" baseline="0" dirty="0"/>
              <a:t>Check for surface damage, which could reduce its effectiveness.</a:t>
            </a:r>
          </a:p>
          <a:p>
            <a:pPr lvl="1"/>
            <a:r>
              <a:rPr lang="en-US" sz="2000" b="0" i="0" u="none" strike="noStrike" baseline="0" dirty="0"/>
              <a:t>Do not wear loose clothing near moving machinery, if there is a chance that it could get caught.</a:t>
            </a:r>
            <a:endParaRPr lang="en-IN" sz="2000" dirty="0"/>
          </a:p>
        </p:txBody>
      </p:sp>
    </p:spTree>
    <p:extLst>
      <p:ext uri="{BB962C8B-B14F-4D97-AF65-F5344CB8AC3E}">
        <p14:creationId xmlns:p14="http://schemas.microsoft.com/office/powerpoint/2010/main" val="317489182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B67D-0776-5CCC-8038-F43D13CD765B}"/>
              </a:ext>
            </a:extLst>
          </p:cNvPr>
          <p:cNvSpPr>
            <a:spLocks noGrp="1"/>
          </p:cNvSpPr>
          <p:nvPr>
            <p:ph type="title"/>
          </p:nvPr>
        </p:nvSpPr>
        <p:spPr/>
        <p:txBody>
          <a:bodyPr/>
          <a:lstStyle/>
          <a:p>
            <a:r>
              <a:rPr lang="en-IN" sz="4400" b="1" i="0" u="none" strike="noStrike" baseline="0" dirty="0"/>
              <a:t>8. Skin protection</a:t>
            </a:r>
            <a:endParaRPr lang="en-IN" dirty="0"/>
          </a:p>
        </p:txBody>
      </p:sp>
      <p:sp>
        <p:nvSpPr>
          <p:cNvPr id="3" name="Content Placeholder 2">
            <a:extLst>
              <a:ext uri="{FF2B5EF4-FFF2-40B4-BE49-F238E27FC236}">
                <a16:creationId xmlns:a16="http://schemas.microsoft.com/office/drawing/2014/main" id="{0D0F50CC-A92B-67B7-6D5E-DFB19C1D6990}"/>
              </a:ext>
            </a:extLst>
          </p:cNvPr>
          <p:cNvSpPr>
            <a:spLocks noGrp="1"/>
          </p:cNvSpPr>
          <p:nvPr>
            <p:ph idx="1"/>
          </p:nvPr>
        </p:nvSpPr>
        <p:spPr/>
        <p:txBody>
          <a:bodyPr>
            <a:normAutofit/>
          </a:bodyPr>
          <a:lstStyle/>
          <a:p>
            <a:pPr algn="l"/>
            <a:r>
              <a:rPr lang="en-IN" sz="2400" b="1" i="0" u="none" strike="noStrike" baseline="0" dirty="0"/>
              <a:t>High visibility clothing</a:t>
            </a:r>
          </a:p>
          <a:p>
            <a:pPr algn="l"/>
            <a:r>
              <a:rPr lang="en-US" sz="2400" b="0" i="0" u="none" strike="noStrike" baseline="0" dirty="0"/>
              <a:t>This is required to protect the body against certain hazards such as moving vehicles, the main types are:</a:t>
            </a:r>
          </a:p>
          <a:p>
            <a:pPr lvl="1"/>
            <a:r>
              <a:rPr lang="en-IN" sz="2000" b="0" i="0" u="none" strike="noStrike" baseline="0" dirty="0"/>
              <a:t>Jackets</a:t>
            </a:r>
          </a:p>
          <a:p>
            <a:pPr lvl="1"/>
            <a:r>
              <a:rPr lang="en-IN" sz="2000" b="0" i="0" u="none" strike="noStrike" baseline="0" dirty="0"/>
              <a:t>Tops</a:t>
            </a:r>
          </a:p>
          <a:p>
            <a:pPr lvl="1"/>
            <a:r>
              <a:rPr lang="en-IN" sz="2000" b="0" i="0" u="none" strike="noStrike" baseline="0" dirty="0"/>
              <a:t>Trousers</a:t>
            </a:r>
          </a:p>
          <a:p>
            <a:pPr lvl="1"/>
            <a:r>
              <a:rPr lang="en-IN" sz="2000" b="0" i="0" u="none" strike="noStrike" baseline="0" dirty="0"/>
              <a:t>Vests</a:t>
            </a:r>
          </a:p>
          <a:p>
            <a:endParaRPr lang="en-IN" sz="2400" dirty="0"/>
          </a:p>
        </p:txBody>
      </p:sp>
    </p:spTree>
    <p:extLst>
      <p:ext uri="{BB962C8B-B14F-4D97-AF65-F5344CB8AC3E}">
        <p14:creationId xmlns:p14="http://schemas.microsoft.com/office/powerpoint/2010/main" val="31310381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I\Modern 07.p3d"/>
  <p:tag name="POWER3D TITLE SOUND" val="C:\Program Files\PowerPlugs\3D Titles\Sounds\Harp Musics.wav"/>
  <p:tag name="POWER3D TITLE OPTIONS" val="6000 -1 211527 Reverse"/>
  <p:tag name="POWER3D TEXT0" val="Proteccion Respiratoria&#10;29CFR1910.134"/>
  <p:tag name="POWER3D FONT0" val="Arial"/>
  <p:tag name="POWER3D TITLE OPTIONS0" val="1 1 0 100"/>
  <p:tag name="VIDEOFILE" val="SlideMaster"/>
</p:tagLst>
</file>

<file path=ppt/tags/tag2.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I\Modern 07.p3d"/>
  <p:tag name="POWER3D TITLE SOUND" val="C:\Program Files\PowerPlugs\3D Titles\Sounds\Harp Musics.wav"/>
  <p:tag name="POWER3D TITLE OPTIONS" val="6000 -1 211527 Reverse"/>
  <p:tag name="POWER3D TEXT0" val="Proteccion Respiratoria&#10;29CFR1910.134"/>
  <p:tag name="POWER3D FONT0" val="Arial"/>
  <p:tag name="POWER3D TITLE OPTIONS0" val="1 1 0 100"/>
  <p:tag name="VIDEOFILE" val="SlideMast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1593</TotalTime>
  <Words>8711</Words>
  <Application>Microsoft Office PowerPoint</Application>
  <PresentationFormat>Widescreen</PresentationFormat>
  <Paragraphs>715</Paragraphs>
  <Slides>62</Slides>
  <Notes>30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62</vt:i4>
      </vt:variant>
    </vt:vector>
  </HeadingPairs>
  <TitlesOfParts>
    <vt:vector size="71" baseType="lpstr">
      <vt:lpstr>Arial</vt:lpstr>
      <vt:lpstr>Calibri</vt:lpstr>
      <vt:lpstr>Calibri Light</vt:lpstr>
      <vt:lpstr>Google Sans</vt:lpstr>
      <vt:lpstr>Tahoma</vt:lpstr>
      <vt:lpstr>Times New Roman</vt:lpstr>
      <vt:lpstr>Office Theme</vt:lpstr>
      <vt:lpstr>Acrobat Document</vt:lpstr>
      <vt:lpstr>Bitmap Image</vt:lpstr>
      <vt:lpstr>Module II (Personal protection in work environment)</vt:lpstr>
      <vt:lpstr>Personal protection in the work environment</vt:lpstr>
      <vt:lpstr>Personal protective equipment (PPE)</vt:lpstr>
      <vt:lpstr>Personal protective equipment (PPE)</vt:lpstr>
      <vt:lpstr>Need for PPE</vt:lpstr>
      <vt:lpstr>Types of Personal Protective Equipment</vt:lpstr>
      <vt:lpstr>Types of Personal Protective Equipment</vt:lpstr>
      <vt:lpstr>Respiratory Protective Equipment (RPE)</vt:lpstr>
      <vt:lpstr>Respiratory Protective Equipment (RPE)</vt:lpstr>
      <vt:lpstr>Respiratory Protective Equipment (RPE)</vt:lpstr>
      <vt:lpstr>Respiratory Protective Equipment (RPE)</vt:lpstr>
      <vt:lpstr>Respiratory Protective Equipment (RPE)</vt:lpstr>
      <vt:lpstr>Respiratory Protective Equipment (RPE)</vt:lpstr>
      <vt:lpstr>Respiratory Protective Equipment (RPE)</vt:lpstr>
      <vt:lpstr>Respiratory Protective Equipment (RPE)</vt:lpstr>
      <vt:lpstr>Respiratory Protective Equipment (RPE)</vt:lpstr>
      <vt:lpstr>Non Respiratory PPEs</vt:lpstr>
      <vt:lpstr>PowerPoint Presentation</vt:lpstr>
      <vt:lpstr>1. Eye Protection</vt:lpstr>
      <vt:lpstr>1. Eye Protection</vt:lpstr>
      <vt:lpstr>1. Eye Protection</vt:lpstr>
      <vt:lpstr>1. Eye Protection</vt:lpstr>
      <vt:lpstr>Eye and face protection</vt:lpstr>
      <vt:lpstr>1. Eye Protection</vt:lpstr>
      <vt:lpstr>1. Eye Protection</vt:lpstr>
      <vt:lpstr>1. Eye Protection</vt:lpstr>
      <vt:lpstr>1. Eye Protection</vt:lpstr>
      <vt:lpstr>2. Head protection</vt:lpstr>
      <vt:lpstr>2. Head protection</vt:lpstr>
      <vt:lpstr>2. Head protection</vt:lpstr>
      <vt:lpstr>2. Head protection</vt:lpstr>
      <vt:lpstr>2. Head protection</vt:lpstr>
      <vt:lpstr>2. Head protection</vt:lpstr>
      <vt:lpstr>2. Head protection</vt:lpstr>
      <vt:lpstr>3. Ear protection</vt:lpstr>
      <vt:lpstr>3. Ear protection</vt:lpstr>
      <vt:lpstr>3. Ear protection</vt:lpstr>
      <vt:lpstr>3. Ear protection</vt:lpstr>
      <vt:lpstr>3. Ear protection</vt:lpstr>
      <vt:lpstr>3. Ear protection</vt:lpstr>
      <vt:lpstr>4. Foot protection</vt:lpstr>
      <vt:lpstr>4. Foot protection</vt:lpstr>
      <vt:lpstr>4. Foot protection</vt:lpstr>
      <vt:lpstr>4. Foot and leg protection</vt:lpstr>
      <vt:lpstr>4. Foot and leg protection</vt:lpstr>
      <vt:lpstr>4. Foot and leg protection</vt:lpstr>
      <vt:lpstr>4. Foot and leg protection</vt:lpstr>
      <vt:lpstr>5. Hand and arm protection</vt:lpstr>
      <vt:lpstr>5. Hand and arm protection</vt:lpstr>
      <vt:lpstr>5. Hand and arm protection</vt:lpstr>
      <vt:lpstr>5. Hand and arm protection</vt:lpstr>
      <vt:lpstr>6. Body protection</vt:lpstr>
      <vt:lpstr>6. Body protection</vt:lpstr>
      <vt:lpstr>6. Body protection</vt:lpstr>
      <vt:lpstr>6. Body protection</vt:lpstr>
      <vt:lpstr>6. Body protection</vt:lpstr>
      <vt:lpstr>6. Body protection</vt:lpstr>
      <vt:lpstr>6. Body protection</vt:lpstr>
      <vt:lpstr>7. Fall protection systems</vt:lpstr>
      <vt:lpstr>8. Skin protection</vt:lpstr>
      <vt:lpstr>8. Skin protection</vt:lpstr>
      <vt:lpstr>8. Skin protection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ANANDLAL R</dc:creator>
  <cp:lastModifiedBy>Neethu Suman</cp:lastModifiedBy>
  <cp:revision>51</cp:revision>
  <dcterms:created xsi:type="dcterms:W3CDTF">2022-09-15T08:50:36Z</dcterms:created>
  <dcterms:modified xsi:type="dcterms:W3CDTF">2026-07-22T18:23:39Z</dcterms:modified>
</cp:coreProperties>
</file>