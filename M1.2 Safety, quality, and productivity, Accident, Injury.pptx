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6" r:id="rId2"/>
    <p:sldId id="273" r:id="rId3"/>
    <p:sldId id="274" r:id="rId4"/>
    <p:sldId id="275" r:id="rId5"/>
    <p:sldId id="276" r:id="rId6"/>
    <p:sldId id="277" r:id="rId7"/>
    <p:sldId id="278" r:id="rId8"/>
    <p:sldId id="357" r:id="rId9"/>
    <p:sldId id="358" r:id="rId10"/>
    <p:sldId id="279" r:id="rId11"/>
    <p:sldId id="291" r:id="rId12"/>
    <p:sldId id="292" r:id="rId13"/>
    <p:sldId id="280" r:id="rId14"/>
    <p:sldId id="28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FBDA5-A275-CAE7-CC3C-87A385B920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4C0649E-697E-4C70-8D53-D13A7D3100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B3D051D-2B6D-7E34-4577-5C521574E36B}"/>
              </a:ext>
            </a:extLst>
          </p:cNvPr>
          <p:cNvSpPr>
            <a:spLocks noGrp="1"/>
          </p:cNvSpPr>
          <p:nvPr>
            <p:ph type="dt" sz="half" idx="10"/>
          </p:nvPr>
        </p:nvSpPr>
        <p:spPr/>
        <p:txBody>
          <a:bodyPr/>
          <a:lstStyle/>
          <a:p>
            <a:fld id="{E69B907A-ABB3-461E-8CD9-FB721D16ADC3}" type="datetimeFigureOut">
              <a:rPr lang="en-IN" smtClean="0"/>
              <a:t>15-07-2026</a:t>
            </a:fld>
            <a:endParaRPr lang="en-IN"/>
          </a:p>
        </p:txBody>
      </p:sp>
      <p:sp>
        <p:nvSpPr>
          <p:cNvPr id="5" name="Footer Placeholder 4">
            <a:extLst>
              <a:ext uri="{FF2B5EF4-FFF2-40B4-BE49-F238E27FC236}">
                <a16:creationId xmlns:a16="http://schemas.microsoft.com/office/drawing/2014/main" id="{83E57A2A-B46A-50FD-77E7-922D38AE35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F2BF67-844F-917F-3F8E-36B1773D9314}"/>
              </a:ext>
            </a:extLst>
          </p:cNvPr>
          <p:cNvSpPr>
            <a:spLocks noGrp="1"/>
          </p:cNvSpPr>
          <p:nvPr>
            <p:ph type="sldNum" sz="quarter" idx="12"/>
          </p:nvPr>
        </p:nvSpPr>
        <p:spPr/>
        <p:txBody>
          <a:bodyPr/>
          <a:lstStyle/>
          <a:p>
            <a:fld id="{4DB4CA82-D135-4C80-AE90-BA751013FD26}" type="slidenum">
              <a:rPr lang="en-IN" smtClean="0"/>
              <a:t>‹#›</a:t>
            </a:fld>
            <a:endParaRPr lang="en-IN"/>
          </a:p>
        </p:txBody>
      </p:sp>
    </p:spTree>
    <p:extLst>
      <p:ext uri="{BB962C8B-B14F-4D97-AF65-F5344CB8AC3E}">
        <p14:creationId xmlns:p14="http://schemas.microsoft.com/office/powerpoint/2010/main" val="2074833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961E4-226B-BD18-AF76-58CDCD8425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B66E7B-FE6F-A8F5-4DC7-A6806DA1C9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586F17-2B77-84EE-4596-6C19A560FF32}"/>
              </a:ext>
            </a:extLst>
          </p:cNvPr>
          <p:cNvSpPr>
            <a:spLocks noGrp="1"/>
          </p:cNvSpPr>
          <p:nvPr>
            <p:ph type="dt" sz="half" idx="10"/>
          </p:nvPr>
        </p:nvSpPr>
        <p:spPr/>
        <p:txBody>
          <a:bodyPr/>
          <a:lstStyle/>
          <a:p>
            <a:fld id="{E69B907A-ABB3-461E-8CD9-FB721D16ADC3}" type="datetimeFigureOut">
              <a:rPr lang="en-IN" smtClean="0"/>
              <a:t>15-07-2026</a:t>
            </a:fld>
            <a:endParaRPr lang="en-IN"/>
          </a:p>
        </p:txBody>
      </p:sp>
      <p:sp>
        <p:nvSpPr>
          <p:cNvPr id="5" name="Footer Placeholder 4">
            <a:extLst>
              <a:ext uri="{FF2B5EF4-FFF2-40B4-BE49-F238E27FC236}">
                <a16:creationId xmlns:a16="http://schemas.microsoft.com/office/drawing/2014/main" id="{D8DFAEAF-0E0F-2EC8-01AB-05163EC3B4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C727DD-57DB-DF59-797D-DFB79DD32A22}"/>
              </a:ext>
            </a:extLst>
          </p:cNvPr>
          <p:cNvSpPr>
            <a:spLocks noGrp="1"/>
          </p:cNvSpPr>
          <p:nvPr>
            <p:ph type="sldNum" sz="quarter" idx="12"/>
          </p:nvPr>
        </p:nvSpPr>
        <p:spPr/>
        <p:txBody>
          <a:bodyPr/>
          <a:lstStyle/>
          <a:p>
            <a:fld id="{4DB4CA82-D135-4C80-AE90-BA751013FD26}" type="slidenum">
              <a:rPr lang="en-IN" smtClean="0"/>
              <a:t>‹#›</a:t>
            </a:fld>
            <a:endParaRPr lang="en-IN"/>
          </a:p>
        </p:txBody>
      </p:sp>
    </p:spTree>
    <p:extLst>
      <p:ext uri="{BB962C8B-B14F-4D97-AF65-F5344CB8AC3E}">
        <p14:creationId xmlns:p14="http://schemas.microsoft.com/office/powerpoint/2010/main" val="2907315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28757-7157-EFD8-422C-E5C7A1E026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D719836-D51F-C98F-011C-C065060913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2A5538-A232-1FC4-B3A2-0BD0BED5B922}"/>
              </a:ext>
            </a:extLst>
          </p:cNvPr>
          <p:cNvSpPr>
            <a:spLocks noGrp="1"/>
          </p:cNvSpPr>
          <p:nvPr>
            <p:ph type="dt" sz="half" idx="10"/>
          </p:nvPr>
        </p:nvSpPr>
        <p:spPr/>
        <p:txBody>
          <a:bodyPr/>
          <a:lstStyle/>
          <a:p>
            <a:fld id="{E69B907A-ABB3-461E-8CD9-FB721D16ADC3}" type="datetimeFigureOut">
              <a:rPr lang="en-IN" smtClean="0"/>
              <a:t>15-07-2026</a:t>
            </a:fld>
            <a:endParaRPr lang="en-IN"/>
          </a:p>
        </p:txBody>
      </p:sp>
      <p:sp>
        <p:nvSpPr>
          <p:cNvPr id="5" name="Footer Placeholder 4">
            <a:extLst>
              <a:ext uri="{FF2B5EF4-FFF2-40B4-BE49-F238E27FC236}">
                <a16:creationId xmlns:a16="http://schemas.microsoft.com/office/drawing/2014/main" id="{B99EC894-DEA0-4456-7D6D-D6D4990C5D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128417-AF2C-0A9B-2ABB-1A572A2454FC}"/>
              </a:ext>
            </a:extLst>
          </p:cNvPr>
          <p:cNvSpPr>
            <a:spLocks noGrp="1"/>
          </p:cNvSpPr>
          <p:nvPr>
            <p:ph type="sldNum" sz="quarter" idx="12"/>
          </p:nvPr>
        </p:nvSpPr>
        <p:spPr/>
        <p:txBody>
          <a:bodyPr/>
          <a:lstStyle/>
          <a:p>
            <a:fld id="{4DB4CA82-D135-4C80-AE90-BA751013FD26}" type="slidenum">
              <a:rPr lang="en-IN" smtClean="0"/>
              <a:t>‹#›</a:t>
            </a:fld>
            <a:endParaRPr lang="en-IN"/>
          </a:p>
        </p:txBody>
      </p:sp>
    </p:spTree>
    <p:extLst>
      <p:ext uri="{BB962C8B-B14F-4D97-AF65-F5344CB8AC3E}">
        <p14:creationId xmlns:p14="http://schemas.microsoft.com/office/powerpoint/2010/main" val="4165240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D4C0D-745B-43DA-A266-92888F2E4F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2FB787-A7E1-4294-AF4F-483932649B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F7E35CB-E1C9-B759-011A-E532F239F9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C29EF46-916A-B61A-9EAC-1158C53FE879}"/>
              </a:ext>
            </a:extLst>
          </p:cNvPr>
          <p:cNvSpPr>
            <a:spLocks noGrp="1"/>
          </p:cNvSpPr>
          <p:nvPr>
            <p:ph type="dt" sz="half" idx="10"/>
          </p:nvPr>
        </p:nvSpPr>
        <p:spPr/>
        <p:txBody>
          <a:bodyPr/>
          <a:lstStyle/>
          <a:p>
            <a:fld id="{E69B907A-ABB3-461E-8CD9-FB721D16ADC3}" type="datetimeFigureOut">
              <a:rPr lang="en-IN" smtClean="0"/>
              <a:t>15-07-2026</a:t>
            </a:fld>
            <a:endParaRPr lang="en-IN"/>
          </a:p>
        </p:txBody>
      </p:sp>
      <p:sp>
        <p:nvSpPr>
          <p:cNvPr id="6" name="Footer Placeholder 5">
            <a:extLst>
              <a:ext uri="{FF2B5EF4-FFF2-40B4-BE49-F238E27FC236}">
                <a16:creationId xmlns:a16="http://schemas.microsoft.com/office/drawing/2014/main" id="{570B022E-56E5-2B2A-305E-20942CC83B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922807-59F9-B866-E507-B93E764D33E3}"/>
              </a:ext>
            </a:extLst>
          </p:cNvPr>
          <p:cNvSpPr>
            <a:spLocks noGrp="1"/>
          </p:cNvSpPr>
          <p:nvPr>
            <p:ph type="sldNum" sz="quarter" idx="12"/>
          </p:nvPr>
        </p:nvSpPr>
        <p:spPr/>
        <p:txBody>
          <a:bodyPr/>
          <a:lstStyle/>
          <a:p>
            <a:fld id="{4DB4CA82-D135-4C80-AE90-BA751013FD26}" type="slidenum">
              <a:rPr lang="en-IN" smtClean="0"/>
              <a:t>‹#›</a:t>
            </a:fld>
            <a:endParaRPr lang="en-IN"/>
          </a:p>
        </p:txBody>
      </p:sp>
    </p:spTree>
    <p:extLst>
      <p:ext uri="{BB962C8B-B14F-4D97-AF65-F5344CB8AC3E}">
        <p14:creationId xmlns:p14="http://schemas.microsoft.com/office/powerpoint/2010/main" val="2765952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BDEBF-E3F9-A7B5-30C0-1545C764DA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8F9E82-C56D-8734-DDF5-A5AEFA54DF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78F4F1-82C3-EC7C-6BF0-E61A18A924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2E08528-1FF9-2BD3-336E-D6AD0F664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ADF52F-CD66-0924-5519-A537AED5F7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D2757E-7562-01A3-366A-52E72FE77477}"/>
              </a:ext>
            </a:extLst>
          </p:cNvPr>
          <p:cNvSpPr>
            <a:spLocks noGrp="1"/>
          </p:cNvSpPr>
          <p:nvPr>
            <p:ph type="dt" sz="half" idx="10"/>
          </p:nvPr>
        </p:nvSpPr>
        <p:spPr/>
        <p:txBody>
          <a:bodyPr/>
          <a:lstStyle/>
          <a:p>
            <a:fld id="{E69B907A-ABB3-461E-8CD9-FB721D16ADC3}" type="datetimeFigureOut">
              <a:rPr lang="en-IN" smtClean="0"/>
              <a:t>15-07-2026</a:t>
            </a:fld>
            <a:endParaRPr lang="en-IN"/>
          </a:p>
        </p:txBody>
      </p:sp>
      <p:sp>
        <p:nvSpPr>
          <p:cNvPr id="8" name="Footer Placeholder 7">
            <a:extLst>
              <a:ext uri="{FF2B5EF4-FFF2-40B4-BE49-F238E27FC236}">
                <a16:creationId xmlns:a16="http://schemas.microsoft.com/office/drawing/2014/main" id="{556F0E58-67C2-DADD-7EC2-FC3F21B36D4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F2B900C-37D4-1EC8-6D92-76BADE3771D9}"/>
              </a:ext>
            </a:extLst>
          </p:cNvPr>
          <p:cNvSpPr>
            <a:spLocks noGrp="1"/>
          </p:cNvSpPr>
          <p:nvPr>
            <p:ph type="sldNum" sz="quarter" idx="12"/>
          </p:nvPr>
        </p:nvSpPr>
        <p:spPr/>
        <p:txBody>
          <a:bodyPr/>
          <a:lstStyle/>
          <a:p>
            <a:fld id="{4DB4CA82-D135-4C80-AE90-BA751013FD26}" type="slidenum">
              <a:rPr lang="en-IN" smtClean="0"/>
              <a:t>‹#›</a:t>
            </a:fld>
            <a:endParaRPr lang="en-IN"/>
          </a:p>
        </p:txBody>
      </p:sp>
    </p:spTree>
    <p:extLst>
      <p:ext uri="{BB962C8B-B14F-4D97-AF65-F5344CB8AC3E}">
        <p14:creationId xmlns:p14="http://schemas.microsoft.com/office/powerpoint/2010/main" val="3392419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D60F2-97D0-DD2E-66FB-3DAA467750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428681-7855-27A3-366C-F88097D37688}"/>
              </a:ext>
            </a:extLst>
          </p:cNvPr>
          <p:cNvSpPr>
            <a:spLocks noGrp="1"/>
          </p:cNvSpPr>
          <p:nvPr>
            <p:ph type="dt" sz="half" idx="10"/>
          </p:nvPr>
        </p:nvSpPr>
        <p:spPr/>
        <p:txBody>
          <a:bodyPr/>
          <a:lstStyle/>
          <a:p>
            <a:fld id="{E69B907A-ABB3-461E-8CD9-FB721D16ADC3}" type="datetimeFigureOut">
              <a:rPr lang="en-IN" smtClean="0"/>
              <a:t>15-07-2026</a:t>
            </a:fld>
            <a:endParaRPr lang="en-IN"/>
          </a:p>
        </p:txBody>
      </p:sp>
      <p:sp>
        <p:nvSpPr>
          <p:cNvPr id="4" name="Footer Placeholder 3">
            <a:extLst>
              <a:ext uri="{FF2B5EF4-FFF2-40B4-BE49-F238E27FC236}">
                <a16:creationId xmlns:a16="http://schemas.microsoft.com/office/drawing/2014/main" id="{091F520E-F23D-5E78-7427-5E5977A4316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1E0E7D0-798E-C5BF-7A85-B4697BACF050}"/>
              </a:ext>
            </a:extLst>
          </p:cNvPr>
          <p:cNvSpPr>
            <a:spLocks noGrp="1"/>
          </p:cNvSpPr>
          <p:nvPr>
            <p:ph type="sldNum" sz="quarter" idx="12"/>
          </p:nvPr>
        </p:nvSpPr>
        <p:spPr/>
        <p:txBody>
          <a:bodyPr/>
          <a:lstStyle/>
          <a:p>
            <a:fld id="{4DB4CA82-D135-4C80-AE90-BA751013FD26}" type="slidenum">
              <a:rPr lang="en-IN" smtClean="0"/>
              <a:t>‹#›</a:t>
            </a:fld>
            <a:endParaRPr lang="en-IN"/>
          </a:p>
        </p:txBody>
      </p:sp>
    </p:spTree>
    <p:extLst>
      <p:ext uri="{BB962C8B-B14F-4D97-AF65-F5344CB8AC3E}">
        <p14:creationId xmlns:p14="http://schemas.microsoft.com/office/powerpoint/2010/main" val="1822162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401456-C744-833D-FF26-8EA1B8910A85}"/>
              </a:ext>
            </a:extLst>
          </p:cNvPr>
          <p:cNvSpPr>
            <a:spLocks noGrp="1"/>
          </p:cNvSpPr>
          <p:nvPr>
            <p:ph type="dt" sz="half" idx="10"/>
          </p:nvPr>
        </p:nvSpPr>
        <p:spPr/>
        <p:txBody>
          <a:bodyPr/>
          <a:lstStyle/>
          <a:p>
            <a:fld id="{E69B907A-ABB3-461E-8CD9-FB721D16ADC3}" type="datetimeFigureOut">
              <a:rPr lang="en-IN" smtClean="0"/>
              <a:t>15-07-2026</a:t>
            </a:fld>
            <a:endParaRPr lang="en-IN"/>
          </a:p>
        </p:txBody>
      </p:sp>
      <p:sp>
        <p:nvSpPr>
          <p:cNvPr id="3" name="Footer Placeholder 2">
            <a:extLst>
              <a:ext uri="{FF2B5EF4-FFF2-40B4-BE49-F238E27FC236}">
                <a16:creationId xmlns:a16="http://schemas.microsoft.com/office/drawing/2014/main" id="{58775823-BB79-BADD-1ACF-5CE75349114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37CBF9-ED30-5118-5269-6EB3FE83B812}"/>
              </a:ext>
            </a:extLst>
          </p:cNvPr>
          <p:cNvSpPr>
            <a:spLocks noGrp="1"/>
          </p:cNvSpPr>
          <p:nvPr>
            <p:ph type="sldNum" sz="quarter" idx="12"/>
          </p:nvPr>
        </p:nvSpPr>
        <p:spPr/>
        <p:txBody>
          <a:bodyPr/>
          <a:lstStyle/>
          <a:p>
            <a:fld id="{4DB4CA82-D135-4C80-AE90-BA751013FD26}" type="slidenum">
              <a:rPr lang="en-IN" smtClean="0"/>
              <a:t>‹#›</a:t>
            </a:fld>
            <a:endParaRPr lang="en-IN"/>
          </a:p>
        </p:txBody>
      </p:sp>
    </p:spTree>
    <p:extLst>
      <p:ext uri="{BB962C8B-B14F-4D97-AF65-F5344CB8AC3E}">
        <p14:creationId xmlns:p14="http://schemas.microsoft.com/office/powerpoint/2010/main" val="3303132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A0A53-56AE-7FAC-D87F-A959593F25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F498B1-0604-EB20-17C7-6C05CF8A94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298C9CE-52A8-13B3-1805-2B2532D82A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A09268-4D78-B0CF-0E3E-E6933252511F}"/>
              </a:ext>
            </a:extLst>
          </p:cNvPr>
          <p:cNvSpPr>
            <a:spLocks noGrp="1"/>
          </p:cNvSpPr>
          <p:nvPr>
            <p:ph type="dt" sz="half" idx="10"/>
          </p:nvPr>
        </p:nvSpPr>
        <p:spPr/>
        <p:txBody>
          <a:bodyPr/>
          <a:lstStyle/>
          <a:p>
            <a:fld id="{E69B907A-ABB3-461E-8CD9-FB721D16ADC3}" type="datetimeFigureOut">
              <a:rPr lang="en-IN" smtClean="0"/>
              <a:t>15-07-2026</a:t>
            </a:fld>
            <a:endParaRPr lang="en-IN"/>
          </a:p>
        </p:txBody>
      </p:sp>
      <p:sp>
        <p:nvSpPr>
          <p:cNvPr id="6" name="Footer Placeholder 5">
            <a:extLst>
              <a:ext uri="{FF2B5EF4-FFF2-40B4-BE49-F238E27FC236}">
                <a16:creationId xmlns:a16="http://schemas.microsoft.com/office/drawing/2014/main" id="{43C13040-1849-CB14-5DC4-321E9FC1B1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4BB80D-1F61-1D53-95C6-B2D9D90F1795}"/>
              </a:ext>
            </a:extLst>
          </p:cNvPr>
          <p:cNvSpPr>
            <a:spLocks noGrp="1"/>
          </p:cNvSpPr>
          <p:nvPr>
            <p:ph type="sldNum" sz="quarter" idx="12"/>
          </p:nvPr>
        </p:nvSpPr>
        <p:spPr/>
        <p:txBody>
          <a:bodyPr/>
          <a:lstStyle/>
          <a:p>
            <a:fld id="{4DB4CA82-D135-4C80-AE90-BA751013FD26}" type="slidenum">
              <a:rPr lang="en-IN" smtClean="0"/>
              <a:t>‹#›</a:t>
            </a:fld>
            <a:endParaRPr lang="en-IN"/>
          </a:p>
        </p:txBody>
      </p:sp>
    </p:spTree>
    <p:extLst>
      <p:ext uri="{BB962C8B-B14F-4D97-AF65-F5344CB8AC3E}">
        <p14:creationId xmlns:p14="http://schemas.microsoft.com/office/powerpoint/2010/main" val="4166751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2A705-ABDF-DAB2-EABD-ECF6CD739A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160A143-ADD8-7F39-73A2-EC82358EC1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19C2BC9-11D0-F884-DE57-4003AFE98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74220E-B38C-E32E-A549-99E95B54462E}"/>
              </a:ext>
            </a:extLst>
          </p:cNvPr>
          <p:cNvSpPr>
            <a:spLocks noGrp="1"/>
          </p:cNvSpPr>
          <p:nvPr>
            <p:ph type="dt" sz="half" idx="10"/>
          </p:nvPr>
        </p:nvSpPr>
        <p:spPr/>
        <p:txBody>
          <a:bodyPr/>
          <a:lstStyle/>
          <a:p>
            <a:fld id="{E69B907A-ABB3-461E-8CD9-FB721D16ADC3}" type="datetimeFigureOut">
              <a:rPr lang="en-IN" smtClean="0"/>
              <a:t>15-07-2026</a:t>
            </a:fld>
            <a:endParaRPr lang="en-IN"/>
          </a:p>
        </p:txBody>
      </p:sp>
      <p:sp>
        <p:nvSpPr>
          <p:cNvPr id="6" name="Footer Placeholder 5">
            <a:extLst>
              <a:ext uri="{FF2B5EF4-FFF2-40B4-BE49-F238E27FC236}">
                <a16:creationId xmlns:a16="http://schemas.microsoft.com/office/drawing/2014/main" id="{4972D9F0-087D-4F68-D917-5957FCF2D7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B0D2FE-E77F-FD40-9CB7-6A12B78FDCF0}"/>
              </a:ext>
            </a:extLst>
          </p:cNvPr>
          <p:cNvSpPr>
            <a:spLocks noGrp="1"/>
          </p:cNvSpPr>
          <p:nvPr>
            <p:ph type="sldNum" sz="quarter" idx="12"/>
          </p:nvPr>
        </p:nvSpPr>
        <p:spPr/>
        <p:txBody>
          <a:bodyPr/>
          <a:lstStyle/>
          <a:p>
            <a:fld id="{4DB4CA82-D135-4C80-AE90-BA751013FD26}" type="slidenum">
              <a:rPr lang="en-IN" smtClean="0"/>
              <a:t>‹#›</a:t>
            </a:fld>
            <a:endParaRPr lang="en-IN"/>
          </a:p>
        </p:txBody>
      </p:sp>
    </p:spTree>
    <p:extLst>
      <p:ext uri="{BB962C8B-B14F-4D97-AF65-F5344CB8AC3E}">
        <p14:creationId xmlns:p14="http://schemas.microsoft.com/office/powerpoint/2010/main" val="2937359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35BD1-A68F-127C-A557-6968434FB8F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79196F-1B1B-85AB-B6AE-6D45CD6A5D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C71E95-7D26-3371-6A58-4B37CDAC0BDE}"/>
              </a:ext>
            </a:extLst>
          </p:cNvPr>
          <p:cNvSpPr>
            <a:spLocks noGrp="1"/>
          </p:cNvSpPr>
          <p:nvPr>
            <p:ph type="dt" sz="half" idx="10"/>
          </p:nvPr>
        </p:nvSpPr>
        <p:spPr/>
        <p:txBody>
          <a:bodyPr/>
          <a:lstStyle/>
          <a:p>
            <a:fld id="{E69B907A-ABB3-461E-8CD9-FB721D16ADC3}" type="datetimeFigureOut">
              <a:rPr lang="en-IN" smtClean="0"/>
              <a:t>15-07-2026</a:t>
            </a:fld>
            <a:endParaRPr lang="en-IN"/>
          </a:p>
        </p:txBody>
      </p:sp>
      <p:sp>
        <p:nvSpPr>
          <p:cNvPr id="5" name="Footer Placeholder 4">
            <a:extLst>
              <a:ext uri="{FF2B5EF4-FFF2-40B4-BE49-F238E27FC236}">
                <a16:creationId xmlns:a16="http://schemas.microsoft.com/office/drawing/2014/main" id="{67D470DA-0567-B8EE-7368-05D4F171AF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04D58B-0525-5185-60D1-A69CEFE98D54}"/>
              </a:ext>
            </a:extLst>
          </p:cNvPr>
          <p:cNvSpPr>
            <a:spLocks noGrp="1"/>
          </p:cNvSpPr>
          <p:nvPr>
            <p:ph type="sldNum" sz="quarter" idx="12"/>
          </p:nvPr>
        </p:nvSpPr>
        <p:spPr/>
        <p:txBody>
          <a:bodyPr/>
          <a:lstStyle/>
          <a:p>
            <a:fld id="{4DB4CA82-D135-4C80-AE90-BA751013FD26}" type="slidenum">
              <a:rPr lang="en-IN" smtClean="0"/>
              <a:t>‹#›</a:t>
            </a:fld>
            <a:endParaRPr lang="en-IN"/>
          </a:p>
        </p:txBody>
      </p:sp>
    </p:spTree>
    <p:extLst>
      <p:ext uri="{BB962C8B-B14F-4D97-AF65-F5344CB8AC3E}">
        <p14:creationId xmlns:p14="http://schemas.microsoft.com/office/powerpoint/2010/main" val="2925472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C70F69-1AC3-9E47-7CFE-0BCCC79A5F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1E313BA-CD63-0699-62CE-603B29077A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C97C62-3A39-F7A7-3E18-E111E3696647}"/>
              </a:ext>
            </a:extLst>
          </p:cNvPr>
          <p:cNvSpPr>
            <a:spLocks noGrp="1"/>
          </p:cNvSpPr>
          <p:nvPr>
            <p:ph type="dt" sz="half" idx="10"/>
          </p:nvPr>
        </p:nvSpPr>
        <p:spPr/>
        <p:txBody>
          <a:bodyPr/>
          <a:lstStyle/>
          <a:p>
            <a:fld id="{E69B907A-ABB3-461E-8CD9-FB721D16ADC3}" type="datetimeFigureOut">
              <a:rPr lang="en-IN" smtClean="0"/>
              <a:t>15-07-2026</a:t>
            </a:fld>
            <a:endParaRPr lang="en-IN"/>
          </a:p>
        </p:txBody>
      </p:sp>
      <p:sp>
        <p:nvSpPr>
          <p:cNvPr id="5" name="Footer Placeholder 4">
            <a:extLst>
              <a:ext uri="{FF2B5EF4-FFF2-40B4-BE49-F238E27FC236}">
                <a16:creationId xmlns:a16="http://schemas.microsoft.com/office/drawing/2014/main" id="{52FD9D67-95D9-6F0F-3E8B-73A77BF230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12AFE8-DAA5-65B5-E342-5456F8410BD4}"/>
              </a:ext>
            </a:extLst>
          </p:cNvPr>
          <p:cNvSpPr>
            <a:spLocks noGrp="1"/>
          </p:cNvSpPr>
          <p:nvPr>
            <p:ph type="sldNum" sz="quarter" idx="12"/>
          </p:nvPr>
        </p:nvSpPr>
        <p:spPr/>
        <p:txBody>
          <a:bodyPr/>
          <a:lstStyle/>
          <a:p>
            <a:fld id="{4DB4CA82-D135-4C80-AE90-BA751013FD26}" type="slidenum">
              <a:rPr lang="en-IN" smtClean="0"/>
              <a:t>‹#›</a:t>
            </a:fld>
            <a:endParaRPr lang="en-IN"/>
          </a:p>
        </p:txBody>
      </p:sp>
    </p:spTree>
    <p:extLst>
      <p:ext uri="{BB962C8B-B14F-4D97-AF65-F5344CB8AC3E}">
        <p14:creationId xmlns:p14="http://schemas.microsoft.com/office/powerpoint/2010/main" val="4228363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F635FE-225F-BBFA-8F67-CC2D5867E1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06B240-5F18-5082-EFED-0D0C2BCAC9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D4591F-54EA-2210-02AF-B64C9841F7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9B907A-ABB3-461E-8CD9-FB721D16ADC3}" type="datetimeFigureOut">
              <a:rPr lang="en-IN" smtClean="0"/>
              <a:t>15-07-2026</a:t>
            </a:fld>
            <a:endParaRPr lang="en-IN"/>
          </a:p>
        </p:txBody>
      </p:sp>
      <p:sp>
        <p:nvSpPr>
          <p:cNvPr id="5" name="Footer Placeholder 4">
            <a:extLst>
              <a:ext uri="{FF2B5EF4-FFF2-40B4-BE49-F238E27FC236}">
                <a16:creationId xmlns:a16="http://schemas.microsoft.com/office/drawing/2014/main" id="{1CE99522-AE44-8FDC-1F54-F758D1F38A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C18149F-510C-2D47-7605-F27FED7C9F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B4CA82-D135-4C80-AE90-BA751013FD26}" type="slidenum">
              <a:rPr lang="en-IN" smtClean="0"/>
              <a:t>‹#›</a:t>
            </a:fld>
            <a:endParaRPr lang="en-IN"/>
          </a:p>
        </p:txBody>
      </p:sp>
    </p:spTree>
    <p:extLst>
      <p:ext uri="{BB962C8B-B14F-4D97-AF65-F5344CB8AC3E}">
        <p14:creationId xmlns:p14="http://schemas.microsoft.com/office/powerpoint/2010/main" val="3529238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7AB44-36C9-8787-4097-DC3C857371D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Safety, quality, and productivity</a:t>
            </a:r>
            <a:endParaRPr lang="en-IN" dirty="0"/>
          </a:p>
        </p:txBody>
      </p:sp>
      <p:sp>
        <p:nvSpPr>
          <p:cNvPr id="3" name="Content Placeholder 2">
            <a:extLst>
              <a:ext uri="{FF2B5EF4-FFF2-40B4-BE49-F238E27FC236}">
                <a16:creationId xmlns:a16="http://schemas.microsoft.com/office/drawing/2014/main" id="{700139DB-D7E4-86A1-DC77-397CFB5A08F9}"/>
              </a:ext>
            </a:extLst>
          </p:cNvPr>
          <p:cNvSpPr>
            <a:spLocks noGrp="1"/>
          </p:cNvSpPr>
          <p:nvPr>
            <p:ph idx="1"/>
          </p:nvPr>
        </p:nvSpPr>
        <p:spPr/>
        <p:txBody>
          <a:bodyPr>
            <a:normAutofit/>
          </a:bodyPr>
          <a:lstStyle/>
          <a:p>
            <a:pPr algn="just">
              <a:lnSpc>
                <a:spcPct val="100000"/>
              </a:lnSpc>
            </a:pPr>
            <a:r>
              <a:rPr lang="en-US" sz="2400" dirty="0">
                <a:latin typeface="Times New Roman" panose="02020603050405020304" pitchFamily="18" charset="0"/>
                <a:cs typeface="Times New Roman" panose="02020603050405020304" pitchFamily="18" charset="0"/>
              </a:rPr>
              <a:t>Safety, quality, and productivity are inextricably linked</a:t>
            </a:r>
          </a:p>
          <a:p>
            <a:pPr algn="just">
              <a:lnSpc>
                <a:spcPct val="100000"/>
              </a:lnSpc>
            </a:pPr>
            <a:r>
              <a:rPr lang="en-US" sz="2400" dirty="0">
                <a:latin typeface="Times New Roman" panose="02020603050405020304" pitchFamily="18" charset="0"/>
                <a:cs typeface="Times New Roman" panose="02020603050405020304" pitchFamily="18" charset="0"/>
              </a:rPr>
              <a:t>When organizations put better care into maintaining their safety, quality, and productivity, they are also better able to serve their customers and protect their employees</a:t>
            </a:r>
          </a:p>
          <a:p>
            <a:pPr algn="just">
              <a:lnSpc>
                <a:spcPct val="100000"/>
              </a:lnSpc>
            </a:pPr>
            <a:r>
              <a:rPr lang="en-US" sz="2400" dirty="0">
                <a:latin typeface="Times New Roman" panose="02020603050405020304" pitchFamily="18" charset="0"/>
                <a:cs typeface="Times New Roman" panose="02020603050405020304" pitchFamily="18" charset="0"/>
              </a:rPr>
              <a:t>Too often, businesses will see safety, quality, and productivity as interfering with each other, while they actually operate in concert. </a:t>
            </a:r>
          </a:p>
          <a:p>
            <a:pPr algn="just">
              <a:lnSpc>
                <a:spcPct val="100000"/>
              </a:lnSpc>
            </a:pPr>
            <a:r>
              <a:rPr lang="en-US" sz="2400" dirty="0">
                <a:latin typeface="Times New Roman" panose="02020603050405020304" pitchFamily="18" charset="0"/>
                <a:cs typeface="Times New Roman" panose="02020603050405020304" pitchFamily="18" charset="0"/>
              </a:rPr>
              <a:t>Organizations must not think of safety as a nuisance, but rather as an incredibly important component to business success</a:t>
            </a:r>
            <a:endParaRPr lang="en-IN" sz="2400" dirty="0"/>
          </a:p>
        </p:txBody>
      </p:sp>
    </p:spTree>
    <p:extLst>
      <p:ext uri="{BB962C8B-B14F-4D97-AF65-F5344CB8AC3E}">
        <p14:creationId xmlns:p14="http://schemas.microsoft.com/office/powerpoint/2010/main" val="1093463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9F0A-1BEB-4C2A-9646-8454FF30FAD8}"/>
              </a:ext>
            </a:extLst>
          </p:cNvPr>
          <p:cNvSpPr>
            <a:spLocks noGrp="1"/>
          </p:cNvSpPr>
          <p:nvPr>
            <p:ph type="title"/>
          </p:nvPr>
        </p:nvSpPr>
        <p:spPr>
          <a:xfrm>
            <a:off x="759542" y="18255"/>
            <a:ext cx="10515600" cy="1325563"/>
          </a:xfrm>
        </p:spPr>
        <p:txBody>
          <a:bodyPr/>
          <a:lstStyle/>
          <a:p>
            <a:r>
              <a:rPr lang="en-IN" dirty="0">
                <a:latin typeface="Times New Roman" panose="02020603050405020304" pitchFamily="18" charset="0"/>
                <a:cs typeface="Times New Roman" panose="02020603050405020304" pitchFamily="18" charset="0"/>
              </a:rPr>
              <a:t>Safety</a:t>
            </a:r>
          </a:p>
        </p:txBody>
      </p:sp>
      <p:sp>
        <p:nvSpPr>
          <p:cNvPr id="3" name="Content Placeholder 2">
            <a:extLst>
              <a:ext uri="{FF2B5EF4-FFF2-40B4-BE49-F238E27FC236}">
                <a16:creationId xmlns:a16="http://schemas.microsoft.com/office/drawing/2014/main" id="{9B249E46-A620-483A-AB7A-50525D67AF50}"/>
              </a:ext>
            </a:extLst>
          </p:cNvPr>
          <p:cNvSpPr>
            <a:spLocks noGrp="1"/>
          </p:cNvSpPr>
          <p:nvPr>
            <p:ph idx="1"/>
          </p:nvPr>
        </p:nvSpPr>
        <p:spPr>
          <a:xfrm>
            <a:off x="828368" y="1373338"/>
            <a:ext cx="11086824" cy="5115951"/>
          </a:xfrm>
        </p:spPr>
        <p:txBody>
          <a:bodyPr>
            <a:normAutofit/>
          </a:bodyPr>
          <a:lstStyle/>
          <a:p>
            <a:pPr>
              <a:lnSpc>
                <a:spcPct val="120000"/>
              </a:lnSpc>
            </a:pPr>
            <a:r>
              <a:rPr lang="en-IN" sz="2400" dirty="0">
                <a:latin typeface="Times New Roman" panose="02020603050405020304" pitchFamily="18" charset="0"/>
                <a:cs typeface="Times New Roman" panose="02020603050405020304" pitchFamily="18" charset="0"/>
              </a:rPr>
              <a:t>Improves quality and productivity</a:t>
            </a:r>
          </a:p>
          <a:p>
            <a:pPr>
              <a:lnSpc>
                <a:spcPct val="120000"/>
              </a:lnSpc>
            </a:pPr>
            <a:r>
              <a:rPr lang="en-US" sz="2400" dirty="0">
                <a:latin typeface="Times New Roman" panose="02020603050405020304" pitchFamily="18" charset="0"/>
                <a:cs typeface="Times New Roman" panose="02020603050405020304" pitchFamily="18" charset="0"/>
              </a:rPr>
              <a:t>When operations are unsafe, they aren’t well-managed</a:t>
            </a:r>
          </a:p>
          <a:p>
            <a:pPr>
              <a:lnSpc>
                <a:spcPct val="120000"/>
              </a:lnSpc>
            </a:pPr>
            <a:r>
              <a:rPr lang="en-US" sz="2400" dirty="0">
                <a:latin typeface="Times New Roman" panose="02020603050405020304" pitchFamily="18" charset="0"/>
                <a:cs typeface="Times New Roman" panose="02020603050405020304" pitchFamily="18" charset="0"/>
              </a:rPr>
              <a:t>Employees will not be motivated nor mindful, and employee churn will be far greater</a:t>
            </a:r>
          </a:p>
          <a:p>
            <a:pPr>
              <a:lnSpc>
                <a:spcPct val="120000"/>
              </a:lnSpc>
            </a:pPr>
            <a:r>
              <a:rPr lang="en-US" sz="2400" dirty="0">
                <a:latin typeface="Times New Roman" panose="02020603050405020304" pitchFamily="18" charset="0"/>
                <a:cs typeface="Times New Roman" panose="02020603050405020304" pitchFamily="18" charset="0"/>
              </a:rPr>
              <a:t>Quality and productivity both suffer when employees are under stress, unsatisfied, or unable to complete their mission</a:t>
            </a:r>
          </a:p>
          <a:p>
            <a:pPr>
              <a:lnSpc>
                <a:spcPct val="120000"/>
              </a:lnSpc>
            </a:pPr>
            <a:r>
              <a:rPr lang="en-US" sz="2400" dirty="0">
                <a:latin typeface="Times New Roman" panose="02020603050405020304" pitchFamily="18" charset="0"/>
                <a:cs typeface="Times New Roman" panose="02020603050405020304" pitchFamily="18" charset="0"/>
              </a:rPr>
              <a:t>But when businesses are safe, it frees up employees to focus on their quality and their productivity</a:t>
            </a:r>
          </a:p>
          <a:p>
            <a:pPr>
              <a:lnSpc>
                <a:spcPct val="120000"/>
              </a:lnSpc>
            </a:pPr>
            <a:r>
              <a:rPr lang="en-US" sz="2400" dirty="0">
                <a:latin typeface="Times New Roman" panose="02020603050405020304" pitchFamily="18" charset="0"/>
                <a:cs typeface="Times New Roman" panose="02020603050405020304" pitchFamily="18" charset="0"/>
              </a:rPr>
              <a:t>The safer the organization is, the less frequently the organization will experience large scale disruption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7598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6B7DF-4B8C-42E5-9E66-107FC220B61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Quality</a:t>
            </a:r>
          </a:p>
        </p:txBody>
      </p:sp>
      <p:sp>
        <p:nvSpPr>
          <p:cNvPr id="3" name="Content Placeholder 2">
            <a:extLst>
              <a:ext uri="{FF2B5EF4-FFF2-40B4-BE49-F238E27FC236}">
                <a16:creationId xmlns:a16="http://schemas.microsoft.com/office/drawing/2014/main" id="{898C3F03-AE1F-4A8D-9A3F-E3B7E900DF6F}"/>
              </a:ext>
            </a:extLst>
          </p:cNvPr>
          <p:cNvSpPr>
            <a:spLocks noGrp="1"/>
          </p:cNvSpPr>
          <p:nvPr>
            <p:ph idx="1"/>
          </p:nvPr>
        </p:nvSpPr>
        <p:spPr>
          <a:xfrm>
            <a:off x="838200" y="1652229"/>
            <a:ext cx="10515600" cy="4840646"/>
          </a:xfrm>
        </p:spPr>
        <p:txBody>
          <a:bodyPr>
            <a:normAutofit/>
          </a:bodyPr>
          <a:lstStyle/>
          <a:p>
            <a:pPr>
              <a:lnSpc>
                <a:spcPct val="110000"/>
              </a:lnSpc>
            </a:pPr>
            <a:r>
              <a:rPr lang="en-IN" sz="2400" dirty="0">
                <a:latin typeface="Times New Roman" panose="02020603050405020304" pitchFamily="18" charset="0"/>
                <a:cs typeface="Times New Roman" panose="02020603050405020304" pitchFamily="18" charset="0"/>
              </a:rPr>
              <a:t>Improves safety and productivity</a:t>
            </a:r>
          </a:p>
          <a:p>
            <a:pPr>
              <a:lnSpc>
                <a:spcPct val="110000"/>
              </a:lnSpc>
            </a:pPr>
            <a:r>
              <a:rPr lang="en-US" sz="2400" dirty="0">
                <a:latin typeface="Times New Roman" panose="02020603050405020304" pitchFamily="18" charset="0"/>
                <a:cs typeface="Times New Roman" panose="02020603050405020304" pitchFamily="18" charset="0"/>
              </a:rPr>
              <a:t>Safety is a measure of conscientiousness and proactiveness</a:t>
            </a:r>
          </a:p>
          <a:p>
            <a:pPr>
              <a:lnSpc>
                <a:spcPct val="110000"/>
              </a:lnSpc>
            </a:pPr>
            <a:r>
              <a:rPr lang="en-US" sz="2400" dirty="0">
                <a:latin typeface="Times New Roman" panose="02020603050405020304" pitchFamily="18" charset="0"/>
                <a:cs typeface="Times New Roman" panose="02020603050405020304" pitchFamily="18" charset="0"/>
              </a:rPr>
              <a:t>High quality work means better results and better products</a:t>
            </a:r>
          </a:p>
          <a:p>
            <a:pPr>
              <a:lnSpc>
                <a:spcPct val="110000"/>
              </a:lnSpc>
            </a:pPr>
            <a:r>
              <a:rPr lang="en-US" sz="2400" dirty="0">
                <a:latin typeface="Times New Roman" panose="02020603050405020304" pitchFamily="18" charset="0"/>
                <a:cs typeface="Times New Roman" panose="02020603050405020304" pitchFamily="18" charset="0"/>
              </a:rPr>
              <a:t>The higher quality the work, the fewer reworks are needed, and the greater overall productivity is</a:t>
            </a:r>
          </a:p>
          <a:p>
            <a:pPr>
              <a:lnSpc>
                <a:spcPct val="110000"/>
              </a:lnSpc>
            </a:pPr>
            <a:r>
              <a:rPr lang="en-US" sz="2400" dirty="0">
                <a:latin typeface="Times New Roman" panose="02020603050405020304" pitchFamily="18" charset="0"/>
                <a:cs typeface="Times New Roman" panose="02020603050405020304" pitchFamily="18" charset="0"/>
              </a:rPr>
              <a:t>When quality is high for a business, it can be assumed that standards for the business are generally high, including safety equipment, safety software, and safety processes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2109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290DE-CAC4-4772-B21A-6D7681008FF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Productivity</a:t>
            </a:r>
          </a:p>
        </p:txBody>
      </p:sp>
      <p:sp>
        <p:nvSpPr>
          <p:cNvPr id="3" name="Content Placeholder 2">
            <a:extLst>
              <a:ext uri="{FF2B5EF4-FFF2-40B4-BE49-F238E27FC236}">
                <a16:creationId xmlns:a16="http://schemas.microsoft.com/office/drawing/2014/main" id="{1D58E4A4-AC78-48DF-A376-6F8FF85DEE17}"/>
              </a:ext>
            </a:extLst>
          </p:cNvPr>
          <p:cNvSpPr>
            <a:spLocks noGrp="1"/>
          </p:cNvSpPr>
          <p:nvPr>
            <p:ph idx="1"/>
          </p:nvPr>
        </p:nvSpPr>
        <p:spPr>
          <a:xfrm>
            <a:off x="838200" y="1611021"/>
            <a:ext cx="10515600" cy="4761988"/>
          </a:xfrm>
        </p:spPr>
        <p:txBody>
          <a:bodyPr>
            <a:normAutofit/>
          </a:bodyPr>
          <a:lstStyle/>
          <a:p>
            <a:pPr algn="just">
              <a:lnSpc>
                <a:spcPct val="110000"/>
              </a:lnSpc>
            </a:pPr>
            <a:r>
              <a:rPr lang="en-US" sz="2400" dirty="0">
                <a:latin typeface="Times New Roman" panose="02020603050405020304" pitchFamily="18" charset="0"/>
                <a:cs typeface="Times New Roman" panose="02020603050405020304" pitchFamily="18" charset="0"/>
              </a:rPr>
              <a:t>Improves safety and quality</a:t>
            </a:r>
          </a:p>
          <a:p>
            <a:pPr algn="just">
              <a:lnSpc>
                <a:spcPct val="110000"/>
              </a:lnSpc>
            </a:pPr>
            <a:r>
              <a:rPr lang="en-US" sz="2400" dirty="0">
                <a:latin typeface="Times New Roman" panose="02020603050405020304" pitchFamily="18" charset="0"/>
                <a:cs typeface="Times New Roman" panose="02020603050405020304" pitchFamily="18" charset="0"/>
              </a:rPr>
              <a:t>Carelessness is often what begets safety issues</a:t>
            </a:r>
          </a:p>
          <a:p>
            <a:pPr algn="just">
              <a:lnSpc>
                <a:spcPct val="110000"/>
              </a:lnSpc>
            </a:pPr>
            <a:r>
              <a:rPr lang="en-US" sz="2400" dirty="0">
                <a:latin typeface="Times New Roman" panose="02020603050405020304" pitchFamily="18" charset="0"/>
                <a:cs typeface="Times New Roman" panose="02020603050405020304" pitchFamily="18" charset="0"/>
              </a:rPr>
              <a:t>With the appropriate (and productive) safety processes, safety can be improved, and quality can be improved as well</a:t>
            </a:r>
          </a:p>
          <a:p>
            <a:pPr algn="just">
              <a:lnSpc>
                <a:spcPct val="110000"/>
              </a:lnSpc>
            </a:pPr>
            <a:r>
              <a:rPr lang="en-US" sz="2400" dirty="0">
                <a:latin typeface="Times New Roman" panose="02020603050405020304" pitchFamily="18" charset="0"/>
                <a:cs typeface="Times New Roman" panose="02020603050405020304" pitchFamily="18" charset="0"/>
              </a:rPr>
              <a:t>The more productive employees are, the less likely they are to cut corners on things like safety processes</a:t>
            </a:r>
          </a:p>
          <a:p>
            <a:pPr algn="just">
              <a:lnSpc>
                <a:spcPct val="110000"/>
              </a:lnSpc>
            </a:pPr>
            <a:r>
              <a:rPr lang="en-US" sz="2400" dirty="0">
                <a:latin typeface="Times New Roman" panose="02020603050405020304" pitchFamily="18" charset="0"/>
                <a:cs typeface="Times New Roman" panose="02020603050405020304" pitchFamily="18" charset="0"/>
              </a:rPr>
              <a:t>The more productive they are, the more likely they are to put extra attention into the quality of their work</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3202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E416E-900D-4819-8266-48E0959D2BF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Traditional Barriers to Safety, Quality, and Productivity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66FB3C5-C180-47AB-8265-63C30BD1C556}"/>
              </a:ext>
            </a:extLst>
          </p:cNvPr>
          <p:cNvSpPr>
            <a:spLocks noGrp="1"/>
          </p:cNvSpPr>
          <p:nvPr>
            <p:ph idx="1"/>
          </p:nvPr>
        </p:nvSpPr>
        <p:spPr/>
        <p:txBody>
          <a:bodyPr>
            <a:normAutofit/>
          </a:bodyPr>
          <a:lstStyle/>
          <a:p>
            <a:pPr algn="just">
              <a:lnSpc>
                <a:spcPct val="110000"/>
              </a:lnSpc>
            </a:pPr>
            <a:r>
              <a:rPr lang="en-US" sz="2400" dirty="0">
                <a:latin typeface="Times New Roman" panose="02020603050405020304" pitchFamily="18" charset="0"/>
                <a:cs typeface="Times New Roman" panose="02020603050405020304" pitchFamily="18" charset="0"/>
              </a:rPr>
              <a:t>It’s easy to see that safety improves business outcomes</a:t>
            </a:r>
          </a:p>
          <a:p>
            <a:pPr algn="just">
              <a:lnSpc>
                <a:spcPct val="110000"/>
              </a:lnSpc>
            </a:pPr>
            <a:r>
              <a:rPr lang="en-US" sz="2400" dirty="0">
                <a:latin typeface="Times New Roman" panose="02020603050405020304" pitchFamily="18" charset="0"/>
                <a:cs typeface="Times New Roman" panose="02020603050405020304" pitchFamily="18" charset="0"/>
              </a:rPr>
              <a:t>Dangerous operations lead to lost time, injured employees, and a loss of morale</a:t>
            </a:r>
          </a:p>
          <a:p>
            <a:pPr algn="just">
              <a:lnSpc>
                <a:spcPct val="110000"/>
              </a:lnSpc>
            </a:pPr>
            <a:r>
              <a:rPr lang="en-US" sz="2400" dirty="0">
                <a:latin typeface="Times New Roman" panose="02020603050405020304" pitchFamily="18" charset="0"/>
                <a:cs typeface="Times New Roman" panose="02020603050405020304" pitchFamily="18" charset="0"/>
              </a:rPr>
              <a:t>Nevertheless, many organizations fear that additional safety processes can take time and money</a:t>
            </a:r>
          </a:p>
          <a:p>
            <a:pPr algn="just">
              <a:lnSpc>
                <a:spcPct val="110000"/>
              </a:lnSpc>
            </a:pPr>
            <a:r>
              <a:rPr lang="en-US" sz="2400" dirty="0">
                <a:latin typeface="Times New Roman" panose="02020603050405020304" pitchFamily="18" charset="0"/>
                <a:cs typeface="Times New Roman" panose="02020603050405020304" pitchFamily="18" charset="0"/>
              </a:rPr>
              <a:t>While true, it’s time and money well spent; it’s better to spend a small amount for preventative care than a large amount for an emergency</a:t>
            </a:r>
          </a:p>
          <a:p>
            <a:pPr marL="0" indent="0" algn="just">
              <a:lnSpc>
                <a:spcPct val="110000"/>
              </a:lnSpc>
              <a:buNone/>
            </a:pPr>
            <a:endParaRPr lang="en-US" sz="2400" dirty="0">
              <a:latin typeface="Times New Roman" panose="02020603050405020304" pitchFamily="18" charset="0"/>
              <a:cs typeface="Times New Roman" panose="02020603050405020304" pitchFamily="18" charset="0"/>
            </a:endParaRPr>
          </a:p>
          <a:p>
            <a:pPr algn="just">
              <a:lnSpc>
                <a:spcPct val="11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2098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EC93E-2DF9-4458-BAD0-4ABF998E0C0A}"/>
              </a:ext>
            </a:extLst>
          </p:cNvPr>
          <p:cNvSpPr>
            <a:spLocks noGrp="1"/>
          </p:cNvSpPr>
          <p:nvPr>
            <p:ph type="title"/>
          </p:nvPr>
        </p:nvSpPr>
        <p:spPr/>
        <p:txBody>
          <a:bodyPr/>
          <a:lstStyle/>
          <a:p>
            <a:r>
              <a:rPr lang="en-US" dirty="0"/>
              <a:t>Traditional Barriers to Safety, Quality, and Productivity  </a:t>
            </a:r>
            <a:endParaRPr lang="en-IN" dirty="0"/>
          </a:p>
        </p:txBody>
      </p:sp>
      <p:sp>
        <p:nvSpPr>
          <p:cNvPr id="3" name="Content Placeholder 2">
            <a:extLst>
              <a:ext uri="{FF2B5EF4-FFF2-40B4-BE49-F238E27FC236}">
                <a16:creationId xmlns:a16="http://schemas.microsoft.com/office/drawing/2014/main" id="{5244F411-1B49-41F0-9ECC-05E2875EF737}"/>
              </a:ext>
            </a:extLst>
          </p:cNvPr>
          <p:cNvSpPr>
            <a:spLocks noGrp="1"/>
          </p:cNvSpPr>
          <p:nvPr>
            <p:ph idx="1"/>
          </p:nvPr>
        </p:nvSpPr>
        <p:spPr/>
        <p:txBody>
          <a:bodyPr>
            <a:normAutofit/>
          </a:bodyPr>
          <a:lstStyle/>
          <a:p>
            <a:pPr algn="just">
              <a:lnSpc>
                <a:spcPct val="110000"/>
              </a:lnSpc>
            </a:pPr>
            <a:r>
              <a:rPr lang="en-US" dirty="0">
                <a:latin typeface="Times New Roman" panose="02020603050405020304" pitchFamily="18" charset="0"/>
                <a:cs typeface="Times New Roman" panose="02020603050405020304" pitchFamily="18" charset="0"/>
              </a:rPr>
              <a:t>In terms of quality, the primary issue is often expediency</a:t>
            </a:r>
          </a:p>
          <a:p>
            <a:pPr algn="just">
              <a:lnSpc>
                <a:spcPct val="110000"/>
              </a:lnSpc>
            </a:pPr>
            <a:r>
              <a:rPr lang="en-US" dirty="0">
                <a:latin typeface="Times New Roman" panose="02020603050405020304" pitchFamily="18" charset="0"/>
                <a:cs typeface="Times New Roman" panose="02020603050405020304" pitchFamily="18" charset="0"/>
              </a:rPr>
              <a:t>Companies may feel they have to choose between fast, cheap, or high-quality</a:t>
            </a:r>
          </a:p>
          <a:p>
            <a:pPr algn="just">
              <a:lnSpc>
                <a:spcPct val="110000"/>
              </a:lnSpc>
            </a:pPr>
            <a:r>
              <a:rPr lang="en-US" dirty="0">
                <a:latin typeface="Times New Roman" panose="02020603050405020304" pitchFamily="18" charset="0"/>
                <a:cs typeface="Times New Roman" panose="02020603050405020304" pitchFamily="18" charset="0"/>
              </a:rPr>
              <a:t>When companies are forced to reduce costs (cheap) and produce quickly (fast) they need to sacrifice quality</a:t>
            </a:r>
          </a:p>
          <a:p>
            <a:pPr algn="just">
              <a:lnSpc>
                <a:spcPct val="110000"/>
              </a:lnSpc>
            </a:pPr>
            <a:r>
              <a:rPr lang="en-US" dirty="0">
                <a:latin typeface="Times New Roman" panose="02020603050405020304" pitchFamily="18" charset="0"/>
                <a:cs typeface="Times New Roman" panose="02020603050405020304" pitchFamily="18" charset="0"/>
              </a:rPr>
              <a:t>But sacrificing quality actually ends up driving up time and costs; unsatisfied customers demand reworks, which can often be upwards of three times the original budget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6570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EC93E-2DF9-4458-BAD0-4ABF998E0C0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Traditional Barriers to Safety, Quality, and Productivity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44F411-1B49-41F0-9ECC-05E2875EF737}"/>
              </a:ext>
            </a:extLst>
          </p:cNvPr>
          <p:cNvSpPr>
            <a:spLocks noGrp="1"/>
          </p:cNvSpPr>
          <p:nvPr>
            <p:ph idx="1"/>
          </p:nvPr>
        </p:nvSpPr>
        <p:spPr/>
        <p:txBody>
          <a:bodyPr/>
          <a:lstStyle/>
          <a:p>
            <a:pPr algn="just">
              <a:lnSpc>
                <a:spcPct val="150000"/>
              </a:lnSpc>
            </a:pPr>
            <a:r>
              <a:rPr lang="en-US" dirty="0">
                <a:latin typeface="Times New Roman" panose="02020603050405020304" pitchFamily="18" charset="0"/>
                <a:cs typeface="Times New Roman" panose="02020603050405020304" pitchFamily="18" charset="0"/>
              </a:rPr>
              <a:t>Productivity must never be seen to be at odds with safety or quality</a:t>
            </a:r>
          </a:p>
          <a:p>
            <a:pPr algn="just">
              <a:lnSpc>
                <a:spcPct val="150000"/>
              </a:lnSpc>
            </a:pPr>
            <a:r>
              <a:rPr lang="en-US" dirty="0">
                <a:latin typeface="Times New Roman" panose="02020603050405020304" pitchFamily="18" charset="0"/>
                <a:cs typeface="Times New Roman" panose="02020603050405020304" pitchFamily="18" charset="0"/>
              </a:rPr>
              <a:t>Organizations may feel that safety and productivity are mutually exclusive, and that it’s difficult to maintain a productive office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7704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75F0C-24FB-A458-DC79-9EFC61A0008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Safety, quality, and productivity</a:t>
            </a:r>
            <a:endParaRPr lang="en-IN" dirty="0"/>
          </a:p>
        </p:txBody>
      </p:sp>
      <p:sp>
        <p:nvSpPr>
          <p:cNvPr id="3" name="Content Placeholder 2">
            <a:extLst>
              <a:ext uri="{FF2B5EF4-FFF2-40B4-BE49-F238E27FC236}">
                <a16:creationId xmlns:a16="http://schemas.microsoft.com/office/drawing/2014/main" id="{420A601A-97A2-832B-7061-54C10FC12CCA}"/>
              </a:ext>
            </a:extLst>
          </p:cNvPr>
          <p:cNvSpPr>
            <a:spLocks noGrp="1"/>
          </p:cNvSpPr>
          <p:nvPr>
            <p:ph idx="1"/>
          </p:nvPr>
        </p:nvSpPr>
        <p:spPr>
          <a:xfrm>
            <a:off x="838200" y="1604865"/>
            <a:ext cx="10515600" cy="4572098"/>
          </a:xfrm>
        </p:spPr>
        <p:txBody>
          <a:bodyPr>
            <a:normAutofit/>
          </a:bodyPr>
          <a:lstStyle/>
          <a:p>
            <a:pPr>
              <a:lnSpc>
                <a:spcPct val="110000"/>
              </a:lnSpc>
            </a:pPr>
            <a:r>
              <a:rPr lang="en-US" dirty="0"/>
              <a:t>A productive workplace offers a wide range of benefits to the company, employer, and employees:</a:t>
            </a:r>
          </a:p>
          <a:p>
            <a:pPr lvl="1">
              <a:lnSpc>
                <a:spcPct val="110000"/>
              </a:lnSpc>
            </a:pPr>
            <a:r>
              <a:rPr lang="en-US" b="1" dirty="0"/>
              <a:t>Increased Performance:</a:t>
            </a:r>
            <a:r>
              <a:rPr lang="en-US" dirty="0"/>
              <a:t> Workplace performance and productivity go hand in hand. When performance is increased, so does productivity. Also, increasing productivity in the workplace can motivate employees to put in more effort, thus increasing performance.</a:t>
            </a:r>
          </a:p>
          <a:p>
            <a:pPr lvl="1">
              <a:lnSpc>
                <a:spcPct val="110000"/>
              </a:lnSpc>
            </a:pPr>
            <a:r>
              <a:rPr lang="en-US" b="1" dirty="0"/>
              <a:t>Improved Employee Engagement:</a:t>
            </a:r>
            <a:r>
              <a:rPr lang="en-US" dirty="0"/>
              <a:t> Efficient and effective productivity in the workplace encourages employees to be more involved in their work. Additionally, such employees are always ready to take on new tasks and often aim to be the best at what they do.</a:t>
            </a:r>
          </a:p>
        </p:txBody>
      </p:sp>
    </p:spTree>
    <p:extLst>
      <p:ext uri="{BB962C8B-B14F-4D97-AF65-F5344CB8AC3E}">
        <p14:creationId xmlns:p14="http://schemas.microsoft.com/office/powerpoint/2010/main" val="2516176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75F0C-24FB-A458-DC79-9EFC61A0008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Safety, quality, and productivity</a:t>
            </a:r>
            <a:endParaRPr lang="en-IN" dirty="0"/>
          </a:p>
        </p:txBody>
      </p:sp>
      <p:sp>
        <p:nvSpPr>
          <p:cNvPr id="3" name="Content Placeholder 2">
            <a:extLst>
              <a:ext uri="{FF2B5EF4-FFF2-40B4-BE49-F238E27FC236}">
                <a16:creationId xmlns:a16="http://schemas.microsoft.com/office/drawing/2014/main" id="{420A601A-97A2-832B-7061-54C10FC12CCA}"/>
              </a:ext>
            </a:extLst>
          </p:cNvPr>
          <p:cNvSpPr>
            <a:spLocks noGrp="1"/>
          </p:cNvSpPr>
          <p:nvPr>
            <p:ph idx="1"/>
          </p:nvPr>
        </p:nvSpPr>
        <p:spPr>
          <a:xfrm>
            <a:off x="838200" y="1604865"/>
            <a:ext cx="10515600" cy="4572098"/>
          </a:xfrm>
        </p:spPr>
        <p:txBody>
          <a:bodyPr>
            <a:normAutofit/>
          </a:bodyPr>
          <a:lstStyle/>
          <a:p>
            <a:pPr lvl="1">
              <a:lnSpc>
                <a:spcPct val="110000"/>
              </a:lnSpc>
            </a:pPr>
            <a:r>
              <a:rPr lang="en-US" b="1"/>
              <a:t>Greater </a:t>
            </a:r>
            <a:r>
              <a:rPr lang="en-US" b="1" dirty="0"/>
              <a:t>Fulfilment: </a:t>
            </a:r>
            <a:r>
              <a:rPr lang="en-US" dirty="0"/>
              <a:t>Increased productivity can give employees and employers a sense of fulfilment and purpose. Those in the workplace can be happy or unhappy based on the level </a:t>
            </a:r>
            <a:r>
              <a:rPr lang="en-IN" dirty="0"/>
              <a:t>of productivity.</a:t>
            </a:r>
          </a:p>
          <a:p>
            <a:pPr lvl="1">
              <a:lnSpc>
                <a:spcPct val="110000"/>
              </a:lnSpc>
            </a:pPr>
            <a:r>
              <a:rPr lang="en-US" b="1" dirty="0"/>
              <a:t>Promotes a Healthy Work Culture: </a:t>
            </a:r>
            <a:r>
              <a:rPr lang="en-US" dirty="0"/>
              <a:t>A productive workplace can improve employee wellbeing. Plus, when people achieve goals as a team, they are likely to form professional work </a:t>
            </a:r>
            <a:r>
              <a:rPr lang="en-IN" dirty="0"/>
              <a:t>relationships.</a:t>
            </a:r>
          </a:p>
          <a:p>
            <a:pPr lvl="1">
              <a:lnSpc>
                <a:spcPct val="110000"/>
              </a:lnSpc>
            </a:pPr>
            <a:r>
              <a:rPr lang="en-US" b="1" dirty="0"/>
              <a:t>Better Revenue Generation</a:t>
            </a:r>
            <a:r>
              <a:rPr lang="en-US" dirty="0"/>
              <a:t>: Long-term productivity in the workplace can maximize company profits. Organizations that are productive offer better services and can easily turn a profit.</a:t>
            </a:r>
            <a:endParaRPr lang="en-IN" dirty="0"/>
          </a:p>
        </p:txBody>
      </p:sp>
    </p:spTree>
    <p:extLst>
      <p:ext uri="{BB962C8B-B14F-4D97-AF65-F5344CB8AC3E}">
        <p14:creationId xmlns:p14="http://schemas.microsoft.com/office/powerpoint/2010/main" val="1934598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8659B-DFFD-423B-B116-827F4D944E3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Accident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FFDC73-0A8E-4F36-893C-CB33A08D65A4}"/>
              </a:ext>
            </a:extLst>
          </p:cNvPr>
          <p:cNvSpPr>
            <a:spLocks noGrp="1"/>
          </p:cNvSpPr>
          <p:nvPr>
            <p:ph idx="1"/>
          </p:nvPr>
        </p:nvSpPr>
        <p:spPr>
          <a:xfrm>
            <a:off x="838200" y="1825625"/>
            <a:ext cx="10515600" cy="4667250"/>
          </a:xfrm>
        </p:spPr>
        <p:txBody>
          <a:bodyPr>
            <a:normAutofit fontScale="92500" lnSpcReduction="20000"/>
          </a:bodyPr>
          <a:lstStyle/>
          <a:p>
            <a:pPr algn="just">
              <a:lnSpc>
                <a:spcPct val="150000"/>
              </a:lnSpc>
            </a:pPr>
            <a:r>
              <a:rPr lang="en-US" dirty="0">
                <a:latin typeface="Times New Roman" panose="02020603050405020304" pitchFamily="18" charset="0"/>
                <a:cs typeface="Times New Roman" panose="02020603050405020304" pitchFamily="18" charset="0"/>
              </a:rPr>
              <a:t>The ordinary definition of the word “Accident” as derived from lexicons is an unforeseen of an unexpected event.</a:t>
            </a:r>
          </a:p>
          <a:p>
            <a:pPr algn="just">
              <a:lnSpc>
                <a:spcPct val="150000"/>
              </a:lnSpc>
            </a:pPr>
            <a:r>
              <a:rPr lang="en-US" dirty="0">
                <a:latin typeface="Times New Roman" panose="02020603050405020304" pitchFamily="18" charset="0"/>
                <a:cs typeface="Times New Roman" panose="02020603050405020304" pitchFamily="18" charset="0"/>
              </a:rPr>
              <a:t>The American Safety council has defined accident as “that occurrence in a sequence of events which usually produces unintended injury, death or the property damage.</a:t>
            </a:r>
          </a:p>
          <a:p>
            <a:pPr algn="just">
              <a:lnSpc>
                <a:spcPct val="150000"/>
              </a:lnSpc>
            </a:pPr>
            <a:r>
              <a:rPr lang="en-IN" dirty="0">
                <a:latin typeface="Times New Roman" panose="02020603050405020304" pitchFamily="18" charset="0"/>
                <a:cs typeface="Times New Roman" panose="02020603050405020304" pitchFamily="18" charset="0"/>
              </a:rPr>
              <a:t>Heinrich has defined accident as “an unplanned and uncontrolled event in which the action or reaction on an object, substance, person or radiation result in personal injury”.</a:t>
            </a:r>
          </a:p>
        </p:txBody>
      </p:sp>
    </p:spTree>
    <p:extLst>
      <p:ext uri="{BB962C8B-B14F-4D97-AF65-F5344CB8AC3E}">
        <p14:creationId xmlns:p14="http://schemas.microsoft.com/office/powerpoint/2010/main" val="163853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C66DD8E-1498-4CF4-89DD-3A80FA4BDA9E}"/>
              </a:ext>
            </a:extLst>
          </p:cNvPr>
          <p:cNvPicPr>
            <a:picLocks noChangeAspect="1"/>
          </p:cNvPicPr>
          <p:nvPr/>
        </p:nvPicPr>
        <p:blipFill>
          <a:blip r:embed="rId2"/>
          <a:stretch>
            <a:fillRect/>
          </a:stretch>
        </p:blipFill>
        <p:spPr>
          <a:xfrm>
            <a:off x="1019970" y="-1"/>
            <a:ext cx="9100389" cy="6840000"/>
          </a:xfrm>
          <a:prstGeom prst="rect">
            <a:avLst/>
          </a:prstGeom>
        </p:spPr>
      </p:pic>
    </p:spTree>
    <p:extLst>
      <p:ext uri="{BB962C8B-B14F-4D97-AF65-F5344CB8AC3E}">
        <p14:creationId xmlns:p14="http://schemas.microsoft.com/office/powerpoint/2010/main" val="1838247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63ADCD-608F-473C-B96A-3CC6C33BCF15}"/>
              </a:ext>
            </a:extLst>
          </p:cNvPr>
          <p:cNvPicPr>
            <a:picLocks noChangeAspect="1"/>
          </p:cNvPicPr>
          <p:nvPr/>
        </p:nvPicPr>
        <p:blipFill>
          <a:blip r:embed="rId2"/>
          <a:stretch>
            <a:fillRect/>
          </a:stretch>
        </p:blipFill>
        <p:spPr>
          <a:xfrm>
            <a:off x="1155601" y="-1"/>
            <a:ext cx="9151466" cy="6840000"/>
          </a:xfrm>
          <a:prstGeom prst="rect">
            <a:avLst/>
          </a:prstGeom>
        </p:spPr>
      </p:pic>
    </p:spTree>
    <p:extLst>
      <p:ext uri="{BB962C8B-B14F-4D97-AF65-F5344CB8AC3E}">
        <p14:creationId xmlns:p14="http://schemas.microsoft.com/office/powerpoint/2010/main" val="1298586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60340-73B3-43CB-B169-ED1023D727B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Injury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209669-E713-4355-8C6C-44E80649BD1D}"/>
              </a:ext>
            </a:extLst>
          </p:cNvPr>
          <p:cNvSpPr>
            <a:spLocks noGrp="1"/>
          </p:cNvSpPr>
          <p:nvPr>
            <p:ph idx="1"/>
          </p:nvPr>
        </p:nvSpPr>
        <p:spPr/>
        <p:txBody>
          <a:bodyPr/>
          <a:lstStyle/>
          <a:p>
            <a:pPr algn="just">
              <a:lnSpc>
                <a:spcPct val="150000"/>
              </a:lnSpc>
            </a:pPr>
            <a:r>
              <a:rPr lang="en-US" b="0" i="0" dirty="0">
                <a:solidFill>
                  <a:srgbClr val="333333"/>
                </a:solidFill>
                <a:effectLst/>
                <a:latin typeface="Times New Roman" panose="02020603050405020304" pitchFamily="18" charset="0"/>
                <a:cs typeface="Times New Roman" panose="02020603050405020304" pitchFamily="18" charset="0"/>
              </a:rPr>
              <a:t>An injury or illness is an abnormal condition or disorder. Injuries include cases such as, but not limited to, a cut, fracture, sprain, or amputation. Illnesses include both acute and chronic illnesses, such as, but not limited to, a skin disease, respiratory disorder, or poisoning.</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1416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8D8E4-7330-4028-AE4F-D139E6AD4ED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Injury (Cont.…)</a:t>
            </a:r>
            <a:endParaRPr lang="en-IN" dirty="0"/>
          </a:p>
        </p:txBody>
      </p:sp>
      <p:sp>
        <p:nvSpPr>
          <p:cNvPr id="3" name="Content Placeholder 2">
            <a:extLst>
              <a:ext uri="{FF2B5EF4-FFF2-40B4-BE49-F238E27FC236}">
                <a16:creationId xmlns:a16="http://schemas.microsoft.com/office/drawing/2014/main" id="{97EBF0E6-7822-4E07-BDBB-C7BEF9C6D14F}"/>
              </a:ext>
            </a:extLst>
          </p:cNvPr>
          <p:cNvSpPr>
            <a:spLocks noGrp="1"/>
          </p:cNvSpPr>
          <p:nvPr>
            <p:ph idx="1"/>
          </p:nvPr>
        </p:nvSpPr>
        <p:spPr/>
        <p:txBody>
          <a:bodyPr>
            <a:normAutofit lnSpcReduction="10000"/>
          </a:bodyPr>
          <a:lstStyle/>
          <a:p>
            <a:pPr algn="just">
              <a:lnSpc>
                <a:spcPct val="150000"/>
              </a:lnSpc>
            </a:pPr>
            <a:r>
              <a:rPr lang="en-US" b="0" i="0" dirty="0">
                <a:solidFill>
                  <a:srgbClr val="333333"/>
                </a:solidFill>
                <a:effectLst/>
                <a:latin typeface="Times New Roman" panose="02020603050405020304" pitchFamily="18" charset="0"/>
                <a:cs typeface="Times New Roman" panose="02020603050405020304" pitchFamily="18" charset="0"/>
              </a:rPr>
              <a:t>“Injury” means mental or physical harm to an employee caused by accident or disease, and also means damage to or destruction of artificial members, dental appliances, teeth, hearing aids and eyeglasses, but, in the case of hearing aids or eyeglasses, only if such damage or destruction resulted from accident which also caused personal injury entitling the employee to compensation therefore either for disability or treatment.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9559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942</Words>
  <Application>Microsoft Office PowerPoint</Application>
  <PresentationFormat>Widescreen</PresentationFormat>
  <Paragraphs>53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Safety, quality, and productivity</vt:lpstr>
      <vt:lpstr>Safety</vt:lpstr>
      <vt:lpstr>Quality</vt:lpstr>
      <vt:lpstr>Productivity</vt:lpstr>
      <vt:lpstr>Traditional Barriers to Safety, Quality, and Productivity</vt:lpstr>
      <vt:lpstr>Traditional Barriers to Safety, Quality, and Productivity  </vt:lpstr>
      <vt:lpstr>Traditional Barriers to Safety, Quality, and Productivity</vt:lpstr>
      <vt:lpstr>Safety, quality, and productivity</vt:lpstr>
      <vt:lpstr>Safety, quality, and productivity</vt:lpstr>
      <vt:lpstr>Accident</vt:lpstr>
      <vt:lpstr>PowerPoint Presentation</vt:lpstr>
      <vt:lpstr>PowerPoint Presentation</vt:lpstr>
      <vt:lpstr>Injury</vt:lpstr>
      <vt:lpstr>Injury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2026-07-15T09:21:18Z</dcterms:created>
  <dcterms:modified xsi:type="dcterms:W3CDTF">2026-07-15T09:22:30Z</dcterms:modified>
</cp:coreProperties>
</file>